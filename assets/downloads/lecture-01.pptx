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B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>
              <a:gd name="adj" fmla="val 5909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4672" y="813816"/>
            <a:ext cx="2130552" cy="310896"/>
          </a:xfrm>
          <a:prstGeom prst="roundRect">
            <a:avLst>
              <a:gd name="adj" fmla="val 38235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845820"/>
            <a:ext cx="2002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 LECTURE 01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7240" y="1417320"/>
            <a:ext cx="10149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</a:t>
            </a:r>
            <a:endParaRPr lang="en-US" sz="4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04672" y="3538728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00" dirty="0">
                <a:solidFill>
                  <a:srgbClr val="C9E9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Visual Communication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813816" y="4709160"/>
            <a:ext cx="9875520" cy="0"/>
          </a:xfrm>
          <a:prstGeom prst="line">
            <a:avLst/>
          </a:prstGeom>
          <a:noFill/>
          <a:ln w="40640">
            <a:solidFill>
              <a:srgbClr val="EAAA4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5056632"/>
            <a:ext cx="99669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publications begin with a clear message—not with the software.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822960" y="6272784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30" dirty="0">
                <a:solidFill>
                  <a:srgbClr val="D8E6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•  Ordinary Diploma in Information Technology  •  2026/2027</a:t>
            </a:r>
            <a:endParaRPr lang="en-US" sz="12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HERE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you be able to do?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this lecture, focus on these four practical outcomes.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13232" y="1783080"/>
            <a:ext cx="5175504" cy="1737360"/>
          </a:xfrm>
          <a:prstGeom prst="roundRect">
            <a:avLst>
              <a:gd name="adj" fmla="val 6842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32688" y="1993392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Explain DTP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932688" y="2569464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desktop publishing in your own words and name everyday products made with it.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5175504" cy="1737360"/>
          </a:xfrm>
          <a:prstGeom prst="roundRect">
            <a:avLst>
              <a:gd name="adj" fmla="val 6842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45936" y="1993392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Read a visual message</a:t>
            </a:r>
            <a:endParaRPr lang="en-US" sz="1930" dirty="0"/>
          </a:p>
        </p:txBody>
      </p:sp>
      <p:sp>
        <p:nvSpPr>
          <p:cNvPr id="15" name="Text 13"/>
          <p:cNvSpPr/>
          <p:nvPr/>
        </p:nvSpPr>
        <p:spPr>
          <a:xfrm>
            <a:off x="6345936" y="2569464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audience, the main message and the intended action.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13232" y="3694176"/>
            <a:ext cx="5175504" cy="1737360"/>
          </a:xfrm>
          <a:prstGeom prst="roundRect">
            <a:avLst>
              <a:gd name="adj" fmla="val 6842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32688" y="3904488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Apply basic principles</a:t>
            </a:r>
            <a:endParaRPr lang="en-US" sz="1930" dirty="0"/>
          </a:p>
        </p:txBody>
      </p:sp>
      <p:sp>
        <p:nvSpPr>
          <p:cNvPr id="18" name="Text 16"/>
          <p:cNvSpPr/>
          <p:nvPr/>
        </p:nvSpPr>
        <p:spPr>
          <a:xfrm>
            <a:off x="932688" y="4480560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hierarchy, contrast, alignment, proximity and repetition.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126480" y="3694176"/>
            <a:ext cx="5175504" cy="1737360"/>
          </a:xfrm>
          <a:prstGeom prst="roundRect">
            <a:avLst>
              <a:gd name="adj" fmla="val 6842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45936" y="3904488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Improve a weak notice</a:t>
            </a:r>
            <a:endParaRPr lang="en-US" sz="1930" dirty="0"/>
          </a:p>
        </p:txBody>
      </p:sp>
      <p:sp>
        <p:nvSpPr>
          <p:cNvPr id="21" name="Text 19"/>
          <p:cNvSpPr/>
          <p:nvPr/>
        </p:nvSpPr>
        <p:spPr>
          <a:xfrm>
            <a:off x="6345936" y="4480560"/>
            <a:ext cx="4736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specific problems and suggest a clearer layout using paper sketches.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is already around us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at the information people see every day—not only at books and magazines.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22376" y="1783080"/>
            <a:ext cx="345643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41832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poster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941832" y="256946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Announces an activity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407408" y="1783080"/>
            <a:ext cx="3456432" cy="1664208"/>
          </a:xfrm>
          <a:prstGeom prst="roundRect">
            <a:avLst>
              <a:gd name="adj" fmla="val 7143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26864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 notice</a:t>
            </a:r>
            <a:endParaRPr lang="en-US" sz="1930" dirty="0"/>
          </a:p>
        </p:txBody>
      </p:sp>
      <p:sp>
        <p:nvSpPr>
          <p:cNvPr id="15" name="Text 13"/>
          <p:cNvSpPr/>
          <p:nvPr/>
        </p:nvSpPr>
        <p:spPr>
          <a:xfrm>
            <a:off x="4626864" y="256946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Gives instructions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92440" y="1783080"/>
            <a:ext cx="345643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311896" y="19933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Brochure</a:t>
            </a:r>
            <a:endParaRPr lang="en-US" sz="1930" dirty="0"/>
          </a:p>
        </p:txBody>
      </p:sp>
      <p:sp>
        <p:nvSpPr>
          <p:cNvPr id="18" name="Text 16"/>
          <p:cNvSpPr/>
          <p:nvPr/>
        </p:nvSpPr>
        <p:spPr>
          <a:xfrm>
            <a:off x="8311896" y="256946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Explains a service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722376" y="3703320"/>
            <a:ext cx="3456432" cy="1664208"/>
          </a:xfrm>
          <a:prstGeom prst="roundRect">
            <a:avLst>
              <a:gd name="adj" fmla="val 7143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41832" y="3913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 hand-out</a:t>
            </a:r>
            <a:endParaRPr lang="en-US" sz="1930" dirty="0"/>
          </a:p>
        </p:txBody>
      </p:sp>
      <p:sp>
        <p:nvSpPr>
          <p:cNvPr id="21" name="Text 19"/>
          <p:cNvSpPr/>
          <p:nvPr/>
        </p:nvSpPr>
        <p:spPr>
          <a:xfrm>
            <a:off x="941832" y="448970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learning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4407408" y="3703320"/>
            <a:ext cx="345643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626864" y="3913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Newsletter</a:t>
            </a:r>
            <a:endParaRPr lang="en-US" sz="1930" dirty="0"/>
          </a:p>
        </p:txBody>
      </p:sp>
      <p:sp>
        <p:nvSpPr>
          <p:cNvPr id="24" name="Text 22"/>
          <p:cNvSpPr/>
          <p:nvPr/>
        </p:nvSpPr>
        <p:spPr>
          <a:xfrm>
            <a:off x="4626864" y="448970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Shares updates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8092440" y="3703320"/>
            <a:ext cx="3456432" cy="1664208"/>
          </a:xfrm>
          <a:prstGeom prst="roundRect">
            <a:avLst>
              <a:gd name="adj" fmla="val 7143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11896" y="391363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graphic</a:t>
            </a:r>
            <a:endParaRPr lang="en-US" sz="1930" dirty="0"/>
          </a:p>
        </p:txBody>
      </p:sp>
      <p:sp>
        <p:nvSpPr>
          <p:cNvPr id="27" name="Text 25"/>
          <p:cNvSpPr/>
          <p:nvPr/>
        </p:nvSpPr>
        <p:spPr>
          <a:xfrm>
            <a:off x="8311896" y="4489704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Communicates on screen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desktop publishing?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13232" y="1636776"/>
            <a:ext cx="10698480" cy="2084832"/>
          </a:xfrm>
          <a:prstGeom prst="roundRect">
            <a:avLst>
              <a:gd name="adj" fmla="val 5702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19659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(DTP) is the process of using computer software to arrange text, images and other visual elements into a finished publication for print or digital sharing.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40664" y="4160520"/>
            <a:ext cx="10652760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23544" y="4288536"/>
            <a:ext cx="10287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 department notice needs accurate words, visible event details, organised spacing and a shareable final file.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DTP is more than typing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 processors can also make attractive pages, but publishing puts deliberate page communication at the centre.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58952" y="1728216"/>
            <a:ext cx="5047488" cy="3200400"/>
          </a:xfrm>
          <a:prstGeom prst="roundRect">
            <a:avLst>
              <a:gd name="adj" fmla="val 3714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" y="1938528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Typing and editing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978408" y="2514600"/>
            <a:ext cx="4608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 task is to enter words, correct mistakes and form readable paragraphs. A letter or ordinary report may need little visual arrangement.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126480" y="1728216"/>
            <a:ext cx="5047488" cy="3200400"/>
          </a:xfrm>
          <a:prstGeom prst="roundRect">
            <a:avLst>
              <a:gd name="adj" fmla="val 3714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45936" y="1938528"/>
            <a:ext cx="4608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</a:t>
            </a:r>
            <a:endParaRPr lang="en-US" sz="1930" dirty="0"/>
          </a:p>
        </p:txBody>
      </p:sp>
      <p:sp>
        <p:nvSpPr>
          <p:cNvPr id="15" name="Text 13"/>
          <p:cNvSpPr/>
          <p:nvPr/>
        </p:nvSpPr>
        <p:spPr>
          <a:xfrm>
            <a:off x="6345936" y="2514600"/>
            <a:ext cx="460857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task includes choosing information, arranging it into a reading order, combining suitable graphics and checking how the finished page will print or display.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58952" y="5312664"/>
            <a:ext cx="10424160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41832" y="54406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may use the same computer. The difference is the communication and layout decisions being made.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desktop publishing became accessible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tools changed, but the need to communicate clearly remained.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22376" y="1801368"/>
            <a:ext cx="3401568" cy="2980944"/>
          </a:xfrm>
          <a:prstGeom prst="roundRect">
            <a:avLst>
              <a:gd name="adj" fmla="val 398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1984248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87552" y="2103120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23544" y="2743200"/>
            <a:ext cx="3008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personal DTP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23544" y="341071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pages were prepared using specialist typesetting and manual production methods.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407408" y="1801368"/>
            <a:ext cx="3401568" cy="2980944"/>
          </a:xfrm>
          <a:prstGeom prst="roundRect">
            <a:avLst>
              <a:gd name="adj" fmla="val 398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99432" y="1984248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72584" y="2103120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08576" y="2743200"/>
            <a:ext cx="3008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1980s onward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08576" y="341071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computers, page-layout programs and printers brought publishing to smaller organisations.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083296" y="1801368"/>
            <a:ext cx="3401568" cy="2980944"/>
          </a:xfrm>
          <a:prstGeom prst="roundRect">
            <a:avLst>
              <a:gd name="adj" fmla="val 398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275320" y="1984248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48472" y="2103120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284464" y="2743200"/>
            <a:ext cx="300837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Print and screen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284464" y="3410712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photography, PDF files and online sharing expanded where publications are used.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does DTP matter to organisations?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22376" y="1728216"/>
            <a:ext cx="3447288" cy="3310128"/>
          </a:xfrm>
          <a:prstGeom prst="roundRect">
            <a:avLst>
              <a:gd name="adj" fmla="val 3591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41832" y="193852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 people</a:t>
            </a:r>
            <a:endParaRPr lang="en-US" sz="1930" dirty="0"/>
          </a:p>
        </p:txBody>
      </p:sp>
      <p:sp>
        <p:nvSpPr>
          <p:cNvPr id="11" name="Text 9"/>
          <p:cNvSpPr/>
          <p:nvPr/>
        </p:nvSpPr>
        <p:spPr>
          <a:xfrm>
            <a:off x="941832" y="2514600"/>
            <a:ext cx="30083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Colleges and community groups prepare notices, schedules and learning materials that readers can scan quickly.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389120" y="1728216"/>
            <a:ext cx="3447288" cy="3310128"/>
          </a:xfrm>
          <a:prstGeom prst="roundRect">
            <a:avLst>
              <a:gd name="adj" fmla="val 3591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193852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consistency</a:t>
            </a:r>
            <a:endParaRPr lang="en-US" sz="1930" dirty="0"/>
          </a:p>
        </p:txBody>
      </p:sp>
      <p:sp>
        <p:nvSpPr>
          <p:cNvPr id="14" name="Text 12"/>
          <p:cNvSpPr/>
          <p:nvPr/>
        </p:nvSpPr>
        <p:spPr>
          <a:xfrm>
            <a:off x="4608576" y="2514600"/>
            <a:ext cx="30083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 headings, logos and layouts help different publications look like they belong to one organisation.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055864" y="1728216"/>
            <a:ext cx="3447288" cy="3310128"/>
          </a:xfrm>
          <a:prstGeom prst="roundRect">
            <a:avLst>
              <a:gd name="adj" fmla="val 3591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75320" y="1938528"/>
            <a:ext cx="3008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usable output</a:t>
            </a:r>
            <a:endParaRPr lang="en-US" sz="1930" dirty="0"/>
          </a:p>
        </p:txBody>
      </p:sp>
      <p:sp>
        <p:nvSpPr>
          <p:cNvPr id="17" name="Text 15"/>
          <p:cNvSpPr/>
          <p:nvPr/>
        </p:nvSpPr>
        <p:spPr>
          <a:xfrm>
            <a:off x="8275320" y="2514600"/>
            <a:ext cx="3008376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publication must remain legible when printed or opened on another device. Saving the right file is part of the work.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visual communication?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13232" y="1627632"/>
            <a:ext cx="10652760" cy="2194560"/>
          </a:xfrm>
          <a:prstGeom prst="roundRect">
            <a:avLst>
              <a:gd name="adj" fmla="val 5417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96696" y="1883664"/>
            <a:ext cx="99669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3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communication means conveying a message through the appearance and arrangement of text, pictures, symbols, shapes, colours and space.</a:t>
            </a:r>
            <a:endParaRPr lang="en-US" sz="2430" dirty="0"/>
          </a:p>
        </p:txBody>
      </p:sp>
      <p:sp>
        <p:nvSpPr>
          <p:cNvPr id="11" name="Shape 9"/>
          <p:cNvSpPr/>
          <p:nvPr/>
        </p:nvSpPr>
        <p:spPr>
          <a:xfrm>
            <a:off x="731520" y="4206240"/>
            <a:ext cx="10588752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334256"/>
            <a:ext cx="102229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reader should be able to recognise what matters first, find the supporting details and understand what to do next.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information can still be poorly communicated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5148072" cy="3255264"/>
          </a:xfrm>
          <a:prstGeom prst="roundRect">
            <a:avLst>
              <a:gd name="adj" fmla="val 3652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0976" y="19476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weak notice might…</a:t>
            </a:r>
            <a:endParaRPr lang="en-US" sz="1930" dirty="0"/>
          </a:p>
        </p:txBody>
      </p:sp>
      <p:sp>
        <p:nvSpPr>
          <p:cNvPr id="11" name="Text 9"/>
          <p:cNvSpPr/>
          <p:nvPr/>
        </p:nvSpPr>
        <p:spPr>
          <a:xfrm>
            <a:off x="950976" y="2523744"/>
            <a:ext cx="470916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tiny pale writing for the venue, arrange details in random positions and place a decorative picture over essential information.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099048" y="1737360"/>
            <a:ext cx="5148072" cy="3255264"/>
          </a:xfrm>
          <a:prstGeom prst="roundRect">
            <a:avLst>
              <a:gd name="adj" fmla="val 3652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18504" y="19476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stronger notice…</a:t>
            </a:r>
            <a:endParaRPr lang="en-US" sz="1930" dirty="0"/>
          </a:p>
        </p:txBody>
      </p:sp>
      <p:sp>
        <p:nvSpPr>
          <p:cNvPr id="14" name="Text 12"/>
          <p:cNvSpPr/>
          <p:nvPr/>
        </p:nvSpPr>
        <p:spPr>
          <a:xfrm>
            <a:off x="6318504" y="2523744"/>
            <a:ext cx="470916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Makes the event name immediately visible, groups its date and venue, uses readable contrast and removes elements that distract from the message.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0664" y="5321808"/>
            <a:ext cx="10488168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23544" y="5449824"/>
            <a:ext cx="10122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design supports accurate content; decoration cannot replace accuracy.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three questions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opening any design application, decide what the publication needs to accomplish.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" y="1810512"/>
            <a:ext cx="3364992" cy="2980944"/>
          </a:xfrm>
          <a:prstGeom prst="roundRect">
            <a:avLst>
              <a:gd name="adj" fmla="val 398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23544" y="1993392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96696" y="2112264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32688" y="275234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the audience?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2688" y="3419856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Students, residents, parents, customers or another specific group?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4434840" y="1810512"/>
            <a:ext cx="3364992" cy="2980944"/>
          </a:xfrm>
          <a:prstGeom prst="roundRect">
            <a:avLst>
              <a:gd name="adj" fmla="val 398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626864" y="1993392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700016" y="2112264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636008" y="275234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they know?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36008" y="3419856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event, service, topic or instruction that must be understood.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8119872" y="1810512"/>
            <a:ext cx="3364992" cy="2980944"/>
          </a:xfrm>
          <a:prstGeom prst="roundRect">
            <a:avLst>
              <a:gd name="adj" fmla="val 398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311896" y="1993392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85048" y="2112264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321040" y="275234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they do?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321040" y="3419856"/>
            <a:ext cx="29809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Attend, read further, make contact, apply or follow a procedure.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qualities of a clear publication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40664" y="1517904"/>
            <a:ext cx="10570464" cy="768096"/>
          </a:xfrm>
          <a:prstGeom prst="roundRect">
            <a:avLst>
              <a:gd name="adj" fmla="val 1547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1664208"/>
            <a:ext cx="429768" cy="429768"/>
          </a:xfrm>
          <a:prstGeom prst="roundRect">
            <a:avLst>
              <a:gd name="adj" fmla="val 2766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17373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472184" y="16824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30168" y="1682496"/>
            <a:ext cx="7434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central message is easy to understand.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740664" y="2386584"/>
            <a:ext cx="10570464" cy="768096"/>
          </a:xfrm>
          <a:prstGeom prst="roundRect">
            <a:avLst>
              <a:gd name="adj" fmla="val 1547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2532888"/>
            <a:ext cx="429768" cy="429768"/>
          </a:xfrm>
          <a:prstGeom prst="roundRect">
            <a:avLst>
              <a:gd name="adj" fmla="val 2766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2606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472184" y="2551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30168" y="2551176"/>
            <a:ext cx="7434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Names, dates, contact details and instructions are correct.</a:t>
            </a:r>
            <a:endParaRPr lang="en-US" sz="1620" dirty="0"/>
          </a:p>
        </p:txBody>
      </p:sp>
      <p:sp>
        <p:nvSpPr>
          <p:cNvPr id="19" name="Shape 17"/>
          <p:cNvSpPr/>
          <p:nvPr/>
        </p:nvSpPr>
        <p:spPr>
          <a:xfrm>
            <a:off x="740664" y="3255264"/>
            <a:ext cx="10570464" cy="768096"/>
          </a:xfrm>
          <a:prstGeom prst="roundRect">
            <a:avLst>
              <a:gd name="adj" fmla="val 1547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68680" y="3401568"/>
            <a:ext cx="429768" cy="429768"/>
          </a:xfrm>
          <a:prstGeom prst="roundRect">
            <a:avLst>
              <a:gd name="adj" fmla="val 2766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34747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472184" y="34198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Readability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30168" y="3419856"/>
            <a:ext cx="7434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Words are legible, with suitable size and contrast.</a:t>
            </a:r>
            <a:endParaRPr lang="en-US" sz="1620" dirty="0"/>
          </a:p>
        </p:txBody>
      </p:sp>
      <p:sp>
        <p:nvSpPr>
          <p:cNvPr id="24" name="Shape 22"/>
          <p:cNvSpPr/>
          <p:nvPr/>
        </p:nvSpPr>
        <p:spPr>
          <a:xfrm>
            <a:off x="740664" y="4123944"/>
            <a:ext cx="10570464" cy="768096"/>
          </a:xfrm>
          <a:prstGeom prst="roundRect">
            <a:avLst>
              <a:gd name="adj" fmla="val 1547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68680" y="4270248"/>
            <a:ext cx="429768" cy="429768"/>
          </a:xfrm>
          <a:prstGeom prst="roundRect">
            <a:avLst>
              <a:gd name="adj" fmla="val 2766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0120" y="4343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472184" y="42885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Suitability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630168" y="4288536"/>
            <a:ext cx="7434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and visual style match the intended audience.</a:t>
            </a:r>
            <a:endParaRPr lang="en-US" sz="1620" dirty="0"/>
          </a:p>
        </p:txBody>
      </p:sp>
      <p:sp>
        <p:nvSpPr>
          <p:cNvPr id="29" name="Shape 27"/>
          <p:cNvSpPr/>
          <p:nvPr/>
        </p:nvSpPr>
        <p:spPr>
          <a:xfrm>
            <a:off x="740664" y="4992624"/>
            <a:ext cx="10570464" cy="768096"/>
          </a:xfrm>
          <a:prstGeom prst="roundRect">
            <a:avLst>
              <a:gd name="adj" fmla="val 1547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68680" y="5138928"/>
            <a:ext cx="429768" cy="429768"/>
          </a:xfrm>
          <a:prstGeom prst="roundRect">
            <a:avLst>
              <a:gd name="adj" fmla="val 2766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60120" y="52120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472184" y="5157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630168" y="5157216"/>
            <a:ext cx="7434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elements look related throughout the page.</a:t>
            </a:r>
            <a:endParaRPr lang="en-US" sz="16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hierarchy: guide the reader’s eyes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Size, contrast and spacing establish a deliberate reading order.</a:t>
            </a:r>
            <a:endParaRPr lang="en-US" sz="1550" dirty="0"/>
          </a:p>
        </p:txBody>
      </p:sp>
      <p:pic>
        <p:nvPicPr>
          <p:cNvPr id="10" name="Image 0" descr="/mnt/data/ITT06105_Condensed_L01_Package/assets/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73352"/>
            <a:ext cx="10479024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 is more than “make it bigger”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49808" y="1755648"/>
            <a:ext cx="5120640" cy="3227832"/>
          </a:xfrm>
          <a:prstGeom prst="roundRect">
            <a:avLst>
              <a:gd name="adj" fmla="val 3683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9264" y="1965960"/>
            <a:ext cx="4681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reader notices first</a:t>
            </a:r>
            <a:endParaRPr lang="en-US" sz="1930" dirty="0"/>
          </a:p>
        </p:txBody>
      </p:sp>
      <p:sp>
        <p:nvSpPr>
          <p:cNvPr id="11" name="Text 9"/>
          <p:cNvSpPr/>
          <p:nvPr/>
        </p:nvSpPr>
        <p:spPr>
          <a:xfrm>
            <a:off x="969264" y="2542032"/>
            <a:ext cx="4681728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 event name or lesson title identifies the subject immediately. The headline should be meaningful, not just decorative.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135624" y="1755648"/>
            <a:ext cx="5111496" cy="3227832"/>
          </a:xfrm>
          <a:prstGeom prst="roundRect">
            <a:avLst>
              <a:gd name="adj" fmla="val 3683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55080" y="1965960"/>
            <a:ext cx="4672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comes next</a:t>
            </a:r>
            <a:endParaRPr lang="en-US" sz="1930" dirty="0"/>
          </a:p>
        </p:txBody>
      </p:sp>
      <p:sp>
        <p:nvSpPr>
          <p:cNvPr id="14" name="Text 12"/>
          <p:cNvSpPr/>
          <p:nvPr/>
        </p:nvSpPr>
        <p:spPr>
          <a:xfrm>
            <a:off x="6355080" y="2542032"/>
            <a:ext cx="4672584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short explanation gives context. Date, place, instructions and contact details are then grouped so they can be located quickly.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0664" y="5285232"/>
            <a:ext cx="10506456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23544" y="5413248"/>
            <a:ext cx="10140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reading order depends on the reader’s needs—not every detail should be equally prominent.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this crowded event notice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information exists, but many elements compete for attention.</a:t>
            </a:r>
            <a:endParaRPr lang="en-US" sz="1550" dirty="0"/>
          </a:p>
        </p:txBody>
      </p:sp>
      <p:pic>
        <p:nvPicPr>
          <p:cNvPr id="10" name="Image 0" descr="/mnt/data/ITT06105_Condensed_L01_Package/assets/flawed_no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600200"/>
            <a:ext cx="4480560" cy="43159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37960" y="187452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for: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537960" y="2468880"/>
            <a:ext cx="4507992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competing type sizes and colours</a:t>
            </a:r>
            <a:endParaRPr lang="en-US" sz="18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inconsistent left edges</a:t>
            </a:r>
            <a:endParaRPr lang="en-US" sz="18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event details scattered apart</a:t>
            </a:r>
            <a:endParaRPr lang="en-US" sz="18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8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decoration that distracts</a:t>
            </a:r>
            <a:endParaRPr lang="en-US" sz="1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clearer version of the same message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Grouping and contrast direct the reader from the headline to the event details.</a:t>
            </a:r>
            <a:endParaRPr lang="en-US" sz="1550" dirty="0"/>
          </a:p>
        </p:txBody>
      </p:sp>
      <p:pic>
        <p:nvPicPr>
          <p:cNvPr id="10" name="Image 0" descr="/mnt/data/ITT06105_Condensed_L01_Package/assets/improved_no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18488"/>
            <a:ext cx="4709160" cy="4343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35040" y="1828800"/>
            <a:ext cx="4846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improved?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35040" y="2386584"/>
            <a:ext cx="5074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event title forms a clear headline. Supporting text is easy to scan. The date and time appear together. Alignment and open space make the page calmer.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two designs—not just their appearance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stronger notice gives the reader a more predictable path through the information.</a:t>
            </a:r>
            <a:endParaRPr lang="en-US" sz="1550" dirty="0"/>
          </a:p>
        </p:txBody>
      </p:sp>
      <p:pic>
        <p:nvPicPr>
          <p:cNvPr id="10" name="Image 0" descr="/mnt/data/ITT06105_Condensed_L01_Package/assets/before_after_fl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46504"/>
            <a:ext cx="10991088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principles that organise a page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terms give us practical reasons for improving a design.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58952" y="1755648"/>
            <a:ext cx="5093208" cy="1709928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" y="1965960"/>
            <a:ext cx="4654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978408" y="2542032"/>
            <a:ext cx="46542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Differentiate important information from supporting details.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117336" y="1755648"/>
            <a:ext cx="5093208" cy="1709928"/>
          </a:xfrm>
          <a:prstGeom prst="roundRect">
            <a:avLst>
              <a:gd name="adj" fmla="val 6952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36792" y="1965960"/>
            <a:ext cx="4654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</a:t>
            </a:r>
            <a:endParaRPr lang="en-US" sz="1930" dirty="0"/>
          </a:p>
        </p:txBody>
      </p:sp>
      <p:sp>
        <p:nvSpPr>
          <p:cNvPr id="15" name="Text 13"/>
          <p:cNvSpPr/>
          <p:nvPr/>
        </p:nvSpPr>
        <p:spPr>
          <a:xfrm>
            <a:off x="6336792" y="2542032"/>
            <a:ext cx="46542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consistent edges and lines to establish order.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758952" y="3685032"/>
            <a:ext cx="5093208" cy="1709928"/>
          </a:xfrm>
          <a:prstGeom prst="roundRect">
            <a:avLst>
              <a:gd name="adj" fmla="val 6952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78408" y="3895344"/>
            <a:ext cx="4654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Proximity</a:t>
            </a:r>
            <a:endParaRPr lang="en-US" sz="1930" dirty="0"/>
          </a:p>
        </p:txBody>
      </p:sp>
      <p:sp>
        <p:nvSpPr>
          <p:cNvPr id="18" name="Text 16"/>
          <p:cNvSpPr/>
          <p:nvPr/>
        </p:nvSpPr>
        <p:spPr>
          <a:xfrm>
            <a:off x="978408" y="4471416"/>
            <a:ext cx="46542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 related information together, and separate unrelated groups.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117336" y="3685032"/>
            <a:ext cx="5093208" cy="1709928"/>
          </a:xfrm>
          <a:prstGeom prst="roundRect">
            <a:avLst>
              <a:gd name="adj" fmla="val 6952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36792" y="3895344"/>
            <a:ext cx="4654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Repetition</a:t>
            </a:r>
            <a:endParaRPr lang="en-US" sz="1930" dirty="0"/>
          </a:p>
        </p:txBody>
      </p:sp>
      <p:sp>
        <p:nvSpPr>
          <p:cNvPr id="21" name="Text 19"/>
          <p:cNvSpPr/>
          <p:nvPr/>
        </p:nvSpPr>
        <p:spPr>
          <a:xfrm>
            <a:off x="6336792" y="4471416"/>
            <a:ext cx="46542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visual features so headings and sections feel consistent.</a:t>
            </a:r>
            <a:endParaRPr lang="en-US" sz="1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 helps important information stand out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813816" y="1746504"/>
            <a:ext cx="5074920" cy="2395728"/>
          </a:xfrm>
          <a:prstGeom prst="roundRect">
            <a:avLst>
              <a:gd name="adj" fmla="val 4962"/>
            </a:avLst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79576" y="2322576"/>
            <a:ext cx="42062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A8C9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FAINT HEADING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153912" y="1746504"/>
            <a:ext cx="5074920" cy="2395728"/>
          </a:xfrm>
          <a:prstGeom prst="roundRect">
            <a:avLst>
              <a:gd name="adj" fmla="val 4962"/>
            </a:avLst>
          </a:prstGeom>
          <a:solidFill>
            <a:srgbClr val="162B3F"/>
          </a:solidFill>
          <a:ln w="12700">
            <a:solidFill>
              <a:srgbClr val="162B3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47104" y="2295144"/>
            <a:ext cx="4288536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HEADING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804672" y="4718304"/>
            <a:ext cx="10415016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87552" y="4846320"/>
            <a:ext cx="100492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Contrast can come from colour, size, weight or shape. Use it to express priority, not to make every object compete.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Alignment creates a reliable structure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68096" y="1709928"/>
            <a:ext cx="5029200" cy="338328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60704" y="192024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B448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ALIGNMENT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44168" y="2514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title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it happens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78408" y="37673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to go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26480" y="1709928"/>
            <a:ext cx="5029200" cy="338328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19088" y="192024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ALIGNMENT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19088" y="2441448"/>
            <a:ext cx="0" cy="2066544"/>
          </a:xfrm>
          <a:prstGeom prst="line">
            <a:avLst/>
          </a:prstGeom>
          <a:noFill/>
          <a:ln w="1905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92824" y="2514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title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92824" y="3154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it happens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92824" y="37673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to go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5367528"/>
            <a:ext cx="10424160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60120" y="549554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left edges help the eye scan. They also make a publication look more deliberate.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Proximity reveals which details belong together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77240" y="1792224"/>
            <a:ext cx="5102352" cy="3008376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96696" y="20025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confusing arrangement</a:t>
            </a:r>
            <a:endParaRPr lang="en-US" sz="1930" dirty="0"/>
          </a:p>
        </p:txBody>
      </p:sp>
      <p:sp>
        <p:nvSpPr>
          <p:cNvPr id="11" name="Text 9"/>
          <p:cNvSpPr/>
          <p:nvPr/>
        </p:nvSpPr>
        <p:spPr>
          <a:xfrm>
            <a:off x="996696" y="2578608"/>
            <a:ext cx="466344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time appears near the fee, while the venue is isolated beneath unrelated contact text. Readers must work out what belongs to the event.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6135624" y="1792224"/>
            <a:ext cx="5102352" cy="3008376"/>
          </a:xfrm>
          <a:prstGeom prst="roundRect">
            <a:avLst>
              <a:gd name="adj" fmla="val 3951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55080" y="200253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clearer arrangement</a:t>
            </a:r>
            <a:endParaRPr lang="en-US" sz="1930" dirty="0"/>
          </a:p>
        </p:txBody>
      </p:sp>
      <p:sp>
        <p:nvSpPr>
          <p:cNvPr id="14" name="Text 12"/>
          <p:cNvSpPr/>
          <p:nvPr/>
        </p:nvSpPr>
        <p:spPr>
          <a:xfrm>
            <a:off x="6355080" y="2578608"/>
            <a:ext cx="4663440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date, time and venue inside one event-details block. Give registration and contact details their own neighbouring block.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86384" y="5202936"/>
            <a:ext cx="10424160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9264" y="533095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 communicates relationships even before the reader understands every word.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Repetition makes a document feel consistent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77240" y="1792224"/>
            <a:ext cx="3383280" cy="2990088"/>
          </a:xfrm>
          <a:prstGeom prst="roundRect">
            <a:avLst>
              <a:gd name="adj" fmla="val 397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96696" y="200253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heading</a:t>
            </a:r>
            <a:endParaRPr lang="en-US" sz="1930" dirty="0"/>
          </a:p>
        </p:txBody>
      </p:sp>
      <p:sp>
        <p:nvSpPr>
          <p:cNvPr id="11" name="Text 9"/>
          <p:cNvSpPr/>
          <p:nvPr/>
        </p:nvSpPr>
        <p:spPr>
          <a:xfrm>
            <a:off x="996696" y="2578608"/>
            <a:ext cx="294436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typeface, size and colour each time a new section begins.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416552" y="1792224"/>
            <a:ext cx="3383280" cy="2990088"/>
          </a:xfrm>
          <a:prstGeom prst="roundRect">
            <a:avLst>
              <a:gd name="adj" fmla="val 39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36008" y="200253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box</a:t>
            </a:r>
            <a:endParaRPr lang="en-US" sz="1930" dirty="0"/>
          </a:p>
        </p:txBody>
      </p:sp>
      <p:sp>
        <p:nvSpPr>
          <p:cNvPr id="14" name="Text 12"/>
          <p:cNvSpPr/>
          <p:nvPr/>
        </p:nvSpPr>
        <p:spPr>
          <a:xfrm>
            <a:off x="4636008" y="2578608"/>
            <a:ext cx="294436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a similar border, fill or spacing style when the same kind of information appears.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046720" y="1792224"/>
            <a:ext cx="3383280" cy="2990088"/>
          </a:xfrm>
          <a:prstGeom prst="roundRect">
            <a:avLst>
              <a:gd name="adj" fmla="val 397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66176" y="200253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identity</a:t>
            </a:r>
            <a:endParaRPr lang="en-US" sz="1930" dirty="0"/>
          </a:p>
        </p:txBody>
      </p:sp>
      <p:sp>
        <p:nvSpPr>
          <p:cNvPr id="17" name="Text 15"/>
          <p:cNvSpPr/>
          <p:nvPr/>
        </p:nvSpPr>
        <p:spPr>
          <a:xfrm>
            <a:off x="8266176" y="2578608"/>
            <a:ext cx="2944368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repeated header or logo can show that several pages belong to the same publication.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86384" y="5148072"/>
            <a:ext cx="10424160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9264" y="527608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Repetition brings unity. Contrast still helps distinguish the most important item.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Whitespace is useful space—not wasted space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813816" y="1847088"/>
            <a:ext cx="5120640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24128" y="2084832"/>
            <a:ext cx="46360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100" b="1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CROWDED LAYOUT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78408" y="2633472"/>
            <a:ext cx="4681728" cy="228600"/>
          </a:xfrm>
          <a:prstGeom prst="roundRect">
            <a:avLst>
              <a:gd name="adj" fmla="val 52000"/>
            </a:avLst>
          </a:prstGeom>
          <a:solidFill>
            <a:srgbClr val="EAAA42"/>
          </a:solidFill>
          <a:ln w="12700">
            <a:solidFill>
              <a:srgbClr val="EAAA42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78408" y="2999232"/>
            <a:ext cx="4681728" cy="228600"/>
          </a:xfrm>
          <a:prstGeom prst="roundRect">
            <a:avLst>
              <a:gd name="adj" fmla="val 52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78408" y="3364992"/>
            <a:ext cx="4681728" cy="228600"/>
          </a:xfrm>
          <a:prstGeom prst="roundRect">
            <a:avLst>
              <a:gd name="adj" fmla="val 52000"/>
            </a:avLst>
          </a:prstGeom>
          <a:solidFill>
            <a:srgbClr val="EAAA42"/>
          </a:solidFill>
          <a:ln w="12700">
            <a:solidFill>
              <a:srgbClr val="EAAA42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78408" y="3730752"/>
            <a:ext cx="4681728" cy="228600"/>
          </a:xfrm>
          <a:prstGeom prst="roundRect">
            <a:avLst>
              <a:gd name="adj" fmla="val 52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78408" y="4096512"/>
            <a:ext cx="4681728" cy="228600"/>
          </a:xfrm>
          <a:prstGeom prst="roundRect">
            <a:avLst>
              <a:gd name="adj" fmla="val 52000"/>
            </a:avLst>
          </a:prstGeom>
          <a:solidFill>
            <a:srgbClr val="EAAA42"/>
          </a:solidFill>
          <a:ln w="12700">
            <a:solidFill>
              <a:srgbClr val="EAAA42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44768" y="1847088"/>
            <a:ext cx="5120640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73952" y="2194560"/>
            <a:ext cx="4389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b="1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LAYOUT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6492240" y="2862072"/>
            <a:ext cx="3749040" cy="347472"/>
          </a:xfrm>
          <a:prstGeom prst="roundRect">
            <a:avLst>
              <a:gd name="adj" fmla="val 3421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492240" y="3520440"/>
            <a:ext cx="3291840" cy="201168"/>
          </a:xfrm>
          <a:prstGeom prst="roundRect">
            <a:avLst>
              <a:gd name="adj" fmla="val 59091"/>
            </a:avLst>
          </a:prstGeom>
          <a:solidFill>
            <a:srgbClr val="9CCAC6"/>
          </a:solidFill>
          <a:ln w="12700">
            <a:solidFill>
              <a:srgbClr val="9CCAC6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92240" y="3941064"/>
            <a:ext cx="3639312" cy="201168"/>
          </a:xfrm>
          <a:prstGeom prst="roundRect">
            <a:avLst>
              <a:gd name="adj" fmla="val 59091"/>
            </a:avLst>
          </a:prstGeom>
          <a:solidFill>
            <a:srgbClr val="9CCAC6"/>
          </a:solidFill>
          <a:ln w="12700">
            <a:solidFill>
              <a:srgbClr val="9CCAC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822960" y="5285232"/>
            <a:ext cx="10424160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05840" y="541324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empty areas separate groups and make the important parts easier to notice.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Gestalt: how we perceive groups and patterns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49808" y="1737360"/>
            <a:ext cx="1047902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Gestalt principles describe common ways in which people see visual elements as belonging together or standing apart.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86384" y="3337560"/>
            <a:ext cx="3401568" cy="1892808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354787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Proximity</a:t>
            </a:r>
            <a:endParaRPr lang="en-US" sz="1930" dirty="0"/>
          </a:p>
        </p:txBody>
      </p:sp>
      <p:sp>
        <p:nvSpPr>
          <p:cNvPr id="12" name="Text 10"/>
          <p:cNvSpPr/>
          <p:nvPr/>
        </p:nvSpPr>
        <p:spPr>
          <a:xfrm>
            <a:off x="1005840" y="4123944"/>
            <a:ext cx="29626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Nearby elements are often read as one group.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398264" y="3337560"/>
            <a:ext cx="3401568" cy="1892808"/>
          </a:xfrm>
          <a:prstGeom prst="roundRect">
            <a:avLst>
              <a:gd name="adj" fmla="val 6280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617720" y="354787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</a:t>
            </a:r>
            <a:endParaRPr lang="en-US" sz="1930" dirty="0"/>
          </a:p>
        </p:txBody>
      </p:sp>
      <p:sp>
        <p:nvSpPr>
          <p:cNvPr id="15" name="Text 13"/>
          <p:cNvSpPr/>
          <p:nvPr/>
        </p:nvSpPr>
        <p:spPr>
          <a:xfrm>
            <a:off x="4617720" y="4123944"/>
            <a:ext cx="29626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Items with matching shapes or colours appear related.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028432" y="3337560"/>
            <a:ext cx="3401568" cy="1892808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247888" y="3547872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Figure and ground</a:t>
            </a:r>
            <a:endParaRPr lang="en-US" sz="1930" dirty="0"/>
          </a:p>
        </p:txBody>
      </p:sp>
      <p:sp>
        <p:nvSpPr>
          <p:cNvPr id="18" name="Text 16"/>
          <p:cNvSpPr/>
          <p:nvPr/>
        </p:nvSpPr>
        <p:spPr>
          <a:xfrm>
            <a:off x="8247888" y="4123944"/>
            <a:ext cx="29626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contrast separates the main subject from its background.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Gestalt ideas in a picture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Notice how distance, repeated shapes and contrast affect what seems connected.</a:t>
            </a:r>
            <a:endParaRPr lang="en-US" sz="1550" dirty="0"/>
          </a:p>
        </p:txBody>
      </p:sp>
      <p:pic>
        <p:nvPicPr>
          <p:cNvPr id="10" name="Image 0" descr="/mnt/data/ITT06105_Condensed_L01_Package/assets/gestalt_examp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792224"/>
            <a:ext cx="10799064" cy="414223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is a reasoned decision, not personal taste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58952" y="1682496"/>
            <a:ext cx="10488168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50976" y="188366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4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date is hard to find.”</a:t>
            </a:r>
            <a:endParaRPr lang="en-US" sz="1840" dirty="0"/>
          </a:p>
        </p:txBody>
      </p:sp>
      <p:sp>
        <p:nvSpPr>
          <p:cNvPr id="11" name="Text 9"/>
          <p:cNvSpPr/>
          <p:nvPr/>
        </p:nvSpPr>
        <p:spPr>
          <a:xfrm>
            <a:off x="4379976" y="1847088"/>
            <a:ext cx="65288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it into the event-details group and give it readable contrast.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58952" y="3099816"/>
            <a:ext cx="10488168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50976" y="330098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4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page feels disorganised.”</a:t>
            </a:r>
            <a:endParaRPr lang="en-US" sz="1840" dirty="0"/>
          </a:p>
        </p:txBody>
      </p:sp>
      <p:sp>
        <p:nvSpPr>
          <p:cNvPr id="14" name="Text 12"/>
          <p:cNvSpPr/>
          <p:nvPr/>
        </p:nvSpPr>
        <p:spPr>
          <a:xfrm>
            <a:off x="4379976" y="3264408"/>
            <a:ext cx="65288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consistent alignment and spacing for headings and paragraphs.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58952" y="4517136"/>
            <a:ext cx="10488168" cy="1207008"/>
          </a:xfrm>
          <a:prstGeom prst="roundRect">
            <a:avLst>
              <a:gd name="adj" fmla="val 984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50976" y="471830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4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“Everything is shouting.”</a:t>
            </a:r>
            <a:endParaRPr lang="en-US" sz="1840" dirty="0"/>
          </a:p>
        </p:txBody>
      </p:sp>
      <p:sp>
        <p:nvSpPr>
          <p:cNvPr id="17" name="Text 15"/>
          <p:cNvSpPr/>
          <p:nvPr/>
        </p:nvSpPr>
        <p:spPr>
          <a:xfrm>
            <a:off x="4379976" y="4681728"/>
            <a:ext cx="65288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0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competing emphasis and establish one clear headline.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software that matches the publishing task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22376" y="1792224"/>
            <a:ext cx="3456432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41832" y="2002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Photoshop</a:t>
            </a:r>
            <a:endParaRPr lang="en-US" sz="1930" dirty="0"/>
          </a:p>
        </p:txBody>
      </p:sp>
      <p:sp>
        <p:nvSpPr>
          <p:cNvPr id="11" name="Text 9"/>
          <p:cNvSpPr/>
          <p:nvPr/>
        </p:nvSpPr>
        <p:spPr>
          <a:xfrm>
            <a:off x="941832" y="2578608"/>
            <a:ext cx="3017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Suited to editing photographs and raster image compositions. A common task is cropping or correcting a photo for a notice.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4379976" y="1792224"/>
            <a:ext cx="3456432" cy="3090672"/>
          </a:xfrm>
          <a:prstGeom prst="roundRect">
            <a:avLst>
              <a:gd name="adj" fmla="val 384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99432" y="2002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Illustrator</a:t>
            </a:r>
            <a:endParaRPr lang="en-US" sz="1930" dirty="0"/>
          </a:p>
        </p:txBody>
      </p:sp>
      <p:sp>
        <p:nvSpPr>
          <p:cNvPr id="14" name="Text 12"/>
          <p:cNvSpPr/>
          <p:nvPr/>
        </p:nvSpPr>
        <p:spPr>
          <a:xfrm>
            <a:off x="4599432" y="2578608"/>
            <a:ext cx="3017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Suited to vector artwork that can be resized, such as icons and logos.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055864" y="1792224"/>
            <a:ext cx="3456432" cy="309067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75320" y="200253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InDesign</a:t>
            </a:r>
            <a:endParaRPr lang="en-US" sz="1930" dirty="0"/>
          </a:p>
        </p:txBody>
      </p:sp>
      <p:sp>
        <p:nvSpPr>
          <p:cNvPr id="17" name="Text 15"/>
          <p:cNvSpPr/>
          <p:nvPr/>
        </p:nvSpPr>
        <p:spPr>
          <a:xfrm>
            <a:off x="8275320" y="2578608"/>
            <a:ext cx="30175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Suited to arranging text and graphics into pages, brochures and booklets.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95528" y="5285232"/>
            <a:ext cx="10424160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78408" y="541324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consider available computers, licences, skills, file compatibility and output requirements.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tool would you choose?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58952" y="1837944"/>
            <a:ext cx="3355848" cy="2980944"/>
          </a:xfrm>
          <a:prstGeom prst="roundRect">
            <a:avLst>
              <a:gd name="adj" fmla="val 398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50976" y="2020824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24128" y="2139696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2779776"/>
            <a:ext cx="29626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a photograph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344728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raster editor helps crop or retouch the image before it is placed in a publication.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434840" y="1837944"/>
            <a:ext cx="3355848" cy="2980944"/>
          </a:xfrm>
          <a:prstGeom prst="roundRect">
            <a:avLst>
              <a:gd name="adj" fmla="val 398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626864" y="2020824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700016" y="2139696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636008" y="2779776"/>
            <a:ext cx="29626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small icon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36008" y="344728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vector editor keeps simple shapes clear at different display sizes.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110728" y="1837944"/>
            <a:ext cx="3355848" cy="2980944"/>
          </a:xfrm>
          <a:prstGeom prst="roundRect">
            <a:avLst>
              <a:gd name="adj" fmla="val 398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302752" y="2020824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75904" y="2139696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311896" y="2779776"/>
            <a:ext cx="29626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 booklet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11896" y="344728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page-layout tool helps maintain columns, image placement and styles.</a:t>
            </a:r>
            <a:endParaRPr lang="en-US" sz="16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desktop publishing workflow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the message, build the page and check the result before anyone else reads it.</a:t>
            </a:r>
            <a:endParaRPr lang="en-US" sz="1550" dirty="0"/>
          </a:p>
        </p:txBody>
      </p:sp>
      <p:pic>
        <p:nvPicPr>
          <p:cNvPr id="10" name="Image 0" descr="/mnt/data/ITT06105_Condensed_L01_Package/assets/publishing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56232"/>
            <a:ext cx="10716768" cy="293522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4672" y="5312664"/>
            <a:ext cx="10387584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87552" y="5440680"/>
            <a:ext cx="100218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 is not always perfectly linear. A failed check may send the designer back to correct content or layout.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these five things before sharing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77240" y="1517904"/>
            <a:ext cx="10570464" cy="768096"/>
          </a:xfrm>
          <a:prstGeom prst="roundRect">
            <a:avLst>
              <a:gd name="adj" fmla="val 1547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05256" y="1664208"/>
            <a:ext cx="429768" cy="429768"/>
          </a:xfrm>
          <a:prstGeom prst="roundRect">
            <a:avLst>
              <a:gd name="adj" fmla="val 2766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96696" y="17373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508760" y="16824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666744" y="1682496"/>
            <a:ext cx="7434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Would the intended readers understand the words?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777240" y="2386584"/>
            <a:ext cx="10570464" cy="768096"/>
          </a:xfrm>
          <a:prstGeom prst="roundRect">
            <a:avLst>
              <a:gd name="adj" fmla="val 1547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5256" y="2532888"/>
            <a:ext cx="429768" cy="429768"/>
          </a:xfrm>
          <a:prstGeom prst="roundRect">
            <a:avLst>
              <a:gd name="adj" fmla="val 2766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96696" y="260604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508760" y="255117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666744" y="2551176"/>
            <a:ext cx="7434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the names, times, dates and contacts correct?</a:t>
            </a:r>
            <a:endParaRPr lang="en-US" sz="1620" dirty="0"/>
          </a:p>
        </p:txBody>
      </p:sp>
      <p:sp>
        <p:nvSpPr>
          <p:cNvPr id="19" name="Shape 17"/>
          <p:cNvSpPr/>
          <p:nvPr/>
        </p:nvSpPr>
        <p:spPr>
          <a:xfrm>
            <a:off x="777240" y="3255264"/>
            <a:ext cx="10570464" cy="768096"/>
          </a:xfrm>
          <a:prstGeom prst="roundRect">
            <a:avLst>
              <a:gd name="adj" fmla="val 1547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05256" y="3401568"/>
            <a:ext cx="429768" cy="429768"/>
          </a:xfrm>
          <a:prstGeom prst="roundRect">
            <a:avLst>
              <a:gd name="adj" fmla="val 2766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96696" y="347472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508760" y="34198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Hierarchy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666744" y="3419856"/>
            <a:ext cx="7434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readers spot the main message in seconds?</a:t>
            </a:r>
            <a:endParaRPr lang="en-US" sz="1620" dirty="0"/>
          </a:p>
        </p:txBody>
      </p:sp>
      <p:sp>
        <p:nvSpPr>
          <p:cNvPr id="24" name="Shape 22"/>
          <p:cNvSpPr/>
          <p:nvPr/>
        </p:nvSpPr>
        <p:spPr>
          <a:xfrm>
            <a:off x="777240" y="4123944"/>
            <a:ext cx="10570464" cy="768096"/>
          </a:xfrm>
          <a:prstGeom prst="roundRect">
            <a:avLst>
              <a:gd name="adj" fmla="val 1547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905256" y="4270248"/>
            <a:ext cx="429768" cy="429768"/>
          </a:xfrm>
          <a:prstGeom prst="roundRect">
            <a:avLst>
              <a:gd name="adj" fmla="val 2766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96696" y="434340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508760" y="428853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Readability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666744" y="4288536"/>
            <a:ext cx="7434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text large enough and sufficiently contrasted?</a:t>
            </a:r>
            <a:endParaRPr lang="en-US" sz="1620" dirty="0"/>
          </a:p>
        </p:txBody>
      </p:sp>
      <p:sp>
        <p:nvSpPr>
          <p:cNvPr id="29" name="Shape 27"/>
          <p:cNvSpPr/>
          <p:nvPr/>
        </p:nvSpPr>
        <p:spPr>
          <a:xfrm>
            <a:off x="777240" y="4992624"/>
            <a:ext cx="10570464" cy="768096"/>
          </a:xfrm>
          <a:prstGeom prst="roundRect">
            <a:avLst>
              <a:gd name="adj" fmla="val 15476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05256" y="5138928"/>
            <a:ext cx="429768" cy="429768"/>
          </a:xfrm>
          <a:prstGeom prst="roundRect">
            <a:avLst>
              <a:gd name="adj" fmla="val 2766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96696" y="521208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508760" y="5157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666744" y="5157216"/>
            <a:ext cx="74340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2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file display or print as expected?</a:t>
            </a:r>
            <a:endParaRPr lang="en-US" sz="16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ACTIVITY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Practical: diagnose the original notice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13232" y="1234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printed activity sheet. No specialist software is required.</a:t>
            </a:r>
            <a:endParaRPr lang="en-US" sz="1550" dirty="0"/>
          </a:p>
        </p:txBody>
      </p:sp>
      <p:pic>
        <p:nvPicPr>
          <p:cNvPr id="10" name="Image 0" descr="/mnt/data/ITT06105_Condensed_L01_Package/assets/flawed_not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73352"/>
            <a:ext cx="4389120" cy="44074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96712" y="1837944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Explain, do not just label.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696712" y="2532888"/>
            <a:ext cx="5166360" cy="2221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the intended audience, message and action. Then describe three difficulties and link each one to a design principle.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5696712" y="5166360"/>
            <a:ext cx="5102352" cy="768096"/>
          </a:xfrm>
          <a:prstGeom prst="roundRect">
            <a:avLst>
              <a:gd name="adj" fmla="val 15476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879592" y="5294376"/>
            <a:ext cx="4736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words: hierarchy • alignment • proximity • contrast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ACTIVITY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a clearer version and explain your choices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22376" y="1773936"/>
            <a:ext cx="3392424" cy="2980944"/>
          </a:xfrm>
          <a:prstGeom prst="roundRect">
            <a:avLst>
              <a:gd name="adj" fmla="val 398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1956816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87552" y="207568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23544" y="2715768"/>
            <a:ext cx="2999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23544" y="3383280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down the headline and essential date, time and venue.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4389120" y="1773936"/>
            <a:ext cx="3392424" cy="2980944"/>
          </a:xfrm>
          <a:prstGeom prst="roundRect">
            <a:avLst>
              <a:gd name="adj" fmla="val 398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581144" y="1956816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654296" y="207568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590288" y="2715768"/>
            <a:ext cx="2999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Rearrange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90288" y="3383280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Sketch blocks with a clear reading order and enough whitespace.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8055864" y="1773936"/>
            <a:ext cx="3392424" cy="2980944"/>
          </a:xfrm>
          <a:prstGeom prst="roundRect">
            <a:avLst>
              <a:gd name="adj" fmla="val 3988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47888" y="1956816"/>
            <a:ext cx="594360" cy="594360"/>
          </a:xfrm>
          <a:prstGeom prst="roundRect">
            <a:avLst>
              <a:gd name="adj" fmla="val 20000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321040" y="2075688"/>
            <a:ext cx="429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257032" y="2715768"/>
            <a:ext cx="299923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Justify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57032" y="3383280"/>
            <a:ext cx="300837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at least two changes and how they help readers.</a:t>
            </a:r>
            <a:endParaRPr lang="en-US" sz="16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quick self-check questions</a:t>
            </a:r>
            <a:endParaRPr lang="en-US" sz="2950" dirty="0"/>
          </a:p>
        </p:txBody>
      </p:sp>
      <p:sp>
        <p:nvSpPr>
          <p:cNvPr id="9" name="Shape 7"/>
          <p:cNvSpPr/>
          <p:nvPr/>
        </p:nvSpPr>
        <p:spPr>
          <a:xfrm>
            <a:off x="749808" y="1773936"/>
            <a:ext cx="105156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69264" y="1984248"/>
            <a:ext cx="10076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Why is desktop publishing more than ordinary typing?</a:t>
            </a:r>
            <a:endParaRPr lang="en-US" sz="1930" dirty="0"/>
          </a:p>
        </p:txBody>
      </p:sp>
      <p:sp>
        <p:nvSpPr>
          <p:cNvPr id="11" name="Text 9"/>
          <p:cNvSpPr/>
          <p:nvPr/>
        </p:nvSpPr>
        <p:spPr>
          <a:xfrm>
            <a:off x="969264" y="2560320"/>
            <a:ext cx="10076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in terms of page arrangement and communication.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49808" y="2999232"/>
            <a:ext cx="105156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69264" y="3209544"/>
            <a:ext cx="10076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How do alignment and proximity help a reader?</a:t>
            </a:r>
            <a:endParaRPr lang="en-US" sz="1930" dirty="0"/>
          </a:p>
        </p:txBody>
      </p:sp>
      <p:sp>
        <p:nvSpPr>
          <p:cNvPr id="14" name="Text 12"/>
          <p:cNvSpPr/>
          <p:nvPr/>
        </p:nvSpPr>
        <p:spPr>
          <a:xfrm>
            <a:off x="969264" y="3785616"/>
            <a:ext cx="10076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one simple event-notice example.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9808" y="4224528"/>
            <a:ext cx="10515600" cy="1078992"/>
          </a:xfrm>
          <a:prstGeom prst="roundRect">
            <a:avLst>
              <a:gd name="adj" fmla="val 11017"/>
            </a:avLst>
          </a:prstGeom>
          <a:solidFill>
            <a:srgbClr val="FFFFFF"/>
          </a:solidFill>
          <a:ln w="1270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9264" y="4434840"/>
            <a:ext cx="10076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93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What should a reader see first on an event poster?</a:t>
            </a:r>
            <a:endParaRPr lang="en-US" sz="1930" dirty="0"/>
          </a:p>
        </p:txBody>
      </p:sp>
      <p:sp>
        <p:nvSpPr>
          <p:cNvPr id="17" name="Text 15"/>
          <p:cNvSpPr/>
          <p:nvPr/>
        </p:nvSpPr>
        <p:spPr>
          <a:xfrm>
            <a:off x="969264" y="5010912"/>
            <a:ext cx="10076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that order serves the intended audience.</a:t>
            </a:r>
            <a:endParaRPr lang="en-US" sz="16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" cy="6858000"/>
          </a:xfrm>
          <a:prstGeom prst="rect">
            <a:avLst>
              <a:gd name="adj" fmla="val 76471"/>
            </a:avLst>
          </a:prstGeom>
          <a:solidFill>
            <a:srgbClr val="008582"/>
          </a:solidFill>
          <a:ln w="12700">
            <a:solidFill>
              <a:srgbClr val="0085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94944" y="164592"/>
            <a:ext cx="6217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000" b="1" spc="140" kern="0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ITT06105  /  DESKTOP PUBLISHING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46920" y="16459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000" b="1" spc="120" kern="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6446520"/>
            <a:ext cx="10835640" cy="0"/>
          </a:xfrm>
          <a:prstGeom prst="line">
            <a:avLst/>
          </a:prstGeom>
          <a:noFill/>
          <a:ln w="11430">
            <a:solidFill>
              <a:srgbClr val="DAE5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13232" y="651052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 •  LECTURE 01  •  2026/2027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972800" y="6501384"/>
            <a:ext cx="457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57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94944" y="585216"/>
            <a:ext cx="109270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to remember</a:t>
            </a:r>
            <a:endParaRPr lang="en-US" sz="2950" dirty="0"/>
          </a:p>
        </p:txBody>
      </p:sp>
      <p:sp>
        <p:nvSpPr>
          <p:cNvPr id="9" name="Text 7"/>
          <p:cNvSpPr/>
          <p:nvPr/>
        </p:nvSpPr>
        <p:spPr>
          <a:xfrm>
            <a:off x="749808" y="1691640"/>
            <a:ext cx="1046988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dirty="0">
                <a:solidFill>
                  <a:srgbClr val="162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publishing prepares a message for print or digital reading. Good visual communication starts with the audience and purpose, then uses hierarchy, contrast, alignment, proximity, repetition and spacing to make information easier to understand.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758952" y="3977640"/>
            <a:ext cx="10497312" cy="1298448"/>
          </a:xfrm>
          <a:prstGeom prst="roundRect">
            <a:avLst>
              <a:gd name="adj" fmla="val 9155"/>
            </a:avLst>
          </a:prstGeom>
          <a:solidFill>
            <a:srgbClr val="E8F5F2"/>
          </a:solidFill>
          <a:ln w="12700">
            <a:solidFill>
              <a:srgbClr val="E8F5F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05840" y="421538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0085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Core Lecture 2  —  Text, Images and Colour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05840" y="4681728"/>
            <a:ext cx="9829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70" dirty="0">
                <a:solidFill>
                  <a:srgbClr val="2130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independent study: full L01 notes and selected Gestalt examples from full L05.</a:t>
            </a:r>
            <a:endParaRPr lang="en-US" sz="15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Desktop Publishing and Visual Communication</dc:title>
  <dc:subject>ITT06105 - Condensed Lecture 01</dc:subject>
  <dc:creator>Desktop Publishing Teaching Resources</dc:creator>
  <cp:lastModifiedBy>Desktop Publishing Teaching Resources</cp:lastModifiedBy>
  <cp:revision>1</cp:revision>
  <dcterms:created xsi:type="dcterms:W3CDTF">2026-10-21T09:31:30Z</dcterms:created>
  <dcterms:modified xsi:type="dcterms:W3CDTF">2026-10-21T09:31:30Z</dcterms:modified>
</cp:coreProperties>
</file>