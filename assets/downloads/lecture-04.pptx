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>
              <a:gd name="adj" fmla="val 71429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40080" y="685800"/>
            <a:ext cx="5879592" cy="91440"/>
          </a:xfrm>
          <a:prstGeom prst="rect">
            <a:avLst>
              <a:gd name="adj" fmla="val 100000"/>
            </a:avLst>
          </a:prstGeom>
          <a:solidFill>
            <a:srgbClr val="E8A34A"/>
          </a:solidFill>
          <a:ln w="12700">
            <a:solidFill>
              <a:srgbClr val="E8A3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58368" y="1097280"/>
            <a:ext cx="5349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8A3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ESSENTIAL LECTURE 04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673352"/>
            <a:ext cx="6355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Photoshop Essentials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67512" y="2907792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DCEB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Prepare images for a clear and readable publication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67512" y="4224528"/>
            <a:ext cx="5541264" cy="1078992"/>
          </a:xfrm>
          <a:prstGeom prst="roundRect">
            <a:avLst>
              <a:gd name="adj" fmla="val 14407"/>
            </a:avLst>
          </a:prstGeom>
          <a:solidFill>
            <a:srgbClr val="1B3551"/>
          </a:solidFill>
          <a:ln w="12700">
            <a:solidFill>
              <a:srgbClr val="1B355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96112" y="4517136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 • Crop • Resize • Save • Export</a:t>
            </a:r>
            <a:endParaRPr lang="en-US" sz="2100" dirty="0"/>
          </a:p>
        </p:txBody>
      </p:sp>
      <p:pic>
        <p:nvPicPr>
          <p:cNvPr id="9" name="Image 0" descr="/mnt/data/ITT06105_Condensed_L04_Package/resources/Tumaini_Original_1600x1000.png">    </p:cNvPr>
          <p:cNvPicPr>
            <a:picLocks noChangeAspect="1"/>
          </p:cNvPicPr>
          <p:nvPr/>
        </p:nvPicPr>
        <p:blipFill>
          <a:blip r:embed="rId1"/>
          <a:srcRect l="18613" r="18613" t="0" b="0"/>
          <a:stretch/>
        </p:blipFill>
        <p:spPr>
          <a:xfrm>
            <a:off x="7406640" y="1207008"/>
            <a:ext cx="4187952" cy="416966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406640" y="1207008"/>
            <a:ext cx="4187952" cy="118872"/>
          </a:xfrm>
          <a:prstGeom prst="rect">
            <a:avLst>
              <a:gd name="adj" fmla="val 76923"/>
            </a:avLst>
          </a:prstGeom>
          <a:solidFill>
            <a:srgbClr val="E8A34A"/>
          </a:solidFill>
          <a:ln w="12700">
            <a:solidFill>
              <a:srgbClr val="E8A3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8368" y="640080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CEB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•  Ordinary Diploma in Information Technology  •  2026/2027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START HERE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skills you will use today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After the lecture, you should be able to carry out a small image-editing task independently.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PHOTOSHOP ESSENTIALS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" y="2002536"/>
            <a:ext cx="3566160" cy="28803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57784" y="2002536"/>
            <a:ext cx="82296" cy="2880360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213969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 ORGANISE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569464"/>
            <a:ext cx="325526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Keep an untouched original and store each working file in a clearly labelled folder.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06824" y="2002536"/>
            <a:ext cx="3566160" cy="28803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306824" y="2002536"/>
            <a:ext cx="82296" cy="2880360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80560" y="213969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 EDIT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80560" y="2569464"/>
            <a:ext cx="325526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 an existing image, choose a crop and resize it without stretching.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55864" y="2002536"/>
            <a:ext cx="3566160" cy="28803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055864" y="2002536"/>
            <a:ext cx="82296" cy="2880360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0" y="213969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 CORRECT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0" y="2569464"/>
            <a:ext cx="325526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Make a small brightness or contrast change only when the image needs it.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6072" y="5230368"/>
            <a:ext cx="11045952" cy="393192"/>
          </a:xfrm>
          <a:prstGeom prst="roundRect">
            <a:avLst>
              <a:gd name="adj" fmla="val 23256"/>
            </a:avLst>
          </a:prstGeom>
          <a:solidFill>
            <a:srgbClr val="DDF0F0"/>
          </a:solidFill>
          <a:ln w="12700">
            <a:solidFill>
              <a:srgbClr val="DDF0F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77240" y="5312664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  DELIVER  •  Save an editable Photoshop file and export a suitable JPEG or PNG.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Remember the A4 hand-out plan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Lecture 3 explained who the readers are and what the publication should communicate.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PHOTOSHOP ESSENTIALS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1993392"/>
            <a:ext cx="5202936" cy="3941064"/>
          </a:xfrm>
          <a:prstGeom prst="roundRect">
            <a:avLst>
              <a:gd name="adj" fmla="val 301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" y="2221992"/>
            <a:ext cx="455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RUNNING PROJECT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" y="2688336"/>
            <a:ext cx="4507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Tumaini Community Learning Centre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832104" y="3749040"/>
            <a:ext cx="458114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one-page “Stay Safe Online” hand-out needs one appropriately prepared image to support the information, not to distract from it.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998464" y="1993392"/>
            <a:ext cx="5559552" cy="3941064"/>
          </a:xfrm>
          <a:prstGeom prst="roundRect">
            <a:avLst>
              <a:gd name="adj" fmla="val 3016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272784" y="2487168"/>
            <a:ext cx="73152" cy="118872"/>
          </a:xfrm>
          <a:prstGeom prst="rect">
            <a:avLst>
              <a:gd name="adj" fmla="val 125000"/>
            </a:avLst>
          </a:prstGeom>
          <a:solidFill>
            <a:srgbClr val="E8A34A"/>
          </a:solidFill>
          <a:ln w="12700">
            <a:solidFill>
              <a:srgbClr val="E8A3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83096" y="2423160"/>
            <a:ext cx="46542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message is already planned.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272784" y="3337560"/>
            <a:ext cx="73152" cy="118872"/>
          </a:xfrm>
          <a:prstGeom prst="rect">
            <a:avLst>
              <a:gd name="adj" fmla="val 125000"/>
            </a:avLst>
          </a:prstGeom>
          <a:solidFill>
            <a:srgbClr val="E8A34A"/>
          </a:solidFill>
          <a:ln w="12700">
            <a:solidFill>
              <a:srgbClr val="E8A3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83096" y="3273552"/>
            <a:ext cx="46542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Now prepare an image to fit that message.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272784" y="4187952"/>
            <a:ext cx="73152" cy="118872"/>
          </a:xfrm>
          <a:prstGeom prst="rect">
            <a:avLst>
              <a:gd name="adj" fmla="val 125000"/>
            </a:avLst>
          </a:prstGeom>
          <a:solidFill>
            <a:srgbClr val="E8A34A"/>
          </a:solidFill>
          <a:ln w="12700">
            <a:solidFill>
              <a:srgbClr val="E8A3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83096" y="4123944"/>
            <a:ext cx="46542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Next lecture: combine it with text and shapes.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CONTEXT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Photoshop used for?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 desktop publishing, image editing supports the quality and clarity of the final publication.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PHOTOSHOP ESSENTIALS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" y="2057400"/>
            <a:ext cx="3566160" cy="3419856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57784" y="2057400"/>
            <a:ext cx="82296" cy="3419856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219456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Photographs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624328"/>
            <a:ext cx="3255264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Improve composition, crop unnecessary surroundings and make modest corrections to light or contrast.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06824" y="2057400"/>
            <a:ext cx="3566160" cy="3419856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306824" y="2057400"/>
            <a:ext cx="82296" cy="3419856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80560" y="219456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Illustrations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80560" y="2624328"/>
            <a:ext cx="3255264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Prepare raster illustrations to use in a poster, brochure or educational hand-out.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55864" y="2057400"/>
            <a:ext cx="3566160" cy="3419856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055864" y="2057400"/>
            <a:ext cx="82296" cy="3419856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0" y="219456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Working images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0" y="2624328"/>
            <a:ext cx="3255264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Export an appropriately sized copy while retaining the editable project and untouched source.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6072" y="5687568"/>
            <a:ext cx="11045952" cy="393192"/>
          </a:xfrm>
          <a:prstGeom prst="roundRect">
            <a:avLst>
              <a:gd name="adj" fmla="val 23256"/>
            </a:avLst>
          </a:prstGeom>
          <a:solidFill>
            <a:srgbClr val="DDF0F0"/>
          </a:solidFill>
          <a:ln w="12700">
            <a:solidFill>
              <a:srgbClr val="DDF0F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77240" y="5769864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Photoshop mainly works with raster (pixel-based) images; it is not a replacement for every publishing application.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CONTEXT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workflow, different applications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programs overlap, but each has a typical strength in a publishing project.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PHOTOSHOP ESSENTIALS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" y="2084832"/>
            <a:ext cx="3566160" cy="3264408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57784" y="2084832"/>
            <a:ext cx="82296" cy="3264408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222199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PHOTOSHOP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651760"/>
            <a:ext cx="325526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Prepare photographs, edit raster images and create pixel-based compositions.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06824" y="2084832"/>
            <a:ext cx="3566160" cy="3264408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306824" y="2084832"/>
            <a:ext cx="82296" cy="3264408"/>
          </a:xfrm>
          <a:prstGeom prst="rect">
            <a:avLst>
              <a:gd name="adj" fmla="val 111111"/>
            </a:avLst>
          </a:prstGeom>
          <a:solidFill>
            <a:srgbClr val="E8A34A"/>
          </a:solidFill>
          <a:ln w="12700">
            <a:solidFill>
              <a:srgbClr val="E8A3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80560" y="222199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ILLUSTRATOR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80560" y="2651760"/>
            <a:ext cx="325526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Draw scalable vector artwork such as an icon, logo or simple diagram.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55864" y="2084832"/>
            <a:ext cx="3566160" cy="3264408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055864" y="2084832"/>
            <a:ext cx="82296" cy="3264408"/>
          </a:xfrm>
          <a:prstGeom prst="rect">
            <a:avLst>
              <a:gd name="adj" fmla="val 111111"/>
            </a:avLst>
          </a:prstGeom>
          <a:solidFill>
            <a:srgbClr val="1B3551"/>
          </a:solidFill>
          <a:ln w="12700">
            <a:solidFill>
              <a:srgbClr val="1B355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0" y="222199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INDESIGN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0" y="2651760"/>
            <a:ext cx="325526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Arrange text, image frames and graphics into the finished page layout.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8952" y="5623560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 this lecture we use Photoshop for a small image task. Later lessons introduce the other applications at a basic level.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WORKFLOW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small steps—not fifty commands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Follow one repeatable route each time you prepare an image.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PHOTOSHOP ESSENTIALS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" y="2039112"/>
            <a:ext cx="6355080" cy="3922776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pic>
        <p:nvPicPr>
          <p:cNvPr id="12" name="Image 0" descr="/mnt/data/ITT06105_Condensed_L04_Package/resources/Fig01_Photoshop_Editing_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3360453"/>
            <a:ext cx="6135624" cy="1270951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114032" y="2029968"/>
            <a:ext cx="4498848" cy="3931920"/>
          </a:xfrm>
          <a:prstGeom prst="roundRect">
            <a:avLst>
              <a:gd name="adj" fmla="val 3721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333488" y="2359152"/>
            <a:ext cx="40873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Think in sequence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333488" y="2971800"/>
            <a:ext cx="401421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Organise your files first, then inspect the image, crop only what is necessary, make modest adjustments and save both working and final output files.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333488" y="5568696"/>
            <a:ext cx="4032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successful edit is usable, reproducible and easy to find.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PREPARATION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Create a project folder before editing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good habit can prevent much of the confusion beginners experience.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PHOTOSHOP ESSENTIALS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07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" y="2011680"/>
            <a:ext cx="5056632" cy="3602736"/>
          </a:xfrm>
          <a:prstGeom prst="roundRect">
            <a:avLst>
              <a:gd name="adj" fmla="val 3807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85216" y="2011680"/>
            <a:ext cx="82296" cy="3602736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58952" y="2148840"/>
            <a:ext cx="4736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Tumaini_Handout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58952" y="2578608"/>
            <a:ext cx="4745736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01_Originals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02_Working_Files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03_Exports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5888736" y="2011680"/>
            <a:ext cx="5696712" cy="3602736"/>
          </a:xfrm>
          <a:prstGeom prst="roundRect">
            <a:avLst>
              <a:gd name="adj" fmla="val 3807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888736" y="2011680"/>
            <a:ext cx="82296" cy="3602736"/>
          </a:xfrm>
          <a:prstGeom prst="rect">
            <a:avLst>
              <a:gd name="adj" fmla="val 111111"/>
            </a:avLst>
          </a:prstGeom>
          <a:solidFill>
            <a:srgbClr val="E8A34A"/>
          </a:solidFill>
          <a:ln w="12700">
            <a:solidFill>
              <a:srgbClr val="E8A3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062472" y="2148840"/>
            <a:ext cx="5376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each folder holds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062472" y="2578608"/>
            <a:ext cx="5385816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Originals contain unchanged source images. Working_Files contains editable Photoshop projects. Exports contains JPEG or PNG files intended for the hand-out.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76072" y="5852160"/>
            <a:ext cx="11045952" cy="393192"/>
          </a:xfrm>
          <a:prstGeom prst="roundRect">
            <a:avLst>
              <a:gd name="adj" fmla="val 23256"/>
            </a:avLst>
          </a:prstGeom>
          <a:solidFill>
            <a:srgbClr val="DDF0F0"/>
          </a:solidFill>
          <a:ln w="12700">
            <a:solidFill>
              <a:srgbClr val="DDF0F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7240" y="5934456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Never perform all of your changes on the only copy of the original image.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PREPARATION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 names that tell you what is inside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clear filename matters when a practical project is submitted, revised or shared.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PHOTOSHOP ESSENTIALS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08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" y="2048256"/>
            <a:ext cx="3566160" cy="352044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57784" y="2048256"/>
            <a:ext cx="82296" cy="3520440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218541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 IMAGE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615184"/>
            <a:ext cx="325526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Tumaini_Original_1600x1000.png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This filename identifies the starting artwork.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06824" y="2048256"/>
            <a:ext cx="3566160" cy="352044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306824" y="2048256"/>
            <a:ext cx="82296" cy="3520440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80560" y="218541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WORKING PROJECT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80560" y="2615184"/>
            <a:ext cx="325526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tumaini_image_edit.psd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This is the editable Photoshop project.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55864" y="2048256"/>
            <a:ext cx="3566160" cy="352044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055864" y="2048256"/>
            <a:ext cx="82296" cy="3520440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0" y="218541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FINAL EXPORT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0" y="2615184"/>
            <a:ext cx="325526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tumaini_image_web.jpg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This is the copy prepared for placing or sharing.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WORKSPACE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Recognising the Photoshop workspace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Menus, tools, panels and the image canvas each have different roles.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PHOTOSHOP ESSENTIALS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09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" y="2039112"/>
            <a:ext cx="6355080" cy="3922776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pic>
        <p:nvPicPr>
          <p:cNvPr id="12" name="Image 0" descr="/mnt/data/ITT06105_Condensed_L04_Package/resources/Fig04_Editor_Workspace_Annota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2352457"/>
            <a:ext cx="6135624" cy="3286941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114032" y="2029968"/>
            <a:ext cx="4498848" cy="3931920"/>
          </a:xfrm>
          <a:prstGeom prst="roundRect">
            <a:avLst>
              <a:gd name="adj" fmla="val 3721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333488" y="2359152"/>
            <a:ext cx="40873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Read the labels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333488" y="2971800"/>
            <a:ext cx="401421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Menu Bar contains commands, the Tools panel gives editing tools, the canvas displays the document, and panels show settings and image structure. The arrangement may vary by version.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333488" y="5568696"/>
            <a:ext cx="4032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Diagram is conceptual; not an exact Photoshop screenshot.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WORKSPACE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areas to locate before you begin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Finding these areas is more useful than memorising every button.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PHOTOSHOP ESSENTIALS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" y="2039112"/>
            <a:ext cx="3566160" cy="3172968"/>
          </a:xfrm>
          <a:prstGeom prst="roundRect">
            <a:avLst>
              <a:gd name="adj" fmla="val 4323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57784" y="2039112"/>
            <a:ext cx="82296" cy="3172968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217627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MENU BAR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606040"/>
            <a:ext cx="32552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File, Edit and Image contain commands for opening, adjusting and saving documents.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06824" y="2039112"/>
            <a:ext cx="3566160" cy="3172968"/>
          </a:xfrm>
          <a:prstGeom prst="roundRect">
            <a:avLst>
              <a:gd name="adj" fmla="val 4323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306824" y="2039112"/>
            <a:ext cx="82296" cy="3172968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80560" y="217627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TOOLS PANEL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80560" y="2606040"/>
            <a:ext cx="32552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Crop Tool changes image framing. Other tools are used for moving, selecting and editing.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55864" y="2039112"/>
            <a:ext cx="3566160" cy="3172968"/>
          </a:xfrm>
          <a:prstGeom prst="roundRect">
            <a:avLst>
              <a:gd name="adj" fmla="val 4323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055864" y="2039112"/>
            <a:ext cx="82296" cy="3172968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0" y="217627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 CANVAS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0" y="2606040"/>
            <a:ext cx="32552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canvas is the actual image or document area. The surrounding workspace is not part of the exported image.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6072" y="5623560"/>
            <a:ext cx="11045952" cy="393192"/>
          </a:xfrm>
          <a:prstGeom prst="roundRect">
            <a:avLst>
              <a:gd name="adj" fmla="val 23256"/>
            </a:avLst>
          </a:prstGeom>
          <a:solidFill>
            <a:srgbClr val="DDF0F0"/>
          </a:solidFill>
          <a:ln w="12700">
            <a:solidFill>
              <a:srgbClr val="DDF0F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77240" y="5705856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Also locate the Layers panel: it shows the document components and becomes more important in Lecture 5.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WORKSPACE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File &gt; Open or File &gt; New?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These commands solve different problems.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PHOTOSHOP ESSENTIALS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" y="2029968"/>
            <a:ext cx="5212080" cy="3493008"/>
          </a:xfrm>
          <a:prstGeom prst="roundRect">
            <a:avLst>
              <a:gd name="adj" fmla="val 3927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21792" y="2029968"/>
            <a:ext cx="82296" cy="3493008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95528" y="216712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File &gt; Open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95528" y="2596896"/>
            <a:ext cx="490118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Choose Open when the image already exists. For this lecture, open the supplied Tumaini illustration or practice photograph and inspect its properties.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007608" y="2029968"/>
            <a:ext cx="5577840" cy="3493008"/>
          </a:xfrm>
          <a:prstGeom prst="roundRect">
            <a:avLst>
              <a:gd name="adj" fmla="val 3927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007608" y="2029968"/>
            <a:ext cx="82296" cy="3493008"/>
          </a:xfrm>
          <a:prstGeom prst="rect">
            <a:avLst>
              <a:gd name="adj" fmla="val 111111"/>
            </a:avLst>
          </a:prstGeom>
          <a:solidFill>
            <a:srgbClr val="E8A34A"/>
          </a:solidFill>
          <a:ln w="12700">
            <a:solidFill>
              <a:srgbClr val="E8A3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181344" y="216712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File &gt; New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81344" y="2596896"/>
            <a:ext cx="526694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Choose New when you need a blank document, such as a new 1200 × 800 pixel graphic. Before starting, decide on width, height, units and intended use.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76072" y="5843016"/>
            <a:ext cx="11045952" cy="393192"/>
          </a:xfrm>
          <a:prstGeom prst="roundRect">
            <a:avLst>
              <a:gd name="adj" fmla="val 23256"/>
            </a:avLst>
          </a:prstGeom>
          <a:solidFill>
            <a:srgbClr val="DDF0F0"/>
          </a:solidFill>
          <a:ln w="12700">
            <a:solidFill>
              <a:srgbClr val="DDF0F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7240" y="5925312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the first practical, start with File &gt; Open; do not complicate the task with a blank composition.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PIXELS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Raster images are made of pixels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Image detail is limited by the quality and dimensions of the source.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PHOTOSHOP ESSENTIALS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" y="2039112"/>
            <a:ext cx="6355080" cy="3922776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pic>
        <p:nvPicPr>
          <p:cNvPr id="12" name="Image 0" descr="/mnt/data/ITT06105_Condensed_L04_Package/resources/Fig03_Pixels_vs_Pixe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2817888"/>
            <a:ext cx="6135624" cy="23560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114032" y="2029968"/>
            <a:ext cx="4498848" cy="3931920"/>
          </a:xfrm>
          <a:prstGeom prst="roundRect">
            <a:avLst>
              <a:gd name="adj" fmla="val 3721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333488" y="2359152"/>
            <a:ext cx="40873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pixel is a picture element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333488" y="2971800"/>
            <a:ext cx="401421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Pixels are tiny units that store colour values. Together, they form a raster image. Excessive enlargement can make blocks or softness visible because the missing original detail cannot simply be recovered.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PIXELS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Read width × height correctly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 image described as 1600 × 1000 pixels has two dimensions, not one overall size.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PHOTOSHOP ESSENTIALS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072" y="2011680"/>
            <a:ext cx="5532120" cy="3602736"/>
          </a:xfrm>
          <a:prstGeom prst="roundRect">
            <a:avLst>
              <a:gd name="adj" fmla="val 3807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76072" y="2011680"/>
            <a:ext cx="82296" cy="3602736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49808" y="214884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Worked example: 1600 × 1000 px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9808" y="2578608"/>
            <a:ext cx="5221224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Width: 1600 pixels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Height: 1000 pixels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Total: 1600 × 1000 = 1,600,000 pixels</a:t>
            </a:r>
            <a:endParaRPr lang="en-US" sz="1900" dirty="0"/>
          </a:p>
          <a:p>
            <a:pPr algn="l" indent="0" marL="0">
              <a:buNone/>
            </a:pP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pixel count describes the digital image, not its printed size.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318504" y="2011680"/>
            <a:ext cx="5257800" cy="3602736"/>
          </a:xfrm>
          <a:prstGeom prst="roundRect">
            <a:avLst>
              <a:gd name="adj" fmla="val 3807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318504" y="2011680"/>
            <a:ext cx="82296" cy="3602736"/>
          </a:xfrm>
          <a:prstGeom prst="rect">
            <a:avLst>
              <a:gd name="adj" fmla="val 111111"/>
            </a:avLst>
          </a:prstGeom>
          <a:solidFill>
            <a:srgbClr val="E8A34A"/>
          </a:solidFill>
          <a:ln w="12700">
            <a:solidFill>
              <a:srgbClr val="E8A3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92240" y="214884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2578608"/>
            <a:ext cx="4946904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small image may look fine on a phone but become soft when enlarged in print. Check the intended placement size before choosing or resizing a file.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PIXELS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Image dimensions and print resolution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Pixels and pixels per inch (PPI) answer different questions.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PHOTOSHOP ESSENTIALS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" y="1993392"/>
            <a:ext cx="5321808" cy="37033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85216" y="1993392"/>
            <a:ext cx="82296" cy="3703320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58952" y="2130552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Pixel dimensions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58952" y="2560320"/>
            <a:ext cx="5010912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numbers of pixels across and down the raster image. For example, 2400 pixels wide means the file contains 2400 columns of pixels.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089904" y="1993392"/>
            <a:ext cx="5522976" cy="37033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089904" y="1993392"/>
            <a:ext cx="82296" cy="3703320"/>
          </a:xfrm>
          <a:prstGeom prst="rect">
            <a:avLst>
              <a:gd name="adj" fmla="val 111111"/>
            </a:avLst>
          </a:prstGeom>
          <a:solidFill>
            <a:srgbClr val="E8A34A"/>
          </a:solidFill>
          <a:ln w="12700">
            <a:solidFill>
              <a:srgbClr val="E8A3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63640" y="2130552"/>
            <a:ext cx="5202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Effective PPI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63640" y="2560320"/>
            <a:ext cx="521208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many image pixels are allocated per printed inch. At 300 effective PPI, an image 2400 pixels wide covers 2400 ÷ 300 = 8 inches.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76072" y="5852160"/>
            <a:ext cx="11045952" cy="393192"/>
          </a:xfrm>
          <a:prstGeom prst="roundRect">
            <a:avLst>
              <a:gd name="adj" fmla="val 23256"/>
            </a:avLst>
          </a:prstGeom>
          <a:solidFill>
            <a:srgbClr val="DDF0F0"/>
          </a:solidFill>
          <a:ln w="12700">
            <a:solidFill>
              <a:srgbClr val="DDF0F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7240" y="5934456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Changing a PPI label without resampling does not add new pixels.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CROPPING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Cropping changes what is visible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Cropping is about composition: keep the part of the image the reader needs.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PHOTOSHOP ESSENTIALS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" y="2075688"/>
            <a:ext cx="3566160" cy="3483864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57784" y="2075688"/>
            <a:ext cx="82296" cy="3483864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22128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CROP?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642616"/>
            <a:ext cx="3255264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Remove distracting surroundings, place the main subject more clearly and fit a chosen layout shape.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06824" y="2075688"/>
            <a:ext cx="3566160" cy="3483864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306824" y="2075688"/>
            <a:ext cx="82296" cy="3483864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80560" y="22128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 CAREFUL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80560" y="2642616"/>
            <a:ext cx="3255264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 not remove an essential face, sign, instructional detail or visual clue by accident.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55864" y="2075688"/>
            <a:ext cx="3566160" cy="3483864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055864" y="2075688"/>
            <a:ext cx="82296" cy="3483864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0" y="22128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AFTER CROPPING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0" y="2642616"/>
            <a:ext cx="3255264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 the new framing at the size readers are likely to see in the final publication.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CROPPING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Before and after: change the frame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crop is not the same as simply shrinking the image.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PHOTOSHOP ESSENTIALS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" y="2039112"/>
            <a:ext cx="6355080" cy="3922776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pic>
        <p:nvPicPr>
          <p:cNvPr id="12" name="Image 0" descr="/mnt/data/ITT06105_Condensed_L04_Package/resources/Fig02_Crop_Before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2597006"/>
            <a:ext cx="6135624" cy="279784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114032" y="2029968"/>
            <a:ext cx="4498848" cy="3931920"/>
          </a:xfrm>
          <a:prstGeom prst="roundRect">
            <a:avLst>
              <a:gd name="adj" fmla="val 3721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333488" y="2359152"/>
            <a:ext cx="40873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See the difference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333488" y="2971800"/>
            <a:ext cx="401421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Cropping changes the visible scene. A square crop may help a design, but it can also remove important context. Always judge whether the image still communicates the intended idea.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CROPPING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simple Crop Tool procedure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Follow the same sequence even if the exact buttons differ between Photoshop versions.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PHOTOSHOP ESSENTIALS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17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2057400"/>
            <a:ext cx="5504688" cy="3456432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66928" y="2057400"/>
            <a:ext cx="82296" cy="3456432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40664" y="2194560"/>
            <a:ext cx="5184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 this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0664" y="2624328"/>
            <a:ext cx="5193792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1. Open the supplied image.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2. Select the Crop Tool (commonly C).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3. Choose a suitable ratio or drag the handles.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4. Move the boundary and inspect what remains.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5. Confirm the crop and save a working copy.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245352" y="2057400"/>
            <a:ext cx="5321808" cy="3456432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245352" y="2057400"/>
            <a:ext cx="82296" cy="3456432"/>
          </a:xfrm>
          <a:prstGeom prst="rect">
            <a:avLst>
              <a:gd name="adj" fmla="val 111111"/>
            </a:avLst>
          </a:prstGeom>
          <a:solidFill>
            <a:srgbClr val="E8A34A"/>
          </a:solidFill>
          <a:ln w="12700">
            <a:solidFill>
              <a:srgbClr val="E8A3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19088" y="2194560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 before confirming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19088" y="2624328"/>
            <a:ext cx="5010912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Is the main subject visible?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Is any important text cut off?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Does the framing fit the hand-out?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If “Delete Cropped Pixels” is available, consider leaving it off to preserve flexibility.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CROPPING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Aspect ratio describes shape—not pixel count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Different images can have the same aspect ratio but very different amounts of detail.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PHOTOSHOP ESSENTIALS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18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" y="2084832"/>
            <a:ext cx="3566160" cy="3538728"/>
          </a:xfrm>
          <a:prstGeom prst="roundRect">
            <a:avLst>
              <a:gd name="adj" fmla="val 387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57784" y="2084832"/>
            <a:ext cx="82296" cy="3538728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222199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: 1  •  SQUARE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651760"/>
            <a:ext cx="325526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800 × 800 px or 200 × 200 px. Often useful for a small icon or square image block.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06824" y="2084832"/>
            <a:ext cx="3566160" cy="3538728"/>
          </a:xfrm>
          <a:prstGeom prst="roundRect">
            <a:avLst>
              <a:gd name="adj" fmla="val 387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306824" y="2084832"/>
            <a:ext cx="82296" cy="3538728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80560" y="222199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 : 5  •  PORTRAIT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80560" y="2651760"/>
            <a:ext cx="325526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800 × 1000 px or 400 × 500 px. May suit a tall, narrow illustration.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55864" y="2084832"/>
            <a:ext cx="3566160" cy="3538728"/>
          </a:xfrm>
          <a:prstGeom prst="roundRect">
            <a:avLst>
              <a:gd name="adj" fmla="val 387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055864" y="2084832"/>
            <a:ext cx="82296" cy="3538728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0" y="222199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 : 9  •  WIDE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0" y="2651760"/>
            <a:ext cx="325526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1600 × 900 px or 800 × 450 px. Often used for landscape-shaped screen graphics.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CROPPING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 not crop away the reason for the image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technically neat crop is not useful if it destroys essential information.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PHOTOSHOP ESSENTIALS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19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" y="2066544"/>
            <a:ext cx="5212080" cy="3419856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30936" y="2066544"/>
            <a:ext cx="82296" cy="3419856"/>
          </a:xfrm>
          <a:prstGeom prst="rect">
            <a:avLst>
              <a:gd name="adj" fmla="val 111111"/>
            </a:avLst>
          </a:prstGeom>
          <a:solidFill>
            <a:srgbClr val="C15B58"/>
          </a:solidFill>
          <a:ln w="12700">
            <a:solidFill>
              <a:srgbClr val="C15B5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04672" y="220370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Poor crop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4672" y="2633472"/>
            <a:ext cx="4901184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poster image shows a person pointing to a safety sign. Cropping away the sign leaves the gesture without a clear meaning.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007608" y="2066544"/>
            <a:ext cx="5513832" cy="3419856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007608" y="2066544"/>
            <a:ext cx="82296" cy="3419856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181344" y="2203704"/>
            <a:ext cx="5193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Better crop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81344" y="2633472"/>
            <a:ext cx="5202936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Keep the relevant subject and sign within the frame. Use spacing and alignment in the hand-out to make the most important information visible.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76072" y="5788152"/>
            <a:ext cx="11045952" cy="393192"/>
          </a:xfrm>
          <a:prstGeom prst="roundRect">
            <a:avLst>
              <a:gd name="adj" fmla="val 23256"/>
            </a:avLst>
          </a:prstGeom>
          <a:solidFill>
            <a:srgbClr val="DDF0F0"/>
          </a:solidFill>
          <a:ln w="12700">
            <a:solidFill>
              <a:srgbClr val="DDF0F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7240" y="5870448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reader’s need—not the decorative appearance—determines whether a crop is successful.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RESIZING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Resizing changes pixel dimensions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Resizing is different from cropping: it changes how many pixels the image uses.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PHOTOSHOP ESSENTIALS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039112"/>
            <a:ext cx="5504688" cy="3584448"/>
          </a:xfrm>
          <a:prstGeom prst="roundRect">
            <a:avLst>
              <a:gd name="adj" fmla="val 3827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94360" y="2039112"/>
            <a:ext cx="82296" cy="3584448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68096" y="2176272"/>
            <a:ext cx="5184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Correct proportional resize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8096" y="2606040"/>
            <a:ext cx="519379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Original: 1600 × 1000 px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New width: 800 px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 factor: 800 ÷ 1600 = 0.5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New height: 1000 × 0.5 = 500 px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6291072" y="2039112"/>
            <a:ext cx="5248656" cy="3584448"/>
          </a:xfrm>
          <a:prstGeom prst="roundRect">
            <a:avLst>
              <a:gd name="adj" fmla="val 3827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291072" y="2039112"/>
            <a:ext cx="82296" cy="3584448"/>
          </a:xfrm>
          <a:prstGeom prst="rect">
            <a:avLst>
              <a:gd name="adj" fmla="val 111111"/>
            </a:avLst>
          </a:prstGeom>
          <a:solidFill>
            <a:srgbClr val="E8A34A"/>
          </a:solidFill>
          <a:ln w="12700">
            <a:solidFill>
              <a:srgbClr val="E8A3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64808" y="2176272"/>
            <a:ext cx="4928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Prevent stretching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64808" y="2606040"/>
            <a:ext cx="49377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width–height proportions linked, an object retains its natural shape. Changing width without adjusting height can distort faces, letters and symbols.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76072" y="5806440"/>
            <a:ext cx="11045952" cy="393192"/>
          </a:xfrm>
          <a:prstGeom prst="roundRect">
            <a:avLst>
              <a:gd name="adj" fmla="val 23256"/>
            </a:avLst>
          </a:prstGeom>
          <a:solidFill>
            <a:srgbClr val="DDF0F0"/>
          </a:solidFill>
          <a:ln w="12700">
            <a:solidFill>
              <a:srgbClr val="DDF0F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7240" y="5888736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1600 × 1000 px resized to 800 × 500 px retains shape but has one quarter as many pixels.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RESIZING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 not confuse Image Size with Canvas Size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changes the image dimensions; the other changes the surrounding document area.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PHOTOSHOP ESSENTIALS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" y="2039112"/>
            <a:ext cx="5248656" cy="3529584"/>
          </a:xfrm>
          <a:prstGeom prst="roundRect">
            <a:avLst>
              <a:gd name="adj" fmla="val 388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12648" y="2039112"/>
            <a:ext cx="82296" cy="3529584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86384" y="2176272"/>
            <a:ext cx="4928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Image Size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86384" y="2606040"/>
            <a:ext cx="4937760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Used to inspect or change an image’s pixel dimensions. If resampling is enabled, Photoshop can add or remove pixels.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044184" y="2039112"/>
            <a:ext cx="5495544" cy="3529584"/>
          </a:xfrm>
          <a:prstGeom prst="roundRect">
            <a:avLst>
              <a:gd name="adj" fmla="val 388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044184" y="2039112"/>
            <a:ext cx="82296" cy="3529584"/>
          </a:xfrm>
          <a:prstGeom prst="rect">
            <a:avLst>
              <a:gd name="adj" fmla="val 111111"/>
            </a:avLst>
          </a:prstGeom>
          <a:solidFill>
            <a:srgbClr val="E8A34A"/>
          </a:solidFill>
          <a:ln w="12700">
            <a:solidFill>
              <a:srgbClr val="E8A3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17920" y="2176272"/>
            <a:ext cx="5175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Canvas Size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0" y="2606040"/>
            <a:ext cx="5184648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Changes the area around existing content. For example, adding a border without scaling the original photograph is a canvas-size task.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76072" y="5815584"/>
            <a:ext cx="11045952" cy="393192"/>
          </a:xfrm>
          <a:prstGeom prst="roundRect">
            <a:avLst>
              <a:gd name="adj" fmla="val 23256"/>
            </a:avLst>
          </a:prstGeom>
          <a:solidFill>
            <a:srgbClr val="DDF0F0"/>
          </a:solidFill>
          <a:ln w="12700">
            <a:solidFill>
              <a:srgbClr val="DDF0F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7240" y="5897880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the basic practical: inspect Image Size; you do not need to master Canvas Size today.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RESIZING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does “Resample” mean?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number of pixels changes only when the software is told to recalculate the image.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PHOTOSHOP ESSENTIALS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" y="2011680"/>
            <a:ext cx="5212080" cy="37033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21792" y="2011680"/>
            <a:ext cx="82296" cy="3703320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95528" y="214884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Resample 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95528" y="2578608"/>
            <a:ext cx="4901184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Changing the pixel width or height alters the number of pixels. Reducing dimensions is common for smaller digital images. Enlarging does not recover genuine lost detail.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035040" y="2011680"/>
            <a:ext cx="5495544" cy="37033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035040" y="2011680"/>
            <a:ext cx="82296" cy="3703320"/>
          </a:xfrm>
          <a:prstGeom prst="rect">
            <a:avLst>
              <a:gd name="adj" fmla="val 111111"/>
            </a:avLst>
          </a:prstGeom>
          <a:solidFill>
            <a:srgbClr val="E8A34A"/>
          </a:solidFill>
          <a:ln w="12700">
            <a:solidFill>
              <a:srgbClr val="E8A3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08776" y="2148840"/>
            <a:ext cx="5175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Resample OFF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08776" y="2578608"/>
            <a:ext cx="5184648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If you change only the resolution value, the underlying pixel dimensions remain fixed. A different calculated print size is not the same as a new, sharper image.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RESIZING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Worked example: printing width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This simple calculation connects pixels to an approximate printed dimension.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PHOTOSHOP ESSENTIALS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167128"/>
            <a:ext cx="10908792" cy="3410712"/>
          </a:xfrm>
          <a:prstGeom prst="roundRect">
            <a:avLst>
              <a:gd name="adj" fmla="val 4290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24712" y="2743200"/>
            <a:ext cx="9957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2400 pixels ÷ 300 pixels per inch = 8 inches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280160" y="3959352"/>
            <a:ext cx="96469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2400-pixel-wide image covers about 8 inches when placed at 300 effective PPI.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76072" y="5815584"/>
            <a:ext cx="11045952" cy="393192"/>
          </a:xfrm>
          <a:prstGeom prst="roundRect">
            <a:avLst>
              <a:gd name="adj" fmla="val 23256"/>
            </a:avLst>
          </a:prstGeom>
          <a:solidFill>
            <a:srgbClr val="DDF0F0"/>
          </a:solidFill>
          <a:ln w="12700">
            <a:solidFill>
              <a:srgbClr val="DDF0F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5897880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Effective PPI is a planning guide; source detail, paper, printer and viewing distance still matter.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CORRECTION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Make small changes to brightness and contrast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goal is to make an image clear, not to create unnatural colour.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PHOTOSHOP ESSENTIALS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" y="2075688"/>
            <a:ext cx="3566160" cy="3410712"/>
          </a:xfrm>
          <a:prstGeom prst="roundRect">
            <a:avLst>
              <a:gd name="adj" fmla="val 4021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57784" y="2075688"/>
            <a:ext cx="82296" cy="3410712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22128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BRIGHTNESS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642616"/>
            <a:ext cx="3255264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Changes the overall lightness of the image. Too much can wash out light areas and remove detail.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06824" y="2075688"/>
            <a:ext cx="3566160" cy="3410712"/>
          </a:xfrm>
          <a:prstGeom prst="roundRect">
            <a:avLst>
              <a:gd name="adj" fmla="val 4021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306824" y="2075688"/>
            <a:ext cx="82296" cy="3410712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80560" y="22128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CONTRAST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80560" y="2642616"/>
            <a:ext cx="3255264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Changes the difference between light and dark regions. Too much may hide information in shadows.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55864" y="2075688"/>
            <a:ext cx="3566160" cy="3410712"/>
          </a:xfrm>
          <a:prstGeom prst="roundRect">
            <a:avLst>
              <a:gd name="adj" fmla="val 4021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055864" y="2075688"/>
            <a:ext cx="82296" cy="3410712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0" y="22128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COMPARE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0" y="2642616"/>
            <a:ext cx="3255264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Look at the original and the edited image together. Keep the correction only if readability improves.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CORRECTION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modest correction is usually enough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Compare the source against the edited image before deciding.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PHOTOSHOP ESSENTIALS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" y="2039112"/>
            <a:ext cx="6355080" cy="3922776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pic>
        <p:nvPicPr>
          <p:cNvPr id="12" name="Image 0" descr="/mnt/data/ITT06105_Condensed_L04_Package/resources/Fig06_Basic_Tonal_Corr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2869466"/>
            <a:ext cx="6135624" cy="225292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114032" y="2029968"/>
            <a:ext cx="4498848" cy="3931920"/>
          </a:xfrm>
          <a:prstGeom prst="roundRect">
            <a:avLst>
              <a:gd name="adj" fmla="val 3721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333488" y="2359152"/>
            <a:ext cx="40873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Avoid heavy changes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333488" y="2971800"/>
            <a:ext cx="401421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If the image is dim, a modest correction may help. If it was already clear, leave it alone. An attractive-looking edit is not automatically better for communicating factual information.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CORRECTION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beginner-friendly adjustment procedure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Advanced non-destructive adjustment layers will be introduced in Lecture 5.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PHOTOSHOP ESSENTIALS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039112"/>
            <a:ext cx="5257800" cy="3639312"/>
          </a:xfrm>
          <a:prstGeom prst="roundRect">
            <a:avLst>
              <a:gd name="adj" fmla="val 3769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" y="2039112"/>
            <a:ext cx="82296" cy="3639312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13816" y="217627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Try this in Photoshop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3816" y="2606040"/>
            <a:ext cx="4946904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3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1. Duplicate or save a working copy.</a:t>
            </a:r>
            <a:endParaRPr lang="en-US" sz="1730" dirty="0"/>
          </a:p>
          <a:p>
            <a:pPr algn="l" indent="0" marL="0">
              <a:buNone/>
            </a:pPr>
            <a:r>
              <a:rPr lang="en-US" sz="173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2. Open Image &gt; Adjustments &gt; Brightness/Contrast.</a:t>
            </a:r>
            <a:endParaRPr lang="en-US" sz="1730" dirty="0"/>
          </a:p>
          <a:p>
            <a:pPr algn="l" indent="0" marL="0">
              <a:buNone/>
            </a:pPr>
            <a:r>
              <a:rPr lang="en-US" sz="173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3. Move the controls only a little.</a:t>
            </a:r>
            <a:endParaRPr lang="en-US" sz="1730" dirty="0"/>
          </a:p>
          <a:p>
            <a:pPr algn="l" indent="0" marL="0">
              <a:buNone/>
            </a:pPr>
            <a:r>
              <a:rPr lang="en-US" sz="173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4. Compare with the untouched source.</a:t>
            </a:r>
            <a:endParaRPr lang="en-US" sz="1730" dirty="0"/>
          </a:p>
          <a:p>
            <a:pPr algn="l" indent="0" marL="0">
              <a:buNone/>
            </a:pPr>
            <a:r>
              <a:rPr lang="en-US" sz="173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5. Undo the edit if details disappear.</a:t>
            </a:r>
            <a:endParaRPr lang="en-US" sz="1730" dirty="0"/>
          </a:p>
        </p:txBody>
      </p:sp>
      <p:sp>
        <p:nvSpPr>
          <p:cNvPr id="15" name="Shape 13"/>
          <p:cNvSpPr/>
          <p:nvPr/>
        </p:nvSpPr>
        <p:spPr>
          <a:xfrm>
            <a:off x="6080760" y="2039112"/>
            <a:ext cx="5404104" cy="3639312"/>
          </a:xfrm>
          <a:prstGeom prst="roundRect">
            <a:avLst>
              <a:gd name="adj" fmla="val 3769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080760" y="2039112"/>
            <a:ext cx="82296" cy="3639312"/>
          </a:xfrm>
          <a:prstGeom prst="rect">
            <a:avLst>
              <a:gd name="adj" fmla="val 111111"/>
            </a:avLst>
          </a:prstGeom>
          <a:solidFill>
            <a:srgbClr val="E8A34A"/>
          </a:solidFill>
          <a:ln w="12700">
            <a:solidFill>
              <a:srgbClr val="E8A3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54496" y="2176272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Common warning signs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54496" y="2606040"/>
            <a:ext cx="5093208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White areas lose their texture, dark areas become solid black, skin or objects look unnatural, or coloured text becomes difficult to read. Make a smaller change or return to the source.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Save the project before exporting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Photoshop working file and an exported image serve different purposes.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PHOTOSHOP ESSENTIALS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27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" y="2057400"/>
            <a:ext cx="5230368" cy="3502152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30936" y="2057400"/>
            <a:ext cx="82296" cy="3502152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04672" y="2194560"/>
            <a:ext cx="4910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Editable working file (.PSD)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4672" y="2624328"/>
            <a:ext cx="4919472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Keeps the working document for future changes. If the project contains layers or editing information, a PSD can preserve them. Save under 02_Working_Files.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035040" y="2057400"/>
            <a:ext cx="5458968" cy="3502152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035040" y="2057400"/>
            <a:ext cx="82296" cy="3502152"/>
          </a:xfrm>
          <a:prstGeom prst="rect">
            <a:avLst>
              <a:gd name="adj" fmla="val 111111"/>
            </a:avLst>
          </a:prstGeom>
          <a:solidFill>
            <a:srgbClr val="E8A34A"/>
          </a:solidFill>
          <a:ln w="12700">
            <a:solidFill>
              <a:srgbClr val="E8A3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08776" y="2194560"/>
            <a:ext cx="5138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Exported file (.JPG or .PNG)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08776" y="2624328"/>
            <a:ext cx="5148072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Intended for placing in a document, sharing or viewing. It may not retain the original editing structure. Save under 03_Exports.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76072" y="5815584"/>
            <a:ext cx="11045952" cy="393192"/>
          </a:xfrm>
          <a:prstGeom prst="roundRect">
            <a:avLst>
              <a:gd name="adj" fmla="val 23256"/>
            </a:avLst>
          </a:prstGeom>
          <a:solidFill>
            <a:srgbClr val="DDF0F0"/>
          </a:solidFill>
          <a:ln w="12700">
            <a:solidFill>
              <a:srgbClr val="DDF0F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7240" y="5897880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Exporting is not a substitute for keeping an editable working project.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project, two useful outputs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Preserve editability and prepare a sharing copy.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PHOTOSHOP ESSENTIALS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28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" y="2039112"/>
            <a:ext cx="6355080" cy="3922776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pic>
        <p:nvPicPr>
          <p:cNvPr id="12" name="Image 0" descr="/mnt/data/ITT06105_Condensed_L04_Package/resources/Fig05_Working_vs_Exported_Fi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3038771"/>
            <a:ext cx="6135624" cy="191431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114032" y="2029968"/>
            <a:ext cx="4498848" cy="3931920"/>
          </a:xfrm>
          <a:prstGeom prst="roundRect">
            <a:avLst>
              <a:gd name="adj" fmla="val 3721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333488" y="2359152"/>
            <a:ext cx="40873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Choose the right purpose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333488" y="2971800"/>
            <a:ext cx="401421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PSD is the editable source for Photoshop work. JPEG is a common output for photographs and often produces smaller files. PNG can preserve transparency and sharp-edged graphic areas.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JPEG or PNG? Choose for a reason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file format should suit the image and how it will be used.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PHOTOSHOP ESSENTIALS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29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011680"/>
            <a:ext cx="5285232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" y="2011680"/>
            <a:ext cx="82296" cy="3657600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13816" y="2148840"/>
            <a:ext cx="4965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JPEG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3816" y="2578608"/>
            <a:ext cx="4974336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Often suitable for photographs and sharing. It uses lossy compression, and it does not support transparent image areas. Avoid repeatedly saving over the only image.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117336" y="2011680"/>
            <a:ext cx="5340096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117336" y="2011680"/>
            <a:ext cx="82296" cy="3657600"/>
          </a:xfrm>
          <a:prstGeom prst="rect">
            <a:avLst>
              <a:gd name="adj" fmla="val 111111"/>
            </a:avLst>
          </a:prstGeom>
          <a:solidFill>
            <a:srgbClr val="E8A34A"/>
          </a:solidFill>
          <a:ln w="12700">
            <a:solidFill>
              <a:srgbClr val="E8A3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91072" y="2148840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91072" y="2578608"/>
            <a:ext cx="502920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Useful for graphics, text-heavy images or transparent objects. It uses lossless compression. Some PNG files may be larger than comparable JPEG images.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76072" y="5843016"/>
            <a:ext cx="11045952" cy="393192"/>
          </a:xfrm>
          <a:prstGeom prst="roundRect">
            <a:avLst>
              <a:gd name="adj" fmla="val 23256"/>
            </a:avLst>
          </a:prstGeom>
          <a:solidFill>
            <a:srgbClr val="DDF0F0"/>
          </a:solidFill>
          <a:ln w="12700">
            <a:solidFill>
              <a:srgbClr val="DDF0F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7240" y="5925312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 not assume one format is always best. Test the image in the intended publication.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does each file belong?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Simple file organisation helps you recover, revise and submit your work.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PHOTOSHOP ESSENTIALS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" y="2139696"/>
            <a:ext cx="3566160" cy="3438144"/>
          </a:xfrm>
          <a:prstGeom prst="roundRect">
            <a:avLst>
              <a:gd name="adj" fmla="val 3989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57784" y="2139696"/>
            <a:ext cx="82296" cy="3438144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227685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01_Originals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706624"/>
            <a:ext cx="3255264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Tumaini_Original_1600x1000.png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Unchanged source.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06824" y="2139696"/>
            <a:ext cx="3566160" cy="3438144"/>
          </a:xfrm>
          <a:prstGeom prst="roundRect">
            <a:avLst>
              <a:gd name="adj" fmla="val 3989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306824" y="2139696"/>
            <a:ext cx="82296" cy="3438144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80560" y="227685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02_Working_Files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80560" y="2706624"/>
            <a:ext cx="3255264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tumaini_image_edit.psd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Editable Photoshop work.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55864" y="2139696"/>
            <a:ext cx="3566160" cy="3438144"/>
          </a:xfrm>
          <a:prstGeom prst="roundRect">
            <a:avLst>
              <a:gd name="adj" fmla="val 3989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055864" y="2139696"/>
            <a:ext cx="82296" cy="3438144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0" y="227685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03_Exports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0" y="2706624"/>
            <a:ext cx="3255264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tumaini_image_web.jpg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Copy prepared for use.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6072" y="5788152"/>
            <a:ext cx="11045952" cy="393192"/>
          </a:xfrm>
          <a:prstGeom prst="roundRect">
            <a:avLst>
              <a:gd name="adj" fmla="val 23256"/>
            </a:avLst>
          </a:prstGeom>
          <a:solidFill>
            <a:srgbClr val="DDF0F0"/>
          </a:solidFill>
          <a:ln w="12700">
            <a:solidFill>
              <a:srgbClr val="DDF0F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77240" y="5870448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Reopen the exported file before handing it in. Confirm the dimensions and appearance.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GUIDED PRACTICE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Step 1 — open and inspect the source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Start with a supplied image to reduce unnecessary setup problems.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PHOTOSHOP ESSENTIALS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020824"/>
            <a:ext cx="5129784" cy="3547872"/>
          </a:xfrm>
          <a:prstGeom prst="roundRect">
            <a:avLst>
              <a:gd name="adj" fmla="val 386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pic>
        <p:nvPicPr>
          <p:cNvPr id="12" name="Image 0" descr="/mnt/data/ITT06105_Condensed_L04_Package/resources/Tumaini_Original_1600x1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2285429"/>
            <a:ext cx="4800600" cy="300037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961888" y="2020824"/>
            <a:ext cx="5486400" cy="3547872"/>
          </a:xfrm>
          <a:prstGeom prst="roundRect">
            <a:avLst>
              <a:gd name="adj" fmla="val 386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5961888" y="2020824"/>
            <a:ext cx="82296" cy="3547872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135624" y="2157984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Follow the first actions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135624" y="2587752"/>
            <a:ext cx="5175504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Make the three folders. Copy the original. Use File &gt; Open. Check that the image is 1600 × 1000 pixels. Locate the Crop Tool and the Layers panel.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576072" y="5760720"/>
            <a:ext cx="11045952" cy="393192"/>
          </a:xfrm>
          <a:prstGeom prst="roundRect">
            <a:avLst>
              <a:gd name="adj" fmla="val 23256"/>
            </a:avLst>
          </a:prstGeom>
          <a:solidFill>
            <a:srgbClr val="DDF0F0"/>
          </a:solidFill>
          <a:ln w="12700">
            <a:solidFill>
              <a:srgbClr val="DDF0F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777240" y="5843016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Begin with a source that opens correctly before attempting any editing.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GUIDED PRACTICE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Step 2 — choose and apply a crop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crop should help the reader see the subject clearly.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PHOTOSHOP ESSENTIALS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020824"/>
            <a:ext cx="5760720" cy="3575304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pic>
        <p:nvPicPr>
          <p:cNvPr id="12" name="Image 0" descr="/mnt/data/ITT06105_Condensed_L04_Package/resources/Fig02_Crop_Before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573378"/>
            <a:ext cx="5477256" cy="249762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611112" y="2020824"/>
            <a:ext cx="4846320" cy="3575304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611112" y="2020824"/>
            <a:ext cx="82296" cy="3575304"/>
          </a:xfrm>
          <a:prstGeom prst="rect">
            <a:avLst>
              <a:gd name="adj" fmla="val 111111"/>
            </a:avLst>
          </a:prstGeom>
          <a:solidFill>
            <a:srgbClr val="E8A34A"/>
          </a:solidFill>
          <a:ln w="12700">
            <a:solidFill>
              <a:srgbClr val="E8A3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784848" y="2157984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 and check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784848" y="2587752"/>
            <a:ext cx="4535424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5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Select the Crop Tool. Try a crop that keeps the main illustration. Check the edges carefully. Confirm only when the remaining image still conveys the intended message.</a:t>
            </a:r>
            <a:endParaRPr lang="en-US" sz="1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GUIDED PRACTICE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Step 3 — resize without stretching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example exercise uses an 800-pixel-wide export.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PHOTOSHOP ESSENTIALS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084832"/>
            <a:ext cx="10762488" cy="3547872"/>
          </a:xfrm>
          <a:prstGeom prst="roundRect">
            <a:avLst>
              <a:gd name="adj" fmla="val 3608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24712" y="24597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88136" y="2962656"/>
            <a:ext cx="40599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1600 × 1000 px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687568" y="298094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A3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675120" y="24597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47688" y="2962656"/>
            <a:ext cx="41788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800 × 500 px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234440" y="4224528"/>
            <a:ext cx="97657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Keep the proportions linked. If the width is halved, the height must also be halved.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GUIDED PRACTICE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Step 4 — save and export separately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small practical is complete only when its output can be reopened.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PHOTOSHOP ESSENTIALS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" y="2048256"/>
            <a:ext cx="5266944" cy="3593592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21792" y="2048256"/>
            <a:ext cx="82296" cy="3593592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95528" y="2185416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Save a working project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95528" y="2615184"/>
            <a:ext cx="4956048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 File &gt; Save As or the available equivalent, and save a .PSD under 02_Working_Files. Keep the name descriptive.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071616" y="2048256"/>
            <a:ext cx="5431536" cy="3593592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071616" y="2048256"/>
            <a:ext cx="82296" cy="3593592"/>
          </a:xfrm>
          <a:prstGeom prst="rect">
            <a:avLst>
              <a:gd name="adj" fmla="val 111111"/>
            </a:avLst>
          </a:prstGeom>
          <a:solidFill>
            <a:srgbClr val="E8A34A"/>
          </a:solidFill>
          <a:ln w="12700">
            <a:solidFill>
              <a:srgbClr val="E8A3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45352" y="2185416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Export a sharing copy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45352" y="2615184"/>
            <a:ext cx="5120640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 Export As, Save a Copy or the equivalent command to create a JPEG or PNG in 03_Exports. Reopen the file and check its size, crop and clarity.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76072" y="5806440"/>
            <a:ext cx="11045952" cy="393192"/>
          </a:xfrm>
          <a:prstGeom prst="roundRect">
            <a:avLst>
              <a:gd name="adj" fmla="val 23256"/>
            </a:avLst>
          </a:prstGeom>
          <a:solidFill>
            <a:srgbClr val="DDF0F0"/>
          </a:solidFill>
          <a:ln w="12700">
            <a:solidFill>
              <a:srgbClr val="DDF0F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7240" y="5888736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Different Photoshop releases may label export commands differently.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TROUBLESHOOTING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mistakes beginners should avoid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Identify the likely cause before trying to fix the file.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PHOTOSHOP ESSENTIALS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" y="1993392"/>
            <a:ext cx="3566160" cy="3465576"/>
          </a:xfrm>
          <a:prstGeom prst="roundRect">
            <a:avLst>
              <a:gd name="adj" fmla="val 3958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57784" y="1993392"/>
            <a:ext cx="82296" cy="3465576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213055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STRETCHED IMAGE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560320"/>
            <a:ext cx="3255264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Width changed without a matching height. Reopen Image Size and lock proportions.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06824" y="1993392"/>
            <a:ext cx="3566160" cy="3465576"/>
          </a:xfrm>
          <a:prstGeom prst="roundRect">
            <a:avLst>
              <a:gd name="adj" fmla="val 3958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306824" y="1993392"/>
            <a:ext cx="82296" cy="3465576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80560" y="213055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LOST ORIGINAL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80560" y="2560320"/>
            <a:ext cx="3255264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Only one file was edited repeatedly. Retrieve the source and create separate working/export folders.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55864" y="1993392"/>
            <a:ext cx="3566160" cy="3465576"/>
          </a:xfrm>
          <a:prstGeom prst="roundRect">
            <a:avLst>
              <a:gd name="adj" fmla="val 3958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055864" y="1993392"/>
            <a:ext cx="82296" cy="3465576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0" y="213055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BLURRY OUTPUT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0" y="2560320"/>
            <a:ext cx="3255264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Image enlarged beyond its detail. Use a stronger source or display/print it smaller.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6072" y="5751576"/>
            <a:ext cx="11045952" cy="393192"/>
          </a:xfrm>
          <a:prstGeom prst="roundRect">
            <a:avLst>
              <a:gd name="adj" fmla="val 23256"/>
            </a:avLst>
          </a:prstGeom>
          <a:solidFill>
            <a:srgbClr val="DDF0F0"/>
          </a:solidFill>
          <a:ln w="12700">
            <a:solidFill>
              <a:srgbClr val="DDF0F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77240" y="5833872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Also check for over-adjustment and for forgetting to export a final JPEG/PNG.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PRACTICE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short independent task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Prepare one image for the A4 “Stay Safe Online” hand-out.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PHOTOSHOP ESSENTIALS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057400"/>
            <a:ext cx="5541264" cy="35661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" y="2057400"/>
            <a:ext cx="82296" cy="3566160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13816" y="2194560"/>
            <a:ext cx="5221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checklist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3816" y="2624328"/>
            <a:ext cx="5230368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□ Original preserved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□ Image opened and inspected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□ Useful crop selected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□ Dimensions changed proportionally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□ Correction checked if used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□ PSD saved and JPEG/PNG exported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73368" y="2057400"/>
            <a:ext cx="5120640" cy="35661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373368" y="2057400"/>
            <a:ext cx="82296" cy="3566160"/>
          </a:xfrm>
          <a:prstGeom prst="rect">
            <a:avLst>
              <a:gd name="adj" fmla="val 111111"/>
            </a:avLst>
          </a:prstGeom>
          <a:solidFill>
            <a:srgbClr val="E8A34A"/>
          </a:solidFill>
          <a:ln w="12700">
            <a:solidFill>
              <a:srgbClr val="E8A34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47104" y="2194560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Evidence to submit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47104" y="2624328"/>
            <a:ext cx="4809744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editable project; one exported image; a short completion record and two or three sentences explaining your crop and file format choice.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 your understanding before the next lecture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Answer these without opening the software.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PHOTOSHOP ESSENTIALS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37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" y="2011680"/>
            <a:ext cx="3566160" cy="36118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57784" y="2011680"/>
            <a:ext cx="82296" cy="3611880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214884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QUESTION 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578608"/>
            <a:ext cx="325526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Explain the difference between cropping and resizing. Give one practical example of each.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06824" y="2011680"/>
            <a:ext cx="3566160" cy="36118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306824" y="2011680"/>
            <a:ext cx="82296" cy="3611880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80560" y="214884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QUESTION 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80560" y="2578608"/>
            <a:ext cx="325526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1600 × 1000 image is reduced to 800 pixels wide. What is its proportional new height?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55864" y="2011680"/>
            <a:ext cx="3566160" cy="36118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055864" y="2011680"/>
            <a:ext cx="82296" cy="3611880"/>
          </a:xfrm>
          <a:prstGeom prst="rect">
            <a:avLst>
              <a:gd name="adj" fmla="val 111111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0" y="214884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QUESTION 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0" y="2578608"/>
            <a:ext cx="325526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should a student submit both a PSD project and a JPEG or PNG export?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>
              <a:gd name="adj" fmla="val 7692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468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ITT06105  /  DESKTOP PUBLISHING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35440" y="219456"/>
            <a:ext cx="2487168" cy="274320"/>
          </a:xfrm>
          <a:prstGeom prst="roundRect">
            <a:avLst>
              <a:gd name="adj" fmla="val 33333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45168" y="256032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TAKEAWAY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" y="722376"/>
            <a:ext cx="1115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you should remember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Keep the image-editing process simple and purposeful.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6382512"/>
            <a:ext cx="11128248" cy="0"/>
          </a:xfrm>
          <a:prstGeom prst="line">
            <a:avLst/>
          </a:prstGeom>
          <a:noFill/>
          <a:ln w="12700">
            <a:solidFill>
              <a:srgbClr val="D3E1E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39496" y="64602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167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 PUBLISHING  •  PHOTOSHOP ESSENTIALS  •  2026/2027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510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38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029968"/>
            <a:ext cx="10853928" cy="3557016"/>
          </a:xfrm>
          <a:prstGeom prst="roundRect">
            <a:avLst>
              <a:gd name="adj" fmla="val 4627"/>
            </a:avLst>
          </a:prstGeom>
          <a:solidFill>
            <a:srgbClr val="EEF7F8"/>
          </a:solidFill>
          <a:ln w="12700">
            <a:solidFill>
              <a:srgbClr val="EEF7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42416" y="2523744"/>
            <a:ext cx="100492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0243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Organise  →  Open  →  Crop  →  Resize  →  Check  →  Save  →  Export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252728" y="3767328"/>
            <a:ext cx="963777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183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 image is successful when it supports the publication, remains clear and can be edited again when needed.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06424" y="5815584"/>
            <a:ext cx="10149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7F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NEXT: Use layers, shapes and text to produce a simple graphic composition.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ITT06105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Condensed Lecture 04 - Photoshop Essentials</dc:title>
  <dc:subject>Condensed lecture 4 Photoshop Essentials</dc:subject>
  <dc:creator>ITT06105 Teaching Materials</dc:creator>
  <cp:lastModifiedBy>ITT06105 Teaching Materials</cp:lastModifiedBy>
  <cp:revision>1</cp:revision>
  <dcterms:created xsi:type="dcterms:W3CDTF">2026-10-21T16:22:55Z</dcterms:created>
  <dcterms:modified xsi:type="dcterms:W3CDTF">2026-10-21T16:22:55Z</dcterms:modified>
</cp:coreProperties>
</file>