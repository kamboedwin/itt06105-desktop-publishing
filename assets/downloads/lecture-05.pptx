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4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>
              <a:gd name="adj" fmla="val 71429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40080" y="685800"/>
            <a:ext cx="5897880" cy="91440"/>
          </a:xfrm>
          <a:prstGeom prst="rect">
            <a:avLst>
              <a:gd name="adj" fmla="val 100000"/>
            </a:avLst>
          </a:prstGeom>
          <a:solidFill>
            <a:srgbClr val="E8A34A"/>
          </a:solidFill>
          <a:ln w="12700">
            <a:solidFill>
              <a:srgbClr val="E8A34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58368" y="1078992"/>
            <a:ext cx="53400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8A3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ESSENTIAL LECTURE 05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6263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Basic Image Editing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404872"/>
            <a:ext cx="6263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and Graphic Composition</a:t>
            </a:r>
            <a:endParaRPr lang="en-US" sz="3500" dirty="0"/>
          </a:p>
        </p:txBody>
      </p:sp>
      <p:sp>
        <p:nvSpPr>
          <p:cNvPr id="7" name="Text 5"/>
          <p:cNvSpPr/>
          <p:nvPr/>
        </p:nvSpPr>
        <p:spPr>
          <a:xfrm>
            <a:off x="685800" y="3374136"/>
            <a:ext cx="56875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DCEB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Combine images, shapes and text into a readable event notice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67512" y="4663440"/>
            <a:ext cx="5513832" cy="649224"/>
          </a:xfrm>
          <a:prstGeom prst="roundRect">
            <a:avLst>
              <a:gd name="adj" fmla="val 19718"/>
            </a:avLst>
          </a:prstGeom>
          <a:solidFill>
            <a:srgbClr val="1B3551"/>
          </a:solidFill>
          <a:ln w="12700">
            <a:solidFill>
              <a:srgbClr val="1B355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96112" y="4846320"/>
            <a:ext cx="5120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Layers  •  Hierarchy  •  Layout  •  Export</a:t>
            </a:r>
            <a:endParaRPr lang="en-US" sz="1900" dirty="0"/>
          </a:p>
        </p:txBody>
      </p:sp>
      <p:pic>
        <p:nvPicPr>
          <p:cNvPr id="10" name="Image 0" descr="/mnt/data/ITT06105_Condensed_L05_Package/resources/Tumaini_Model_Event_Not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6952" y="1069162"/>
            <a:ext cx="3374136" cy="45550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58368" y="6400800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DCEB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ITT06105  •  Ordinary Diploma in Information Technology  •  2026/2027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76923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4688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ITT06105  /  DESKTOP PUBLISHING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235440" y="219456"/>
            <a:ext cx="2487168" cy="274320"/>
          </a:xfrm>
          <a:prstGeom prst="roundRect">
            <a:avLst>
              <a:gd name="adj" fmla="val 33333"/>
            </a:avLst>
          </a:prstGeom>
          <a:solidFill>
            <a:srgbClr val="EEF7F8"/>
          </a:solidFill>
          <a:ln w="12700">
            <a:solidFill>
              <a:srgbClr val="EEF7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345168" y="256032"/>
            <a:ext cx="22677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START HERE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21208" y="722376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you will be able to do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13258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This lesson uses a prepared illustration to build one clear digital event notice.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30352" y="6382512"/>
            <a:ext cx="11128248" cy="0"/>
          </a:xfrm>
          <a:prstGeom prst="line">
            <a:avLst/>
          </a:prstGeom>
          <a:noFill/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39496" y="64602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DESKTOP PUBLISHING  •  GRAPHIC COMPOSITION  •  2026/2027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510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7784" y="2011680"/>
            <a:ext cx="3566160" cy="3328416"/>
          </a:xfrm>
          <a:prstGeom prst="roundRect">
            <a:avLst>
              <a:gd name="adj" fmla="val 4121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57784" y="2011680"/>
            <a:ext cx="82296" cy="3328416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214884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 ORGANISE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2578608"/>
            <a:ext cx="3255264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Recognise the role of layers, name them clearly and arrange objects in the correct order.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06824" y="2011680"/>
            <a:ext cx="3566160" cy="3328416"/>
          </a:xfrm>
          <a:prstGeom prst="roundRect">
            <a:avLst>
              <a:gd name="adj" fmla="val 4121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306824" y="2011680"/>
            <a:ext cx="82296" cy="3328416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480560" y="214884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02  DESIGN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480560" y="2578608"/>
            <a:ext cx="3255264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Combine one image, a few shapes and editable text using clear spacing and hierarchy.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055864" y="2011680"/>
            <a:ext cx="3566160" cy="3328416"/>
          </a:xfrm>
          <a:prstGeom prst="roundRect">
            <a:avLst>
              <a:gd name="adj" fmla="val 4121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055864" y="2011680"/>
            <a:ext cx="82296" cy="3328416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229600" y="214884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03  DELIVER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29600" y="2578608"/>
            <a:ext cx="3255264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Save an editable Photoshop project and export a final image that can be checked and shared.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76072" y="5742432"/>
            <a:ext cx="11045952" cy="393192"/>
          </a:xfrm>
          <a:prstGeom prst="roundRect">
            <a:avLst>
              <a:gd name="adj" fmla="val 23256"/>
            </a:avLst>
          </a:prstGeom>
          <a:solidFill>
            <a:srgbClr val="DDF0F0"/>
          </a:solidFill>
          <a:ln w="12700">
            <a:solidFill>
              <a:srgbClr val="DDF0F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77240" y="5824728"/>
            <a:ext cx="10661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goal is a readable publication—not a display of every Photoshop effect.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76923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4688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ITT06105  /  DESKTOP PUBLISHING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235440" y="219456"/>
            <a:ext cx="2487168" cy="274320"/>
          </a:xfrm>
          <a:prstGeom prst="roundRect">
            <a:avLst>
              <a:gd name="adj" fmla="val 33333"/>
            </a:avLst>
          </a:prstGeom>
          <a:solidFill>
            <a:srgbClr val="EEF7F8"/>
          </a:solidFill>
          <a:ln w="12700">
            <a:solidFill>
              <a:srgbClr val="EEF7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345168" y="256032"/>
            <a:ext cx="22677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CONNECTION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21208" y="722376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You already have the first ingredient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13258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Lecture 4 taught how to prepare an image. Now use it in a small composition.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30352" y="6382512"/>
            <a:ext cx="11128248" cy="0"/>
          </a:xfrm>
          <a:prstGeom prst="line">
            <a:avLst/>
          </a:prstGeom>
          <a:noFill/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39496" y="64602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DESKTOP PUBLISHING  •  GRAPHIC COMPOSITION  •  2026/2027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510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5216" y="2048256"/>
            <a:ext cx="5477256" cy="3730752"/>
          </a:xfrm>
          <a:prstGeom prst="roundRect">
            <a:avLst>
              <a:gd name="adj" fmla="val 3431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pic>
        <p:nvPicPr>
          <p:cNvPr id="12" name="Image 0" descr="/mnt/data/ITT06105_Condensed_L05_Package/resources/Tumaini_Source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2262569"/>
            <a:ext cx="5239512" cy="3274695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254496" y="2048256"/>
            <a:ext cx="5285232" cy="3730752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6254496" y="2048256"/>
            <a:ext cx="82296" cy="3730752"/>
          </a:xfrm>
          <a:prstGeom prst="rect">
            <a:avLst>
              <a:gd name="adj" fmla="val 111111"/>
            </a:avLst>
          </a:prstGeom>
          <a:solidFill>
            <a:srgbClr val="E8A34A"/>
          </a:solidFill>
          <a:ln w="12700">
            <a:solidFill>
              <a:srgbClr val="E8A34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428232" y="2185416"/>
            <a:ext cx="4965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 running project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428232" y="2615184"/>
            <a:ext cx="4974336" cy="3026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Tumaini Community Learning Centre needs a simple digital announcement for its fictional “Stay Safe Online” session. Keep the main title, image and event details easy to find.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76923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4688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ITT06105  /  DESKTOP PUBLISHING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235440" y="219456"/>
            <a:ext cx="2487168" cy="274320"/>
          </a:xfrm>
          <a:prstGeom prst="roundRect">
            <a:avLst>
              <a:gd name="adj" fmla="val 33333"/>
            </a:avLst>
          </a:prstGeom>
          <a:solidFill>
            <a:srgbClr val="EEF7F8"/>
          </a:solidFill>
          <a:ln w="12700">
            <a:solidFill>
              <a:srgbClr val="EEF7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345168" y="256032"/>
            <a:ext cx="22677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CONCEPT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21208" y="722376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is a graphic composition?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13258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element should help the reader understand one message.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30352" y="6382512"/>
            <a:ext cx="11128248" cy="0"/>
          </a:xfrm>
          <a:prstGeom prst="line">
            <a:avLst/>
          </a:prstGeom>
          <a:noFill/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39496" y="64602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DESKTOP PUBLISHING  •  GRAPHIC COMPOSITION  •  2026/2027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510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04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" y="2039112"/>
            <a:ext cx="5266944" cy="3547872"/>
          </a:xfrm>
          <a:prstGeom prst="roundRect">
            <a:avLst>
              <a:gd name="adj" fmla="val 3866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03504" y="2039112"/>
            <a:ext cx="82296" cy="3547872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77240" y="2176272"/>
            <a:ext cx="4946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Definition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77240" y="2606040"/>
            <a:ext cx="4956048" cy="2843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5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graphic composition is a planned arrangement of text, images, shapes and empty space within a defined area. It communicates more effectively when the elements have clear relationships.</a:t>
            </a:r>
            <a:endParaRPr lang="en-US" sz="1850" dirty="0"/>
          </a:p>
        </p:txBody>
      </p:sp>
      <p:sp>
        <p:nvSpPr>
          <p:cNvPr id="15" name="Shape 13"/>
          <p:cNvSpPr/>
          <p:nvPr/>
        </p:nvSpPr>
        <p:spPr>
          <a:xfrm>
            <a:off x="6071616" y="2039112"/>
            <a:ext cx="5358384" cy="3547872"/>
          </a:xfrm>
          <a:prstGeom prst="roundRect">
            <a:avLst>
              <a:gd name="adj" fmla="val 3866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071616" y="2039112"/>
            <a:ext cx="82296" cy="3547872"/>
          </a:xfrm>
          <a:prstGeom prst="rect">
            <a:avLst>
              <a:gd name="adj" fmla="val 111111"/>
            </a:avLst>
          </a:prstGeom>
          <a:solidFill>
            <a:srgbClr val="E8A34A"/>
          </a:solidFill>
          <a:ln w="12700">
            <a:solidFill>
              <a:srgbClr val="E8A34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245352" y="2176272"/>
            <a:ext cx="5038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Example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45352" y="2606040"/>
            <a:ext cx="5047488" cy="2843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5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 event notice combines an illustration, a prominent session title, a short explanation and a visible date/time. Random decorations that interrupt this sequence do not improve communication.</a:t>
            </a:r>
            <a:endParaRPr lang="en-US" sz="1850" dirty="0"/>
          </a:p>
        </p:txBody>
      </p:sp>
      <p:sp>
        <p:nvSpPr>
          <p:cNvPr id="19" name="Shape 17"/>
          <p:cNvSpPr/>
          <p:nvPr/>
        </p:nvSpPr>
        <p:spPr>
          <a:xfrm>
            <a:off x="576072" y="5779008"/>
            <a:ext cx="11045952" cy="393192"/>
          </a:xfrm>
          <a:prstGeom prst="roundRect">
            <a:avLst>
              <a:gd name="adj" fmla="val 23256"/>
            </a:avLst>
          </a:prstGeom>
          <a:solidFill>
            <a:srgbClr val="DDF0F0"/>
          </a:solidFill>
          <a:ln w="12700">
            <a:solidFill>
              <a:srgbClr val="DDF0F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77240" y="5861304"/>
            <a:ext cx="10661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composition is effective when readers know where to look first, second and third.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76923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4688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ITT06105  /  DESKTOP PUBLISHING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235440" y="219456"/>
            <a:ext cx="2487168" cy="274320"/>
          </a:xfrm>
          <a:prstGeom prst="roundRect">
            <a:avLst>
              <a:gd name="adj" fmla="val 33333"/>
            </a:avLst>
          </a:prstGeom>
          <a:solidFill>
            <a:srgbClr val="EEF7F8"/>
          </a:solidFill>
          <a:ln w="12700">
            <a:solidFill>
              <a:srgbClr val="EEF7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345168" y="256032"/>
            <a:ext cx="22677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COMPARE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21208" y="722376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some notices are difficult to read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13258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Look for poor hierarchy, crowding, alignment and colour choices.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30352" y="6382512"/>
            <a:ext cx="11128248" cy="0"/>
          </a:xfrm>
          <a:prstGeom prst="line">
            <a:avLst/>
          </a:prstGeom>
          <a:noFill/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39496" y="64602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DESKTOP PUBLISHING  •  GRAPHIC COMPOSITION  •  2026/2027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510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05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7784" y="2039112"/>
            <a:ext cx="6355080" cy="3922776"/>
          </a:xfrm>
          <a:prstGeom prst="roundRect">
            <a:avLst>
              <a:gd name="adj" fmla="val 3263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pic>
        <p:nvPicPr>
          <p:cNvPr id="12" name="Image 0" descr="/mnt/data/ITT06105_Condensed_L05_Package/resources/Fig06_Before_After_Pos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2644" y="2194560"/>
            <a:ext cx="4803648" cy="3602736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114032" y="2029968"/>
            <a:ext cx="4498848" cy="3931920"/>
          </a:xfrm>
          <a:prstGeom prst="roundRect">
            <a:avLst>
              <a:gd name="adj" fmla="val 3721"/>
            </a:avLst>
          </a:prstGeom>
          <a:solidFill>
            <a:srgbClr val="EEF7F8"/>
          </a:solidFill>
          <a:ln w="12700">
            <a:solidFill>
              <a:srgbClr val="EEF7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333488" y="2359152"/>
            <a:ext cx="408736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Which works better?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333488" y="2971800"/>
            <a:ext cx="4014216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design can contain the correct facts but still communicate badly. The clearer notice uses a stronger title, calmer colours, consistent margins and a distinct place for the date and time.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333488" y="5568696"/>
            <a:ext cx="4032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Students should justify their judgement using design principles.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76923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4688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ITT06105  /  DESKTOP PUBLISHING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235440" y="219456"/>
            <a:ext cx="2487168" cy="274320"/>
          </a:xfrm>
          <a:prstGeom prst="roundRect">
            <a:avLst>
              <a:gd name="adj" fmla="val 33333"/>
            </a:avLst>
          </a:prstGeom>
          <a:solidFill>
            <a:srgbClr val="EEF7F8"/>
          </a:solidFill>
          <a:ln w="12700">
            <a:solidFill>
              <a:srgbClr val="EEF7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345168" y="256032"/>
            <a:ext cx="22677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LAYERS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21208" y="722376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layer is an editable part of the page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13258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Layers make a complex graphic easier to revise without rebuilding everything.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30352" y="6382512"/>
            <a:ext cx="11128248" cy="0"/>
          </a:xfrm>
          <a:prstGeom prst="line">
            <a:avLst/>
          </a:prstGeom>
          <a:noFill/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39496" y="64602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DESKTOP PUBLISHING  •  GRAPHIC COMPOSITION  •  2026/2027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510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7784" y="2084832"/>
            <a:ext cx="3566160" cy="3547872"/>
          </a:xfrm>
          <a:prstGeom prst="roundRect">
            <a:avLst>
              <a:gd name="adj" fmla="val 3866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57784" y="2084832"/>
            <a:ext cx="82296" cy="3547872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2221992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BACKGROUND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2651760"/>
            <a:ext cx="3255264" cy="2843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base colour or image behind the design. Often kept at the bottom of the stack.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06824" y="2084832"/>
            <a:ext cx="3566160" cy="3547872"/>
          </a:xfrm>
          <a:prstGeom prst="roundRect">
            <a:avLst>
              <a:gd name="adj" fmla="val 3866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306824" y="2084832"/>
            <a:ext cx="82296" cy="3547872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480560" y="2221992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IMAGE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480560" y="2651760"/>
            <a:ext cx="3255264" cy="2843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placed illustration or photograph that can be resized and repositioned separately.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055864" y="2084832"/>
            <a:ext cx="3566160" cy="3547872"/>
          </a:xfrm>
          <a:prstGeom prst="roundRect">
            <a:avLst>
              <a:gd name="adj" fmla="val 3866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055864" y="2084832"/>
            <a:ext cx="82296" cy="3547872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229600" y="2221992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TEXT + SHAPES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29600" y="2651760"/>
            <a:ext cx="3255264" cy="2843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Headlines, descriptions and coloured banners that remain independent of the image.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76923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4688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ITT06105  /  DESKTOP PUBLISHING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235440" y="219456"/>
            <a:ext cx="2487168" cy="274320"/>
          </a:xfrm>
          <a:prstGeom prst="roundRect">
            <a:avLst>
              <a:gd name="adj" fmla="val 33333"/>
            </a:avLst>
          </a:prstGeom>
          <a:solidFill>
            <a:srgbClr val="EEF7F8"/>
          </a:solidFill>
          <a:ln w="12700">
            <a:solidFill>
              <a:srgbClr val="EEF7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345168" y="256032"/>
            <a:ext cx="22677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LAYERS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21208" y="722376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order of layers changes what you see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13258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highest visible layer generally appears in front where objects overlap.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30352" y="6382512"/>
            <a:ext cx="11128248" cy="0"/>
          </a:xfrm>
          <a:prstGeom prst="line">
            <a:avLst/>
          </a:prstGeom>
          <a:noFill/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39496" y="64602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DESKTOP PUBLISHING  •  GRAPHIC COMPOSITION  •  2026/2027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510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07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7784" y="2039112"/>
            <a:ext cx="6355080" cy="3922776"/>
          </a:xfrm>
          <a:prstGeom prst="roundRect">
            <a:avLst>
              <a:gd name="adj" fmla="val 3263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pic>
        <p:nvPicPr>
          <p:cNvPr id="12" name="Image 0" descr="/mnt/data/ITT06105_Condensed_L05_Package/resources/Fig01_Layer_St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2330544"/>
            <a:ext cx="6135624" cy="3330767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114032" y="2029968"/>
            <a:ext cx="4498848" cy="3931920"/>
          </a:xfrm>
          <a:prstGeom prst="roundRect">
            <a:avLst>
              <a:gd name="adj" fmla="val 3721"/>
            </a:avLst>
          </a:prstGeom>
          <a:solidFill>
            <a:srgbClr val="EEF7F8"/>
          </a:solidFill>
          <a:ln w="12700">
            <a:solidFill>
              <a:srgbClr val="EEF7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333488" y="2359152"/>
            <a:ext cx="408736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Think of stacked sheets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333488" y="2971800"/>
            <a:ext cx="4014216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If your title disappears behind a photograph, inspect the Layers panel. Move the title layer above the image layer rather than redrawing the heading.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333488" y="5568696"/>
            <a:ext cx="4032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top item is visually in front where it overlaps lower items.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76923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4688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ITT06105  /  DESKTOP PUBLISHING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235440" y="219456"/>
            <a:ext cx="2487168" cy="274320"/>
          </a:xfrm>
          <a:prstGeom prst="roundRect">
            <a:avLst>
              <a:gd name="adj" fmla="val 33333"/>
            </a:avLst>
          </a:prstGeom>
          <a:solidFill>
            <a:srgbClr val="EEF7F8"/>
          </a:solidFill>
          <a:ln w="12700">
            <a:solidFill>
              <a:srgbClr val="EEF7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345168" y="256032"/>
            <a:ext cx="22677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LAYERS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21208" y="722376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keep separate layers?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13258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 decision can be changed without disturbing unrelated elements.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30352" y="6382512"/>
            <a:ext cx="11128248" cy="0"/>
          </a:xfrm>
          <a:prstGeom prst="line">
            <a:avLst/>
          </a:prstGeom>
          <a:noFill/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39496" y="64602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DESKTOP PUBLISHING  •  GRAPHIC COMPOSITION  •  2026/2027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510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08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7784" y="2029968"/>
            <a:ext cx="3566160" cy="3502152"/>
          </a:xfrm>
          <a:prstGeom prst="roundRect">
            <a:avLst>
              <a:gd name="adj" fmla="val 3916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57784" y="2029968"/>
            <a:ext cx="82296" cy="3502152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216712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MOVE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2596896"/>
            <a:ext cx="3255264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Change the position of the event title while leaving the photograph exactly where it is.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06824" y="2029968"/>
            <a:ext cx="3566160" cy="3502152"/>
          </a:xfrm>
          <a:prstGeom prst="roundRect">
            <a:avLst>
              <a:gd name="adj" fmla="val 3916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306824" y="2029968"/>
            <a:ext cx="82296" cy="3502152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480560" y="216712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REPLACE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480560" y="2596896"/>
            <a:ext cx="3255264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Swap a background picture without retyping the event details.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055864" y="2029968"/>
            <a:ext cx="3566160" cy="3502152"/>
          </a:xfrm>
          <a:prstGeom prst="roundRect">
            <a:avLst>
              <a:gd name="adj" fmla="val 3916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055864" y="2029968"/>
            <a:ext cx="82296" cy="3502152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229600" y="216712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REVISE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29600" y="2596896"/>
            <a:ext cx="3255264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Correct an incorrect date on its own text layer, then produce an updated export.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76923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4688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ITT06105  /  DESKTOP PUBLISHING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235440" y="219456"/>
            <a:ext cx="2487168" cy="274320"/>
          </a:xfrm>
          <a:prstGeom prst="roundRect">
            <a:avLst>
              <a:gd name="adj" fmla="val 33333"/>
            </a:avLst>
          </a:prstGeom>
          <a:solidFill>
            <a:srgbClr val="EEF7F8"/>
          </a:solidFill>
          <a:ln w="12700">
            <a:solidFill>
              <a:srgbClr val="EEF7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345168" y="256032"/>
            <a:ext cx="22677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LAYERS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21208" y="722376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Use meaningful layer names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13258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Clear names make an editable file useful after the lesson.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30352" y="6382512"/>
            <a:ext cx="11128248" cy="0"/>
          </a:xfrm>
          <a:prstGeom prst="line">
            <a:avLst/>
          </a:prstGeom>
          <a:noFill/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39496" y="64602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DESKTOP PUBLISHING  •  GRAPHIC COMPOSITION  •  2026/2027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510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09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103120"/>
            <a:ext cx="5212080" cy="3456432"/>
          </a:xfrm>
          <a:prstGeom prst="roundRect">
            <a:avLst>
              <a:gd name="adj" fmla="val 3968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40080" y="2103120"/>
            <a:ext cx="82296" cy="3456432"/>
          </a:xfrm>
          <a:prstGeom prst="rect">
            <a:avLst>
              <a:gd name="adj" fmla="val 111111"/>
            </a:avLst>
          </a:prstGeom>
          <a:solidFill>
            <a:srgbClr val="C15B58"/>
          </a:solidFill>
          <a:ln w="12700">
            <a:solidFill>
              <a:srgbClr val="C15B5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13816" y="2240280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Hard to work with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13816" y="2670048"/>
            <a:ext cx="4901184" cy="2752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Layer 1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Layer 1 copy 2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Rectangle 5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Text copy 3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Layer 8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6071616" y="2103120"/>
            <a:ext cx="5394960" cy="3456432"/>
          </a:xfrm>
          <a:prstGeom prst="roundRect">
            <a:avLst>
              <a:gd name="adj" fmla="val 3968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071616" y="2103120"/>
            <a:ext cx="82296" cy="3456432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245352" y="2240280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Easier to understand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45352" y="2670048"/>
            <a:ext cx="5084064" cy="2752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Background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Cropped photo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Date banner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Main heading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Event details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576072" y="5788152"/>
            <a:ext cx="11045952" cy="393192"/>
          </a:xfrm>
          <a:prstGeom prst="roundRect">
            <a:avLst>
              <a:gd name="adj" fmla="val 23256"/>
            </a:avLst>
          </a:prstGeom>
          <a:solidFill>
            <a:srgbClr val="DDF0F0"/>
          </a:solidFill>
          <a:ln w="12700">
            <a:solidFill>
              <a:srgbClr val="DDF0F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77240" y="5870448"/>
            <a:ext cx="10661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Rename layers as the composition grows; do not wait until the end.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76923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4688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ITT06105  /  DESKTOP PUBLISHING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235440" y="219456"/>
            <a:ext cx="2487168" cy="274320"/>
          </a:xfrm>
          <a:prstGeom prst="roundRect">
            <a:avLst>
              <a:gd name="adj" fmla="val 33333"/>
            </a:avLst>
          </a:prstGeom>
          <a:solidFill>
            <a:srgbClr val="EEF7F8"/>
          </a:solidFill>
          <a:ln w="12700">
            <a:solidFill>
              <a:srgbClr val="EEF7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345168" y="256032"/>
            <a:ext cx="22677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WORKSPACE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21208" y="722376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Find the Layers panel in Photoshop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13258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 usually lists each visible component and provides common layer controls.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30352" y="6382512"/>
            <a:ext cx="11128248" cy="0"/>
          </a:xfrm>
          <a:prstGeom prst="line">
            <a:avLst/>
          </a:prstGeom>
          <a:noFill/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39496" y="64602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DESKTOP PUBLISHING  •  GRAPHIC COMPOSITION  •  2026/2027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510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7784" y="2057400"/>
            <a:ext cx="3566160" cy="3493008"/>
          </a:xfrm>
          <a:prstGeom prst="roundRect">
            <a:avLst>
              <a:gd name="adj" fmla="val 3927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57784" y="2057400"/>
            <a:ext cx="82296" cy="3493008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219456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EYE ICON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2624328"/>
            <a:ext cx="325526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Temporarily show or hide a layer to identify what it contains.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06824" y="2057400"/>
            <a:ext cx="3566160" cy="3493008"/>
          </a:xfrm>
          <a:prstGeom prst="roundRect">
            <a:avLst>
              <a:gd name="adj" fmla="val 3927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306824" y="2057400"/>
            <a:ext cx="82296" cy="3493008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480560" y="219456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ORDER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480560" y="2624328"/>
            <a:ext cx="325526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Drag layers to change front-to-back order when they overlap.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055864" y="2057400"/>
            <a:ext cx="3566160" cy="3493008"/>
          </a:xfrm>
          <a:prstGeom prst="roundRect">
            <a:avLst>
              <a:gd name="adj" fmla="val 3927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055864" y="2057400"/>
            <a:ext cx="82296" cy="3493008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229600" y="219456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LOCK + NAME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29600" y="2624328"/>
            <a:ext cx="325526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Protect a background from accidental movement and rename important layers.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76923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4688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ITT06105  /  DESKTOP PUBLISHING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235440" y="219456"/>
            <a:ext cx="2487168" cy="274320"/>
          </a:xfrm>
          <a:prstGeom prst="roundRect">
            <a:avLst>
              <a:gd name="adj" fmla="val 33333"/>
            </a:avLst>
          </a:prstGeom>
          <a:solidFill>
            <a:srgbClr val="EEF7F8"/>
          </a:solidFill>
          <a:ln w="12700">
            <a:solidFill>
              <a:srgbClr val="EEF7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345168" y="256032"/>
            <a:ext cx="22677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PREPARATION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21208" y="722376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Make one simple document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13258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example dimensions support digital teaching—not every type of print job.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30352" y="6382512"/>
            <a:ext cx="11128248" cy="0"/>
          </a:xfrm>
          <a:prstGeom prst="line">
            <a:avLst/>
          </a:prstGeom>
          <a:noFill/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39496" y="64602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DESKTOP PUBLISHING  •  GRAPHIC COMPOSITION  •  2026/2027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510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" y="2048256"/>
            <a:ext cx="5257800" cy="356616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21792" y="2048256"/>
            <a:ext cx="82296" cy="3566160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95528" y="2185416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Start a portrait canvas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95528" y="2615184"/>
            <a:ext cx="4946904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Use File &gt; New and enter approximately 1000 × 1350 pixels. Save the new PSD before you begin arranging objects. In other editors, use an equivalent custom-size document.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6080760" y="2048256"/>
            <a:ext cx="5394960" cy="356616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080760" y="2048256"/>
            <a:ext cx="82296" cy="3566160"/>
          </a:xfrm>
          <a:prstGeom prst="rect">
            <a:avLst>
              <a:gd name="adj" fmla="val 111111"/>
            </a:avLst>
          </a:prstGeom>
          <a:solidFill>
            <a:srgbClr val="E8A34A"/>
          </a:solidFill>
          <a:ln w="12700">
            <a:solidFill>
              <a:srgbClr val="E8A34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254496" y="2185416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choose dimensions first?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54496" y="2615184"/>
            <a:ext cx="5084064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document dimensions describe the working area. Changing them late can disturb object positions. Use a different size if the publication’s real output requires one.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576072" y="5788152"/>
            <a:ext cx="11045952" cy="393192"/>
          </a:xfrm>
          <a:prstGeom prst="roundRect">
            <a:avLst>
              <a:gd name="adj" fmla="val 23256"/>
            </a:avLst>
          </a:prstGeom>
          <a:solidFill>
            <a:srgbClr val="DDF0F0"/>
          </a:solidFill>
          <a:ln w="12700">
            <a:solidFill>
              <a:srgbClr val="DDF0F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77240" y="5870448"/>
            <a:ext cx="10661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Keep the original source image stored separately, exactly as in Lecture 4.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76923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4688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ITT06105  /  DESKTOP PUBLISHING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235440" y="219456"/>
            <a:ext cx="2487168" cy="274320"/>
          </a:xfrm>
          <a:prstGeom prst="roundRect">
            <a:avLst>
              <a:gd name="adj" fmla="val 33333"/>
            </a:avLst>
          </a:prstGeom>
          <a:solidFill>
            <a:srgbClr val="EEF7F8"/>
          </a:solidFill>
          <a:ln w="12700">
            <a:solidFill>
              <a:srgbClr val="EEF7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345168" y="256032"/>
            <a:ext cx="22677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PREPARATION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21208" y="722376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layout can start as a simple sketch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13258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You do not need specialised design skills to plan where objects belong.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30352" y="6382512"/>
            <a:ext cx="11128248" cy="0"/>
          </a:xfrm>
          <a:prstGeom prst="line">
            <a:avLst/>
          </a:prstGeom>
          <a:noFill/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39496" y="64602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DESKTOP PUBLISHING  •  GRAPHIC COMPOSITION  •  2026/2027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510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" y="2057400"/>
            <a:ext cx="5413248" cy="3675888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pic>
        <p:nvPicPr>
          <p:cNvPr id="12" name="Image 0" descr="/mnt/data/ITT06105_Condensed_L05_Package/resources/Tumaini_Starter_Art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9093" y="2221992"/>
            <a:ext cx="2465493" cy="3328416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245352" y="2057400"/>
            <a:ext cx="5230368" cy="3675888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6245352" y="2057400"/>
            <a:ext cx="82296" cy="3675888"/>
          </a:xfrm>
          <a:prstGeom prst="rect">
            <a:avLst>
              <a:gd name="adj" fmla="val 111111"/>
            </a:avLst>
          </a:prstGeom>
          <a:solidFill>
            <a:srgbClr val="E8A34A"/>
          </a:solidFill>
          <a:ln w="12700">
            <a:solidFill>
              <a:srgbClr val="E8A34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419088" y="2194560"/>
            <a:ext cx="4910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useful regions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419088" y="2624328"/>
            <a:ext cx="4919472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4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Reserve space for the organisation name, a relevant image, the main event title and a date/action line. Use the template as a guide; the final design should be your own editable document.</a:t>
            </a:r>
            <a:endParaRPr lang="en-US" sz="18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76923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4688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ITT06105  /  DESKTOP PUBLISHING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235440" y="219456"/>
            <a:ext cx="2487168" cy="274320"/>
          </a:xfrm>
          <a:prstGeom prst="roundRect">
            <a:avLst>
              <a:gd name="adj" fmla="val 33333"/>
            </a:avLst>
          </a:prstGeom>
          <a:solidFill>
            <a:srgbClr val="EEF7F8"/>
          </a:solidFill>
          <a:ln w="12700">
            <a:solidFill>
              <a:srgbClr val="EEF7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345168" y="256032"/>
            <a:ext cx="22677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IMAGES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21208" y="722376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Place the image on its own layer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13258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separately placed image is easier to move or scale.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30352" y="6382512"/>
            <a:ext cx="11128248" cy="0"/>
          </a:xfrm>
          <a:prstGeom prst="line">
            <a:avLst/>
          </a:prstGeom>
          <a:noFill/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39496" y="64602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DESKTOP PUBLISHING  •  GRAPHIC COMPOSITION  •  2026/2027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510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029968"/>
            <a:ext cx="5303520" cy="3557016"/>
          </a:xfrm>
          <a:prstGeom prst="roundRect">
            <a:avLst>
              <a:gd name="adj" fmla="val 3856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40080" y="2029968"/>
            <a:ext cx="82296" cy="3557016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13816" y="2167128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Practical sequence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13816" y="2596896"/>
            <a:ext cx="4992624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5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1. Open the new document.</a:t>
            </a:r>
            <a:endParaRPr lang="en-US" sz="1850" dirty="0"/>
          </a:p>
          <a:p>
            <a:pPr algn="l" indent="0" marL="0">
              <a:buNone/>
            </a:pPr>
            <a:r>
              <a:rPr lang="en-US" sz="185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2. Choose File &gt; Place Embedded (or equivalent).</a:t>
            </a:r>
            <a:endParaRPr lang="en-US" sz="1850" dirty="0"/>
          </a:p>
          <a:p>
            <a:pPr algn="l" indent="0" marL="0">
              <a:buNone/>
            </a:pPr>
            <a:r>
              <a:rPr lang="en-US" sz="185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3. Select the prepared Tumaini image.</a:t>
            </a:r>
            <a:endParaRPr lang="en-US" sz="1850" dirty="0"/>
          </a:p>
          <a:p>
            <a:pPr algn="l" indent="0" marL="0">
              <a:buNone/>
            </a:pPr>
            <a:r>
              <a:rPr lang="en-US" sz="185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4. Resize proportionally and confirm.</a:t>
            </a:r>
            <a:endParaRPr lang="en-US" sz="1850" dirty="0"/>
          </a:p>
          <a:p>
            <a:pPr algn="l" indent="0" marL="0">
              <a:buNone/>
            </a:pPr>
            <a:r>
              <a:rPr lang="en-US" sz="185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5. Name the layer “Photo”.</a:t>
            </a:r>
            <a:endParaRPr lang="en-US" sz="1850" dirty="0"/>
          </a:p>
        </p:txBody>
      </p:sp>
      <p:sp>
        <p:nvSpPr>
          <p:cNvPr id="15" name="Shape 13"/>
          <p:cNvSpPr/>
          <p:nvPr/>
        </p:nvSpPr>
        <p:spPr>
          <a:xfrm>
            <a:off x="6126480" y="2029968"/>
            <a:ext cx="5340096" cy="3557016"/>
          </a:xfrm>
          <a:prstGeom prst="roundRect">
            <a:avLst>
              <a:gd name="adj" fmla="val 3856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126480" y="2029968"/>
            <a:ext cx="82296" cy="3557016"/>
          </a:xfrm>
          <a:prstGeom prst="rect">
            <a:avLst>
              <a:gd name="adj" fmla="val 111111"/>
            </a:avLst>
          </a:prstGeom>
          <a:solidFill>
            <a:srgbClr val="E8A34A"/>
          </a:solidFill>
          <a:ln w="12700">
            <a:solidFill>
              <a:srgbClr val="E8A34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300216" y="2167128"/>
            <a:ext cx="5020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Look for these problems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00216" y="2596896"/>
            <a:ext cx="502920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5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 not stretch the picture to fill a frame. Do not cover an important face, icon or word. A picture that already fits naturally may be better than a tightly cropped image.</a:t>
            </a:r>
            <a:endParaRPr lang="en-US" sz="1850" dirty="0"/>
          </a:p>
        </p:txBody>
      </p:sp>
      <p:sp>
        <p:nvSpPr>
          <p:cNvPr id="19" name="Shape 17"/>
          <p:cNvSpPr/>
          <p:nvPr/>
        </p:nvSpPr>
        <p:spPr>
          <a:xfrm>
            <a:off x="576072" y="5797296"/>
            <a:ext cx="11045952" cy="393192"/>
          </a:xfrm>
          <a:prstGeom prst="roundRect">
            <a:avLst>
              <a:gd name="adj" fmla="val 23256"/>
            </a:avLst>
          </a:prstGeom>
          <a:solidFill>
            <a:srgbClr val="DDF0F0"/>
          </a:solidFill>
          <a:ln w="12700">
            <a:solidFill>
              <a:srgbClr val="DDF0F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77240" y="5879592"/>
            <a:ext cx="10661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 different Photoshop versions, commands and toolbar positions may vary.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76923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4688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ITT06105  /  DESKTOP PUBLISHING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235440" y="219456"/>
            <a:ext cx="2487168" cy="274320"/>
          </a:xfrm>
          <a:prstGeom prst="roundRect">
            <a:avLst>
              <a:gd name="adj" fmla="val 33333"/>
            </a:avLst>
          </a:prstGeom>
          <a:solidFill>
            <a:srgbClr val="EEF7F8"/>
          </a:solidFill>
          <a:ln w="12700">
            <a:solidFill>
              <a:srgbClr val="EEF7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345168" y="256032"/>
            <a:ext cx="22677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IMAGES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21208" y="722376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Placing is not the same as flattening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13258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Keep the image and text independent until the project is finished.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30352" y="6382512"/>
            <a:ext cx="11128248" cy="0"/>
          </a:xfrm>
          <a:prstGeom prst="line">
            <a:avLst/>
          </a:prstGeom>
          <a:noFill/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39496" y="64602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DESKTOP PUBLISHING  •  GRAPHIC COMPOSITION  •  2026/2027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510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14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7784" y="2039112"/>
            <a:ext cx="3566160" cy="3557016"/>
          </a:xfrm>
          <a:prstGeom prst="roundRect">
            <a:avLst>
              <a:gd name="adj" fmla="val 3856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57784" y="2039112"/>
            <a:ext cx="82296" cy="3557016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2176272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PLACE IMAGE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2606040"/>
            <a:ext cx="3255264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Add the picture as a separate component, then scale and position it.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06824" y="2039112"/>
            <a:ext cx="3566160" cy="3557016"/>
          </a:xfrm>
          <a:prstGeom prst="roundRect">
            <a:avLst>
              <a:gd name="adj" fmla="val 3856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306824" y="2039112"/>
            <a:ext cx="82296" cy="3557016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480560" y="2176272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 SOURCE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480560" y="2606040"/>
            <a:ext cx="3255264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Make necessary crop or tonal changes in a working copy when practical.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055864" y="2039112"/>
            <a:ext cx="3566160" cy="3557016"/>
          </a:xfrm>
          <a:prstGeom prst="roundRect">
            <a:avLst>
              <a:gd name="adj" fmla="val 3856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055864" y="2039112"/>
            <a:ext cx="82296" cy="3557016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229600" y="2176272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 NOT FLATTEN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29600" y="2606040"/>
            <a:ext cx="3255264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Avoid merging every layer before you have saved the editable project.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76923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4688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ITT06105  /  DESKTOP PUBLISHING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235440" y="219456"/>
            <a:ext cx="2487168" cy="274320"/>
          </a:xfrm>
          <a:prstGeom prst="roundRect">
            <a:avLst>
              <a:gd name="adj" fmla="val 33333"/>
            </a:avLst>
          </a:prstGeom>
          <a:solidFill>
            <a:srgbClr val="EEF7F8"/>
          </a:solidFill>
          <a:ln w="12700">
            <a:solidFill>
              <a:srgbClr val="EEF7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345168" y="256032"/>
            <a:ext cx="22677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TEXT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21208" y="722376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Use the Type Tool for editable words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13258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heading should be easy to change if details are corrected.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30352" y="6382512"/>
            <a:ext cx="11128248" cy="0"/>
          </a:xfrm>
          <a:prstGeom prst="line">
            <a:avLst/>
          </a:prstGeom>
          <a:noFill/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39496" y="64602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DESKTOP PUBLISHING  •  GRAPHIC COMPOSITION  •  2026/2027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510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15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" y="2048256"/>
            <a:ext cx="5248656" cy="3529584"/>
          </a:xfrm>
          <a:prstGeom prst="roundRect">
            <a:avLst>
              <a:gd name="adj" fmla="val 3886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21792" y="2048256"/>
            <a:ext cx="82296" cy="3529584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95528" y="2185416"/>
            <a:ext cx="4928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Headline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95528" y="2615184"/>
            <a:ext cx="4937760" cy="2825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7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Create “STAY SAFE ONLINE” as a separate text layer. Make it visually prominent, use a readable typeface and keep enough clear space around the letters.</a:t>
            </a:r>
            <a:endParaRPr lang="en-US" sz="1870" dirty="0"/>
          </a:p>
        </p:txBody>
      </p:sp>
      <p:sp>
        <p:nvSpPr>
          <p:cNvPr id="15" name="Shape 13"/>
          <p:cNvSpPr/>
          <p:nvPr/>
        </p:nvSpPr>
        <p:spPr>
          <a:xfrm>
            <a:off x="6053328" y="2048256"/>
            <a:ext cx="5394960" cy="3529584"/>
          </a:xfrm>
          <a:prstGeom prst="roundRect">
            <a:avLst>
              <a:gd name="adj" fmla="val 3886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053328" y="2048256"/>
            <a:ext cx="82296" cy="3529584"/>
          </a:xfrm>
          <a:prstGeom prst="rect">
            <a:avLst>
              <a:gd name="adj" fmla="val 111111"/>
            </a:avLst>
          </a:prstGeom>
          <a:solidFill>
            <a:srgbClr val="E8A34A"/>
          </a:solidFill>
          <a:ln w="12700">
            <a:solidFill>
              <a:srgbClr val="E8A34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227064" y="2185416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Supporting text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27064" y="2615184"/>
            <a:ext cx="5084064" cy="2825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7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Use smaller text for the workshop description and a clear line for date/time. The reader should not need to guess which detail matters most.</a:t>
            </a:r>
            <a:endParaRPr lang="en-US" sz="1870" dirty="0"/>
          </a:p>
        </p:txBody>
      </p:sp>
      <p:sp>
        <p:nvSpPr>
          <p:cNvPr id="19" name="Shape 17"/>
          <p:cNvSpPr/>
          <p:nvPr/>
        </p:nvSpPr>
        <p:spPr>
          <a:xfrm>
            <a:off x="576072" y="5806440"/>
            <a:ext cx="11045952" cy="393192"/>
          </a:xfrm>
          <a:prstGeom prst="roundRect">
            <a:avLst>
              <a:gd name="adj" fmla="val 23256"/>
            </a:avLst>
          </a:prstGeom>
          <a:solidFill>
            <a:srgbClr val="DDF0F0"/>
          </a:solidFill>
          <a:ln w="12700">
            <a:solidFill>
              <a:srgbClr val="DDF0F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77240" y="5888736"/>
            <a:ext cx="10661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Avoid rasterising text: rasterised words are no longer directly editable as characters.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76923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4688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ITT06105  /  DESKTOP PUBLISHING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235440" y="219456"/>
            <a:ext cx="2487168" cy="274320"/>
          </a:xfrm>
          <a:prstGeom prst="roundRect">
            <a:avLst>
              <a:gd name="adj" fmla="val 33333"/>
            </a:avLst>
          </a:prstGeom>
          <a:solidFill>
            <a:srgbClr val="EEF7F8"/>
          </a:solidFill>
          <a:ln w="12700">
            <a:solidFill>
              <a:srgbClr val="EEF7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345168" y="256032"/>
            <a:ext cx="22677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TEXT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21208" y="722376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Show readers what to read first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13258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Readable hierarchy is created with size, spacing, position and contrast.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30352" y="6382512"/>
            <a:ext cx="11128248" cy="0"/>
          </a:xfrm>
          <a:prstGeom prst="line">
            <a:avLst/>
          </a:prstGeom>
          <a:noFill/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39496" y="64602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DESKTOP PUBLISHING  •  GRAPHIC COMPOSITION  •  2026/2027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510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7784" y="2039112"/>
            <a:ext cx="6355080" cy="3922776"/>
          </a:xfrm>
          <a:prstGeom prst="roundRect">
            <a:avLst>
              <a:gd name="adj" fmla="val 3263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pic>
        <p:nvPicPr>
          <p:cNvPr id="12" name="Image 0" descr="/mnt/data/ITT06105_Condensed_L05_Package/resources/Fig03_Type_Hierarch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2641859"/>
            <a:ext cx="6135624" cy="2708137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114032" y="2029968"/>
            <a:ext cx="4498848" cy="3931920"/>
          </a:xfrm>
          <a:prstGeom prst="roundRect">
            <a:avLst>
              <a:gd name="adj" fmla="val 3721"/>
            </a:avLst>
          </a:prstGeom>
          <a:solidFill>
            <a:srgbClr val="EEF7F8"/>
          </a:solidFill>
          <a:ln w="12700">
            <a:solidFill>
              <a:srgbClr val="EEF7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333488" y="2359152"/>
            <a:ext cx="408736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Three clear levels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333488" y="2971800"/>
            <a:ext cx="4014216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large heading attracts attention, a medium-sized statement explains the event, and smaller text gives the date and practical information. Keep the type styles consistent.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333488" y="5568696"/>
            <a:ext cx="4032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Use one type family and only a few deliberate size differences.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76923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4688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ITT06105  /  DESKTOP PUBLISHING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235440" y="219456"/>
            <a:ext cx="2487168" cy="274320"/>
          </a:xfrm>
          <a:prstGeom prst="roundRect">
            <a:avLst>
              <a:gd name="adj" fmla="val 33333"/>
            </a:avLst>
          </a:prstGeom>
          <a:solidFill>
            <a:srgbClr val="EEF7F8"/>
          </a:solidFill>
          <a:ln w="12700">
            <a:solidFill>
              <a:srgbClr val="EEF7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345168" y="256032"/>
            <a:ext cx="22677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TEXT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21208" y="722376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simple hierarchy has a purpose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13258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level answers a different question for the reader.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30352" y="6382512"/>
            <a:ext cx="11128248" cy="0"/>
          </a:xfrm>
          <a:prstGeom prst="line">
            <a:avLst/>
          </a:prstGeom>
          <a:noFill/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39496" y="64602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DESKTOP PUBLISHING  •  GRAPHIC COMPOSITION  •  2026/2027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510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17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7784" y="2029968"/>
            <a:ext cx="3566160" cy="3575304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57784" y="2029968"/>
            <a:ext cx="82296" cy="3575304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216712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LEVEL 1: WHAT?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2596896"/>
            <a:ext cx="3255264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STAY SAFE ONLINE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central topic of the notice; bold and immediately visible.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06824" y="2029968"/>
            <a:ext cx="3566160" cy="3575304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306824" y="2029968"/>
            <a:ext cx="82296" cy="3575304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480560" y="216712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LEVEL 2: WHY?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480560" y="2596896"/>
            <a:ext cx="3255264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Learn simple steps to protect your accounts.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short explanation in smaller readable text.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055864" y="2029968"/>
            <a:ext cx="3566160" cy="3575304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055864" y="2029968"/>
            <a:ext cx="82296" cy="3575304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229600" y="216712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LEVEL 3: WHEN?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29600" y="2596896"/>
            <a:ext cx="3255264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Saturday • 10:00 AM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Practical detail separated clearly from the description.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76923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4688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ITT06105  /  DESKTOP PUBLISHING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235440" y="219456"/>
            <a:ext cx="2487168" cy="274320"/>
          </a:xfrm>
          <a:prstGeom prst="roundRect">
            <a:avLst>
              <a:gd name="adj" fmla="val 33333"/>
            </a:avLst>
          </a:prstGeom>
          <a:solidFill>
            <a:srgbClr val="EEF7F8"/>
          </a:solidFill>
          <a:ln w="12700">
            <a:solidFill>
              <a:srgbClr val="EEF7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345168" y="256032"/>
            <a:ext cx="22677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SHAPES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21208" y="722376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Shapes are useful when they organise information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13258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rectangle can be functional rather than decorative.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30352" y="6382512"/>
            <a:ext cx="11128248" cy="0"/>
          </a:xfrm>
          <a:prstGeom prst="line">
            <a:avLst/>
          </a:prstGeom>
          <a:noFill/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39496" y="64602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DESKTOP PUBLISHING  •  GRAPHIC COMPOSITION  •  2026/2027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510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18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7784" y="2048256"/>
            <a:ext cx="3566160" cy="3502152"/>
          </a:xfrm>
          <a:prstGeom prst="roundRect">
            <a:avLst>
              <a:gd name="adj" fmla="val 3916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57784" y="2048256"/>
            <a:ext cx="82296" cy="3502152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2185416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BANNER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2615184"/>
            <a:ext cx="3255264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Place a coloured rectangle behind the date when it improves legibility.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06824" y="2048256"/>
            <a:ext cx="3566160" cy="3502152"/>
          </a:xfrm>
          <a:prstGeom prst="roundRect">
            <a:avLst>
              <a:gd name="adj" fmla="val 3916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306824" y="2048256"/>
            <a:ext cx="82296" cy="3502152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480560" y="2185416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BACKGROUND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480560" y="2615184"/>
            <a:ext cx="3255264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Use a restrained pale shape to separate the main message from a busy image.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055864" y="2048256"/>
            <a:ext cx="3566160" cy="3502152"/>
          </a:xfrm>
          <a:prstGeom prst="roundRect">
            <a:avLst>
              <a:gd name="adj" fmla="val 3916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055864" y="2048256"/>
            <a:ext cx="82296" cy="3502152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229600" y="2185416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ACCENT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29600" y="2615184"/>
            <a:ext cx="3255264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small line or circle can indicate a section, but should not compete with the title.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76923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4688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ITT06105  /  DESKTOP PUBLISHING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235440" y="219456"/>
            <a:ext cx="2487168" cy="274320"/>
          </a:xfrm>
          <a:prstGeom prst="roundRect">
            <a:avLst>
              <a:gd name="adj" fmla="val 33333"/>
            </a:avLst>
          </a:prstGeom>
          <a:solidFill>
            <a:srgbClr val="EEF7F8"/>
          </a:solidFill>
          <a:ln w="12700">
            <a:solidFill>
              <a:srgbClr val="EEF7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345168" y="256032"/>
            <a:ext cx="22677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SHAPES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21208" y="722376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How to add a banner without creating clutter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13258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restrained shape should support the text above it.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30352" y="6382512"/>
            <a:ext cx="11128248" cy="0"/>
          </a:xfrm>
          <a:prstGeom prst="line">
            <a:avLst/>
          </a:prstGeom>
          <a:noFill/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39496" y="64602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DESKTOP PUBLISHING  •  GRAPHIC COMPOSITION  •  2026/2027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510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19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" y="2029968"/>
            <a:ext cx="5266944" cy="3575304"/>
          </a:xfrm>
          <a:prstGeom prst="roundRect">
            <a:avLst>
              <a:gd name="adj" fmla="val 3836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30936" y="2029968"/>
            <a:ext cx="82296" cy="3575304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04672" y="2167128"/>
            <a:ext cx="4946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Basic procedure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04672" y="2596896"/>
            <a:ext cx="4956048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8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Choose a shape tool, draw a rectangle, apply a modest fill colour, move it below the date text in the layer stack and check that the words remain legible.</a:t>
            </a:r>
            <a:endParaRPr lang="en-US" sz="1880" dirty="0"/>
          </a:p>
        </p:txBody>
      </p:sp>
      <p:sp>
        <p:nvSpPr>
          <p:cNvPr id="15" name="Shape 13"/>
          <p:cNvSpPr/>
          <p:nvPr/>
        </p:nvSpPr>
        <p:spPr>
          <a:xfrm>
            <a:off x="6080760" y="2029968"/>
            <a:ext cx="5394960" cy="3575304"/>
          </a:xfrm>
          <a:prstGeom prst="roundRect">
            <a:avLst>
              <a:gd name="adj" fmla="val 3836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080760" y="2029968"/>
            <a:ext cx="82296" cy="3575304"/>
          </a:xfrm>
          <a:prstGeom prst="rect">
            <a:avLst>
              <a:gd name="adj" fmla="val 111111"/>
            </a:avLst>
          </a:prstGeom>
          <a:solidFill>
            <a:srgbClr val="E8A34A"/>
          </a:solidFill>
          <a:ln w="12700">
            <a:solidFill>
              <a:srgbClr val="E8A34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254496" y="2167128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Common mistake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54496" y="2596896"/>
            <a:ext cx="5084064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8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 oversized or overly bright shape may attract more attention than the event title. Reduce its size, contrast or number of colours until the information is easier to scan.</a:t>
            </a:r>
            <a:endParaRPr lang="en-US" sz="188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76923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4688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ITT06105  /  DESKTOP PUBLISHING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235440" y="219456"/>
            <a:ext cx="2487168" cy="274320"/>
          </a:xfrm>
          <a:prstGeom prst="roundRect">
            <a:avLst>
              <a:gd name="adj" fmla="val 33333"/>
            </a:avLst>
          </a:prstGeom>
          <a:solidFill>
            <a:srgbClr val="EEF7F8"/>
          </a:solidFill>
          <a:ln w="12700">
            <a:solidFill>
              <a:srgbClr val="EEF7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345168" y="256032"/>
            <a:ext cx="22677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DESIGN RULES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21208" y="722376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Alignment gives the composition structure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13258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Related elements should share a clear visual edge or centre.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30352" y="6382512"/>
            <a:ext cx="11128248" cy="0"/>
          </a:xfrm>
          <a:prstGeom prst="line">
            <a:avLst/>
          </a:prstGeom>
          <a:noFill/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39496" y="64602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DESKTOP PUBLISHING  •  GRAPHIC COMPOSITION  •  2026/2027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510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7784" y="2039112"/>
            <a:ext cx="6355080" cy="3922776"/>
          </a:xfrm>
          <a:prstGeom prst="roundRect">
            <a:avLst>
              <a:gd name="adj" fmla="val 3263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pic>
        <p:nvPicPr>
          <p:cNvPr id="12" name="Image 0" descr="/mnt/data/ITT06105_Condensed_L05_Package/resources/Fig02_Alignment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2514915"/>
            <a:ext cx="6135624" cy="2962025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114032" y="2029968"/>
            <a:ext cx="4498848" cy="3931920"/>
          </a:xfrm>
          <a:prstGeom prst="roundRect">
            <a:avLst>
              <a:gd name="adj" fmla="val 3721"/>
            </a:avLst>
          </a:prstGeom>
          <a:solidFill>
            <a:srgbClr val="EEF7F8"/>
          </a:solidFill>
          <a:ln w="12700">
            <a:solidFill>
              <a:srgbClr val="EEF7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333488" y="2359152"/>
            <a:ext cx="408736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Compare the margins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333488" y="2971800"/>
            <a:ext cx="4014216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right-hand design aligns the heading, image and supporting line. Consistent edges help the eye move from one element to the next without unnecessary searching.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333488" y="5568696"/>
            <a:ext cx="4032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Intentional alignment is more important than perfect symmetry.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76923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4688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ITT06105  /  DESKTOP PUBLISHING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235440" y="219456"/>
            <a:ext cx="2487168" cy="274320"/>
          </a:xfrm>
          <a:prstGeom prst="roundRect">
            <a:avLst>
              <a:gd name="adj" fmla="val 33333"/>
            </a:avLst>
          </a:prstGeom>
          <a:solidFill>
            <a:srgbClr val="EEF7F8"/>
          </a:solidFill>
          <a:ln w="12700">
            <a:solidFill>
              <a:srgbClr val="EEF7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345168" y="256032"/>
            <a:ext cx="22677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DESIGN RULES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21208" y="722376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Spacing can explain relationships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13258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Objects that belong together should appear grouped together.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30352" y="6382512"/>
            <a:ext cx="11128248" cy="0"/>
          </a:xfrm>
          <a:prstGeom prst="line">
            <a:avLst/>
          </a:prstGeom>
          <a:noFill/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39496" y="64602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DESKTOP PUBLISHING  •  GRAPHIC COMPOSITION  •  2026/2027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510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7784" y="2048256"/>
            <a:ext cx="3566160" cy="3502152"/>
          </a:xfrm>
          <a:prstGeom prst="roundRect">
            <a:avLst>
              <a:gd name="adj" fmla="val 3916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57784" y="2048256"/>
            <a:ext cx="82296" cy="3502152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2185416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PROXIMITY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2615184"/>
            <a:ext cx="3255264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Keep the date and time close enough to be read as one piece of information.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06824" y="2048256"/>
            <a:ext cx="3566160" cy="3502152"/>
          </a:xfrm>
          <a:prstGeom prst="roundRect">
            <a:avLst>
              <a:gd name="adj" fmla="val 3916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306824" y="2048256"/>
            <a:ext cx="82296" cy="3502152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480560" y="2185416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WHITE SPACE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480560" y="2615184"/>
            <a:ext cx="3255264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Leave breathing room between the title, image and supporting information.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055864" y="2048256"/>
            <a:ext cx="3566160" cy="3502152"/>
          </a:xfrm>
          <a:prstGeom prst="roundRect">
            <a:avLst>
              <a:gd name="adj" fmla="val 3916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055864" y="2048256"/>
            <a:ext cx="82296" cy="3502152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229600" y="2185416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MARGINS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29600" y="2615184"/>
            <a:ext cx="3255264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Keep important text away from the outer edges of the notice.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76923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4688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ITT06105  /  DESKTOP PUBLISHING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235440" y="219456"/>
            <a:ext cx="2487168" cy="274320"/>
          </a:xfrm>
          <a:prstGeom prst="roundRect">
            <a:avLst>
              <a:gd name="adj" fmla="val 33333"/>
            </a:avLst>
          </a:prstGeom>
          <a:solidFill>
            <a:srgbClr val="EEF7F8"/>
          </a:solidFill>
          <a:ln w="12700">
            <a:solidFill>
              <a:srgbClr val="EEF7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345168" y="256032"/>
            <a:ext cx="22677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DESIGN RULES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21208" y="722376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Choose colours that keep words readable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13258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Colour is useful only when the contrast is sufficient.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30352" y="6382512"/>
            <a:ext cx="11128248" cy="0"/>
          </a:xfrm>
          <a:prstGeom prst="line">
            <a:avLst/>
          </a:prstGeom>
          <a:noFill/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39496" y="64602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DESKTOP PUBLISHING  •  GRAPHIC COMPOSITION  •  2026/2027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510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9224" y="2039112"/>
            <a:ext cx="5257800" cy="3575304"/>
          </a:xfrm>
          <a:prstGeom prst="roundRect">
            <a:avLst>
              <a:gd name="adj" fmla="val 3836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49224" y="2039112"/>
            <a:ext cx="82296" cy="3575304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22960" y="217627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Reasonable choices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" y="2606040"/>
            <a:ext cx="4946904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Dark navy words on white or pale backgrounds often read clearly. A teal banner can work with white text if the contrast is strong enough at the final viewing size.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6089904" y="2039112"/>
            <a:ext cx="5367528" cy="3575304"/>
          </a:xfrm>
          <a:prstGeom prst="roundRect">
            <a:avLst>
              <a:gd name="adj" fmla="val 3836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089904" y="2039112"/>
            <a:ext cx="82296" cy="3575304"/>
          </a:xfrm>
          <a:prstGeom prst="rect">
            <a:avLst>
              <a:gd name="adj" fmla="val 111111"/>
            </a:avLst>
          </a:prstGeom>
          <a:solidFill>
            <a:srgbClr val="E8A34A"/>
          </a:solidFill>
          <a:ln w="12700">
            <a:solidFill>
              <a:srgbClr val="E8A34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263640" y="2176272"/>
            <a:ext cx="5047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Avoid weak combinations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63640" y="2606040"/>
            <a:ext cx="5056632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3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Pale yellow text on white, bright red words on green or multicoloured decorative backgrounds may make reading difficult. Check the result on a small screen as well as on your computer.</a:t>
            </a:r>
            <a:endParaRPr lang="en-US" sz="1830" dirty="0"/>
          </a:p>
        </p:txBody>
      </p:sp>
      <p:sp>
        <p:nvSpPr>
          <p:cNvPr id="19" name="Shape 17"/>
          <p:cNvSpPr/>
          <p:nvPr/>
        </p:nvSpPr>
        <p:spPr>
          <a:xfrm>
            <a:off x="576072" y="5815584"/>
            <a:ext cx="11045952" cy="393192"/>
          </a:xfrm>
          <a:prstGeom prst="roundRect">
            <a:avLst>
              <a:gd name="adj" fmla="val 23256"/>
            </a:avLst>
          </a:prstGeom>
          <a:solidFill>
            <a:srgbClr val="DDF0F0"/>
          </a:solidFill>
          <a:ln w="12700">
            <a:solidFill>
              <a:srgbClr val="DDF0F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77240" y="5897880"/>
            <a:ext cx="10661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 not rely on colour alone to communicate a required fact.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76923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4688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ITT06105  /  DESKTOP PUBLISHING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235440" y="219456"/>
            <a:ext cx="2487168" cy="274320"/>
          </a:xfrm>
          <a:prstGeom prst="roundRect">
            <a:avLst>
              <a:gd name="adj" fmla="val 33333"/>
            </a:avLst>
          </a:prstGeom>
          <a:solidFill>
            <a:srgbClr val="EEF7F8"/>
          </a:solidFill>
          <a:ln w="12700">
            <a:solidFill>
              <a:srgbClr val="EEF7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345168" y="256032"/>
            <a:ext cx="22677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DESIGN RULES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21208" y="722376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Before adding a new effect, ask one question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13258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Does it make the message easier to understand?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30352" y="6382512"/>
            <a:ext cx="11128248" cy="0"/>
          </a:xfrm>
          <a:prstGeom prst="line">
            <a:avLst/>
          </a:prstGeom>
          <a:noFill/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39496" y="64602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DESKTOP PUBLISHING  •  GRAPHIC COMPOSITION  •  2026/2027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510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7784" y="2066544"/>
            <a:ext cx="3566160" cy="3465576"/>
          </a:xfrm>
          <a:prstGeom prst="roundRect">
            <a:avLst>
              <a:gd name="adj" fmla="val 3958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57784" y="2066544"/>
            <a:ext cx="82296" cy="3465576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2203704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KEEP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2633472"/>
            <a:ext cx="3255264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clear title, readable date, helpful picture and restrained shape.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06824" y="2066544"/>
            <a:ext cx="3566160" cy="3465576"/>
          </a:xfrm>
          <a:prstGeom prst="roundRect">
            <a:avLst>
              <a:gd name="adj" fmla="val 3958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306824" y="2066544"/>
            <a:ext cx="82296" cy="3465576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480560" y="2203704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REDUCE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480560" y="2633472"/>
            <a:ext cx="3255264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Too many colours, inconsistent text effects and unrelated icons.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055864" y="2066544"/>
            <a:ext cx="3566160" cy="3465576"/>
          </a:xfrm>
          <a:prstGeom prst="roundRect">
            <a:avLst>
              <a:gd name="adj" fmla="val 3958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055864" y="2066544"/>
            <a:ext cx="82296" cy="3465576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229600" y="2203704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REMOVE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29600" y="2633472"/>
            <a:ext cx="3255264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Decorations that overlap text or make the image harder to understand.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76923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4688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ITT06105  /  DESKTOP PUBLISHING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235440" y="219456"/>
            <a:ext cx="2487168" cy="274320"/>
          </a:xfrm>
          <a:prstGeom prst="roundRect">
            <a:avLst>
              <a:gd name="adj" fmla="val 33333"/>
            </a:avLst>
          </a:prstGeom>
          <a:solidFill>
            <a:srgbClr val="EEF7F8"/>
          </a:solidFill>
          <a:ln w="12700">
            <a:solidFill>
              <a:srgbClr val="EEF7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345168" y="256032"/>
            <a:ext cx="22677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21208" y="722376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does non-destructive editing mean?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13258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 means keeping choices reversible rather than damaging your only source.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30352" y="6382512"/>
            <a:ext cx="11128248" cy="0"/>
          </a:xfrm>
          <a:prstGeom prst="line">
            <a:avLst/>
          </a:prstGeom>
          <a:noFill/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39496" y="64602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DESKTOP PUBLISHING  •  GRAPHIC COMPOSITION  •  2026/2027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510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24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" y="2029968"/>
            <a:ext cx="5285232" cy="3593592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30936" y="2029968"/>
            <a:ext cx="82296" cy="3593592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04672" y="2167128"/>
            <a:ext cx="4965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Simple beginner method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04672" y="2596896"/>
            <a:ext cx="4974336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6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Duplicate the image layer before testing changes. Keep the original beneath it, then hide or delete the copy if you dislike the result. Your source remains available.</a:t>
            </a:r>
            <a:endParaRPr lang="en-US" sz="1860" dirty="0"/>
          </a:p>
        </p:txBody>
      </p:sp>
      <p:sp>
        <p:nvSpPr>
          <p:cNvPr id="15" name="Shape 13"/>
          <p:cNvSpPr/>
          <p:nvPr/>
        </p:nvSpPr>
        <p:spPr>
          <a:xfrm>
            <a:off x="6089904" y="2029968"/>
            <a:ext cx="5340096" cy="3593592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089904" y="2029968"/>
            <a:ext cx="82296" cy="3593592"/>
          </a:xfrm>
          <a:prstGeom prst="rect">
            <a:avLst>
              <a:gd name="adj" fmla="val 111111"/>
            </a:avLst>
          </a:prstGeom>
          <a:solidFill>
            <a:srgbClr val="E8A34A"/>
          </a:solidFill>
          <a:ln w="12700">
            <a:solidFill>
              <a:srgbClr val="E8A34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263640" y="2167128"/>
            <a:ext cx="5020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Another method: layer masks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63640" y="2596896"/>
            <a:ext cx="5029200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6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mask hides or reveals parts of a layer without erasing those pixels permanently. Detailed selections are optional for this condensed practical.</a:t>
            </a:r>
            <a:endParaRPr lang="en-US" sz="1860" dirty="0"/>
          </a:p>
        </p:txBody>
      </p:sp>
      <p:sp>
        <p:nvSpPr>
          <p:cNvPr id="19" name="Shape 17"/>
          <p:cNvSpPr/>
          <p:nvPr/>
        </p:nvSpPr>
        <p:spPr>
          <a:xfrm>
            <a:off x="576072" y="5797296"/>
            <a:ext cx="11045952" cy="393192"/>
          </a:xfrm>
          <a:prstGeom prst="roundRect">
            <a:avLst>
              <a:gd name="adj" fmla="val 23256"/>
            </a:avLst>
          </a:prstGeom>
          <a:solidFill>
            <a:srgbClr val="DDF0F0"/>
          </a:solidFill>
          <a:ln w="12700">
            <a:solidFill>
              <a:srgbClr val="DDF0F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77240" y="5879592"/>
            <a:ext cx="10661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You do not need an advanced mask to complete a simple rectangular picture layout.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76923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4688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ITT06105  /  DESKTOP PUBLISHING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235440" y="219456"/>
            <a:ext cx="2487168" cy="274320"/>
          </a:xfrm>
          <a:prstGeom prst="roundRect">
            <a:avLst>
              <a:gd name="adj" fmla="val 33333"/>
            </a:avLst>
          </a:prstGeom>
          <a:solidFill>
            <a:srgbClr val="EEF7F8"/>
          </a:solidFill>
          <a:ln w="12700">
            <a:solidFill>
              <a:srgbClr val="EEF7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345168" y="256032"/>
            <a:ext cx="22677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21208" y="722376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layer mask controls what is visible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13258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 a normal mask: white reveals the image, black hides it.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30352" y="6382512"/>
            <a:ext cx="11128248" cy="0"/>
          </a:xfrm>
          <a:prstGeom prst="line">
            <a:avLst/>
          </a:prstGeom>
          <a:noFill/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39496" y="64602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DESKTOP PUBLISHING  •  GRAPHIC COMPOSITION  •  2026/2027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510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25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7784" y="2039112"/>
            <a:ext cx="6355080" cy="3922776"/>
          </a:xfrm>
          <a:prstGeom prst="roundRect">
            <a:avLst>
              <a:gd name="adj" fmla="val 3263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pic>
        <p:nvPicPr>
          <p:cNvPr id="12" name="Image 0" descr="/mnt/data/ITT06105_Condensed_L05_Package/resources/Fig04_Mask_Show_H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2726489"/>
            <a:ext cx="6135624" cy="2538879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114032" y="2029968"/>
            <a:ext cx="4498848" cy="3931920"/>
          </a:xfrm>
          <a:prstGeom prst="roundRect">
            <a:avLst>
              <a:gd name="adj" fmla="val 3721"/>
            </a:avLst>
          </a:prstGeom>
          <a:solidFill>
            <a:srgbClr val="EEF7F8"/>
          </a:solidFill>
          <a:ln w="12700">
            <a:solidFill>
              <a:srgbClr val="EEF7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333488" y="2359152"/>
            <a:ext cx="408736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pixels remain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333488" y="2971800"/>
            <a:ext cx="4014216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mask changes the visibility of part of a layer rather than permanently deleting that part of the source image. For this course, understand the idea; complex hair or edge selections are extension practice.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76923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4688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ITT06105  /  DESKTOP PUBLISHING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235440" y="219456"/>
            <a:ext cx="2487168" cy="274320"/>
          </a:xfrm>
          <a:prstGeom prst="roundRect">
            <a:avLst>
              <a:gd name="adj" fmla="val 33333"/>
            </a:avLst>
          </a:prstGeom>
          <a:solidFill>
            <a:srgbClr val="EEF7F8"/>
          </a:solidFill>
          <a:ln w="12700">
            <a:solidFill>
              <a:srgbClr val="EEF7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345168" y="256032"/>
            <a:ext cx="22677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DEMONSTRATION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21208" y="722376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five-stage workflow is enough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13258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Use a repeatable routine rather than experimenting with many unrelated commands.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30352" y="6382512"/>
            <a:ext cx="11128248" cy="0"/>
          </a:xfrm>
          <a:prstGeom prst="line">
            <a:avLst/>
          </a:prstGeom>
          <a:noFill/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39496" y="64602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DESKTOP PUBLISHING  •  GRAPHIC COMPOSITION  •  2026/2027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510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" y="2112264"/>
            <a:ext cx="10917936" cy="3337560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pic>
        <p:nvPicPr>
          <p:cNvPr id="12" name="Image 0" descr="/mnt/data/ITT06105_Condensed_L05_Package/resources/Fig05_Composition_Work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2351902"/>
            <a:ext cx="10597896" cy="2876572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76072" y="5824728"/>
            <a:ext cx="11045952" cy="393192"/>
          </a:xfrm>
          <a:prstGeom prst="roundRect">
            <a:avLst>
              <a:gd name="adj" fmla="val 23256"/>
            </a:avLst>
          </a:prstGeom>
          <a:solidFill>
            <a:srgbClr val="DDF0F0"/>
          </a:solidFill>
          <a:ln w="12700">
            <a:solidFill>
              <a:srgbClr val="DDF0F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77240" y="5907024"/>
            <a:ext cx="10661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Save the PSD before exporting; then inspect the finished image outside Photoshop.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76923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4688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ITT06105  /  DESKTOP PUBLISHING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235440" y="219456"/>
            <a:ext cx="2487168" cy="274320"/>
          </a:xfrm>
          <a:prstGeom prst="roundRect">
            <a:avLst>
              <a:gd name="adj" fmla="val 33333"/>
            </a:avLst>
          </a:prstGeom>
          <a:solidFill>
            <a:srgbClr val="EEF7F8"/>
          </a:solidFill>
          <a:ln w="12700">
            <a:solidFill>
              <a:srgbClr val="EEF7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345168" y="256032"/>
            <a:ext cx="22677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GUIDED PRACTICE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21208" y="722376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Step 1: start and save a working project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13258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Use the same folder arrangement developed in Lecture 4.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30352" y="6382512"/>
            <a:ext cx="11128248" cy="0"/>
          </a:xfrm>
          <a:prstGeom prst="line">
            <a:avLst/>
          </a:prstGeom>
          <a:noFill/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39496" y="64602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DESKTOP PUBLISHING  •  GRAPHIC COMPOSITION  •  2026/2027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510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27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" y="2029968"/>
            <a:ext cx="5285232" cy="3611880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21792" y="2029968"/>
            <a:ext cx="82296" cy="3611880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95528" y="2167128"/>
            <a:ext cx="4965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Open a new document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95528" y="2596896"/>
            <a:ext cx="4974336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Create a portrait document of about 1000 × 1350 pixels. Save as 02_Working_Files/tumaini_event_notice.psd. Do not overwrite the original illustration.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6089904" y="2029968"/>
            <a:ext cx="5394960" cy="3611880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089904" y="2029968"/>
            <a:ext cx="82296" cy="3611880"/>
          </a:xfrm>
          <a:prstGeom prst="rect">
            <a:avLst>
              <a:gd name="adj" fmla="val 111111"/>
            </a:avLst>
          </a:prstGeom>
          <a:solidFill>
            <a:srgbClr val="E8A34A"/>
          </a:solidFill>
          <a:ln w="12700">
            <a:solidFill>
              <a:srgbClr val="E8A34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263640" y="2167128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Place the illustration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63640" y="2596896"/>
            <a:ext cx="5084064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Use the supplied cropped Tumaini picture. Scale it proportionally and leave space for a heading and a date banner. Keep it on a named image layer.</a:t>
            </a:r>
            <a:endParaRPr lang="en-US" sz="1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76923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4688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ITT06105  /  DESKTOP PUBLISHING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235440" y="219456"/>
            <a:ext cx="2487168" cy="274320"/>
          </a:xfrm>
          <a:prstGeom prst="roundRect">
            <a:avLst>
              <a:gd name="adj" fmla="val 33333"/>
            </a:avLst>
          </a:prstGeom>
          <a:solidFill>
            <a:srgbClr val="EEF7F8"/>
          </a:solidFill>
          <a:ln w="12700">
            <a:solidFill>
              <a:srgbClr val="EEF7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345168" y="256032"/>
            <a:ext cx="22677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GUIDED PRACTICE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21208" y="722376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Step 2: write the message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13258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Use the provided copy rather than inventing detailed event information.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30352" y="6382512"/>
            <a:ext cx="11128248" cy="0"/>
          </a:xfrm>
          <a:prstGeom prst="line">
            <a:avLst/>
          </a:prstGeom>
          <a:noFill/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39496" y="64602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DESKTOP PUBLISHING  •  GRAPHIC COMPOSITION  •  2026/2027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510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28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7784" y="2057400"/>
            <a:ext cx="3566160" cy="361188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57784" y="2057400"/>
            <a:ext cx="82296" cy="3611880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219456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ORGANISATION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2624328"/>
            <a:ext cx="3255264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Tumaini Community Learning Centre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Small but clearly visible at the top.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06824" y="2057400"/>
            <a:ext cx="3566160" cy="361188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306824" y="2057400"/>
            <a:ext cx="82296" cy="3611880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480560" y="219456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MAIN TITLE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480560" y="2624328"/>
            <a:ext cx="3255264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STAY SAFE ONLINE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prominent heading with strong contrast.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055864" y="2057400"/>
            <a:ext cx="3566160" cy="361188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055864" y="2057400"/>
            <a:ext cx="82296" cy="3611880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229600" y="219456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SUPPORTING DETAILS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29600" y="2624328"/>
            <a:ext cx="3255264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Learn simple steps to protect your accounts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Saturday • 10:00 AM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Keep the two lines readable.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76923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4688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ITT06105  /  DESKTOP PUBLISHING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235440" y="219456"/>
            <a:ext cx="2487168" cy="274320"/>
          </a:xfrm>
          <a:prstGeom prst="roundRect">
            <a:avLst>
              <a:gd name="adj" fmla="val 33333"/>
            </a:avLst>
          </a:prstGeom>
          <a:solidFill>
            <a:srgbClr val="EEF7F8"/>
          </a:solidFill>
          <a:ln w="12700">
            <a:solidFill>
              <a:srgbClr val="EEF7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345168" y="256032"/>
            <a:ext cx="22677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GUIDED PRACTICE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21208" y="722376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Step 3: improve the arrangement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13258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Small changes to spacing and alignment often matter more than special effects.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30352" y="6382512"/>
            <a:ext cx="11128248" cy="0"/>
          </a:xfrm>
          <a:prstGeom prst="line">
            <a:avLst/>
          </a:prstGeom>
          <a:noFill/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39496" y="64602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DESKTOP PUBLISHING  •  GRAPHIC COMPOSITION  •  2026/2027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510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29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7784" y="2057400"/>
            <a:ext cx="3566160" cy="347472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57784" y="2057400"/>
            <a:ext cx="82296" cy="3474720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219456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ALIGN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2624328"/>
            <a:ext cx="3255264" cy="277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Use a consistent left or centre line for the main components.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06824" y="2057400"/>
            <a:ext cx="3566160" cy="347472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306824" y="2057400"/>
            <a:ext cx="82296" cy="3474720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480560" y="219456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SEPARATE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480560" y="2624328"/>
            <a:ext cx="3255264" cy="277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Keep the title, image and date distinct enough to scan.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055864" y="2057400"/>
            <a:ext cx="3566160" cy="347472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055864" y="2057400"/>
            <a:ext cx="82296" cy="3474720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229600" y="219456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CHECK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29600" y="2624328"/>
            <a:ext cx="3255264" cy="277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View the poster at reduced size. If the date is hard to read, improve it.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76923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4688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ITT06105  /  DESKTOP PUBLISHING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235440" y="219456"/>
            <a:ext cx="2487168" cy="274320"/>
          </a:xfrm>
          <a:prstGeom prst="roundRect">
            <a:avLst>
              <a:gd name="adj" fmla="val 33333"/>
            </a:avLst>
          </a:prstGeom>
          <a:solidFill>
            <a:srgbClr val="EEF7F8"/>
          </a:solidFill>
          <a:ln w="12700">
            <a:solidFill>
              <a:srgbClr val="EEF7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345168" y="256032"/>
            <a:ext cx="22677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GUIDED PRACTICE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21208" y="722376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Step 4: make the file easy to revise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13258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Your layers should tell the next person what the document contains.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30352" y="6382512"/>
            <a:ext cx="11128248" cy="0"/>
          </a:xfrm>
          <a:prstGeom prst="line">
            <a:avLst/>
          </a:prstGeom>
          <a:noFill/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39496" y="64602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DESKTOP PUBLISHING  •  GRAPHIC COMPOSITION  •  2026/2027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510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029968"/>
            <a:ext cx="5257800" cy="356616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40080" y="2029968"/>
            <a:ext cx="82296" cy="3566160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13816" y="216712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Suggested layer structure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13816" y="2596896"/>
            <a:ext cx="4946904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Headline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Date banner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Photo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Background</a:t>
            </a:r>
            <a:endParaRPr lang="en-US" sz="1900" dirty="0"/>
          </a:p>
          <a:p>
            <a:pPr algn="l" indent="0" marL="0">
              <a:buNone/>
            </a:pP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Place elements in a sensible order for the design.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6099048" y="2029968"/>
            <a:ext cx="5367528" cy="356616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099048" y="2029968"/>
            <a:ext cx="82296" cy="3566160"/>
          </a:xfrm>
          <a:prstGeom prst="rect">
            <a:avLst>
              <a:gd name="adj" fmla="val 111111"/>
            </a:avLst>
          </a:prstGeom>
          <a:solidFill>
            <a:srgbClr val="E8A34A"/>
          </a:solidFill>
          <a:ln w="12700">
            <a:solidFill>
              <a:srgbClr val="E8A34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272784" y="2167128"/>
            <a:ext cx="5047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to preserve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72784" y="2596896"/>
            <a:ext cx="5056632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Editable text, correctly scaled image and an organised background. Avoid unnecessary rasterising or flattening before saving the PSD.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576072" y="5806440"/>
            <a:ext cx="11045952" cy="393192"/>
          </a:xfrm>
          <a:prstGeom prst="roundRect">
            <a:avLst>
              <a:gd name="adj" fmla="val 23256"/>
            </a:avLst>
          </a:prstGeom>
          <a:solidFill>
            <a:srgbClr val="DDF0F0"/>
          </a:solidFill>
          <a:ln w="12700">
            <a:solidFill>
              <a:srgbClr val="DDF0F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77240" y="5888736"/>
            <a:ext cx="10661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exact layer order may differ if objects do not overlap; preserve readability.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76923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4688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ITT06105  /  DESKTOP PUBLISHING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235440" y="219456"/>
            <a:ext cx="2487168" cy="274320"/>
          </a:xfrm>
          <a:prstGeom prst="roundRect">
            <a:avLst>
              <a:gd name="adj" fmla="val 33333"/>
            </a:avLst>
          </a:prstGeom>
          <a:solidFill>
            <a:srgbClr val="EEF7F8"/>
          </a:solidFill>
          <a:ln w="12700">
            <a:solidFill>
              <a:srgbClr val="EEF7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345168" y="256032"/>
            <a:ext cx="22677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GUIDED PRACTICE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21208" y="722376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Step 5: export the finished notice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13258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Keep the editable project separate from the copy intended for sharing.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30352" y="6382512"/>
            <a:ext cx="11128248" cy="0"/>
          </a:xfrm>
          <a:prstGeom prst="line">
            <a:avLst/>
          </a:prstGeom>
          <a:noFill/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39496" y="64602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DESKTOP PUBLISHING  •  GRAPHIC COMPOSITION  •  2026/2027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510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011680"/>
            <a:ext cx="5266944" cy="3611880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40080" y="2011680"/>
            <a:ext cx="82296" cy="3611880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13816" y="2148840"/>
            <a:ext cx="4946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Editable project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13816" y="2578608"/>
            <a:ext cx="4956048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8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Save tumaini_event_notice.psd in Working_Files. Reopen or inspect it and confirm that the main text and image layers can still be edited.</a:t>
            </a:r>
            <a:endParaRPr lang="en-US" sz="1880" dirty="0"/>
          </a:p>
        </p:txBody>
      </p:sp>
      <p:sp>
        <p:nvSpPr>
          <p:cNvPr id="15" name="Shape 13"/>
          <p:cNvSpPr/>
          <p:nvPr/>
        </p:nvSpPr>
        <p:spPr>
          <a:xfrm>
            <a:off x="6080760" y="2011680"/>
            <a:ext cx="5394960" cy="3611880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080760" y="2011680"/>
            <a:ext cx="82296" cy="3611880"/>
          </a:xfrm>
          <a:prstGeom prst="rect">
            <a:avLst>
              <a:gd name="adj" fmla="val 111111"/>
            </a:avLst>
          </a:prstGeom>
          <a:solidFill>
            <a:srgbClr val="E8A34A"/>
          </a:solidFill>
          <a:ln w="12700">
            <a:solidFill>
              <a:srgbClr val="E8A34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254496" y="2148840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Exported file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54496" y="2578608"/>
            <a:ext cx="5084064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8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Export tumaini_event_notice.png or .jpg into Exports. Reopen it outside the editor. Check text, colour, event time, picture and cropping.</a:t>
            </a:r>
            <a:endParaRPr lang="en-US" sz="188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76923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4688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ITT06105  /  DESKTOP PUBLISHING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235440" y="219456"/>
            <a:ext cx="2487168" cy="274320"/>
          </a:xfrm>
          <a:prstGeom prst="roundRect">
            <a:avLst>
              <a:gd name="adj" fmla="val 33333"/>
            </a:avLst>
          </a:prstGeom>
          <a:solidFill>
            <a:srgbClr val="EEF7F8"/>
          </a:solidFill>
          <a:ln w="12700">
            <a:solidFill>
              <a:srgbClr val="EEF7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345168" y="256032"/>
            <a:ext cx="22677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QUALITY REVIEW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21208" y="722376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good design still needs a final check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13258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intended audience sees the exported file, not your Layers panel.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30352" y="6382512"/>
            <a:ext cx="11128248" cy="0"/>
          </a:xfrm>
          <a:prstGeom prst="line">
            <a:avLst/>
          </a:prstGeom>
          <a:noFill/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39496" y="64602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DESKTOP PUBLISHING  •  GRAPHIC COMPOSITION  •  2026/2027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510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7784" y="2048256"/>
            <a:ext cx="3566160" cy="3511296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57784" y="2048256"/>
            <a:ext cx="82296" cy="3511296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2185416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ACCURACY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2615184"/>
            <a:ext cx="3255264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Is the title correct? Are the date and time clear and consistent with the supplied brief?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06824" y="2048256"/>
            <a:ext cx="3566160" cy="3511296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306824" y="2048256"/>
            <a:ext cx="82296" cy="3511296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480560" y="2185416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READABILITY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480560" y="2615184"/>
            <a:ext cx="3255264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Can the heading and date be read on a phone or when the slide is shown smaller?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055864" y="2048256"/>
            <a:ext cx="3566160" cy="3511296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055864" y="2048256"/>
            <a:ext cx="82296" cy="3511296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229600" y="2185416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FILE QUALITY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29600" y="2615184"/>
            <a:ext cx="3255264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Does the export open properly? Is the PSD still available for revisions?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76923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4688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ITT06105  /  DESKTOP PUBLISHING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235440" y="219456"/>
            <a:ext cx="2487168" cy="274320"/>
          </a:xfrm>
          <a:prstGeom prst="roundRect">
            <a:avLst>
              <a:gd name="adj" fmla="val 33333"/>
            </a:avLst>
          </a:prstGeom>
          <a:solidFill>
            <a:srgbClr val="EEF7F8"/>
          </a:solidFill>
          <a:ln w="12700">
            <a:solidFill>
              <a:srgbClr val="EEF7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345168" y="256032"/>
            <a:ext cx="22677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TROUBLESHOOTING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21208" y="722376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Solve the common problems first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13258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Most beginner problems have a straightforward cause.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30352" y="6382512"/>
            <a:ext cx="11128248" cy="0"/>
          </a:xfrm>
          <a:prstGeom prst="line">
            <a:avLst/>
          </a:prstGeom>
          <a:noFill/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39496" y="64602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DESKTOP PUBLISHING  •  GRAPHIC COMPOSITION  •  2026/2027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510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7784" y="2039112"/>
            <a:ext cx="3566160" cy="3502152"/>
          </a:xfrm>
          <a:prstGeom prst="roundRect">
            <a:avLst>
              <a:gd name="adj" fmla="val 3916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57784" y="2039112"/>
            <a:ext cx="82296" cy="3502152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2176272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TEXT DISAPPEARS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2606040"/>
            <a:ext cx="3255264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Check whether the text layer is hidden or below an opaque image.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06824" y="2039112"/>
            <a:ext cx="3566160" cy="3502152"/>
          </a:xfrm>
          <a:prstGeom prst="roundRect">
            <a:avLst>
              <a:gd name="adj" fmla="val 3916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306824" y="2039112"/>
            <a:ext cx="82296" cy="3502152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480560" y="2176272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IMAGE STRETCHES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480560" y="2606040"/>
            <a:ext cx="3255264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Undo the change and resize with proportions constrained.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055864" y="2039112"/>
            <a:ext cx="3566160" cy="3502152"/>
          </a:xfrm>
          <a:prstGeom prst="roundRect">
            <a:avLst>
              <a:gd name="adj" fmla="val 3916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055864" y="2039112"/>
            <a:ext cx="82296" cy="3502152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229600" y="2176272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DATE IS UNREADABLE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29600" y="2606040"/>
            <a:ext cx="3255264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Increase contrast or type size; reduce clutter and retest at smaller size.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76923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4688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ITT06105  /  DESKTOP PUBLISHING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235440" y="219456"/>
            <a:ext cx="2487168" cy="274320"/>
          </a:xfrm>
          <a:prstGeom prst="roundRect">
            <a:avLst>
              <a:gd name="adj" fmla="val 33333"/>
            </a:avLst>
          </a:prstGeom>
          <a:solidFill>
            <a:srgbClr val="EEF7F8"/>
          </a:solidFill>
          <a:ln w="12700">
            <a:solidFill>
              <a:srgbClr val="EEF7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345168" y="256032"/>
            <a:ext cx="22677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STUDENT ACTIVITY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21208" y="722376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Your short independent practical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13258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Build one clear notice; do not spend the whole session on decorative effects.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30352" y="6382512"/>
            <a:ext cx="11128248" cy="0"/>
          </a:xfrm>
          <a:prstGeom prst="line">
            <a:avLst/>
          </a:prstGeom>
          <a:noFill/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39496" y="64602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DESKTOP PUBLISHING  •  GRAPHIC COMPOSITION  •  2026/2027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510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34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" y="2057400"/>
            <a:ext cx="5358384" cy="3538728"/>
          </a:xfrm>
          <a:prstGeom prst="roundRect">
            <a:avLst>
              <a:gd name="adj" fmla="val 3876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21792" y="2057400"/>
            <a:ext cx="82296" cy="3538728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95528" y="2194560"/>
            <a:ext cx="5038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Minimum checklist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95528" y="2624328"/>
            <a:ext cx="504748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8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□ Prepared source image used</a:t>
            </a:r>
            <a:endParaRPr lang="en-US" sz="1780" dirty="0"/>
          </a:p>
          <a:p>
            <a:pPr algn="l" indent="0" marL="0">
              <a:buNone/>
            </a:pPr>
            <a:r>
              <a:rPr lang="en-US" sz="178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□ Main heading and supporting text</a:t>
            </a:r>
            <a:endParaRPr lang="en-US" sz="1780" dirty="0"/>
          </a:p>
          <a:p>
            <a:pPr algn="l" indent="0" marL="0">
              <a:buNone/>
            </a:pPr>
            <a:r>
              <a:rPr lang="en-US" sz="178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□ Separate text, image and shape layers</a:t>
            </a:r>
            <a:endParaRPr lang="en-US" sz="1780" dirty="0"/>
          </a:p>
          <a:p>
            <a:pPr algn="l" indent="0" marL="0">
              <a:buNone/>
            </a:pPr>
            <a:r>
              <a:rPr lang="en-US" sz="178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□ Clear hierarchy, contrast and margins</a:t>
            </a:r>
            <a:endParaRPr lang="en-US" sz="1780" dirty="0"/>
          </a:p>
          <a:p>
            <a:pPr algn="l" indent="0" marL="0">
              <a:buNone/>
            </a:pPr>
            <a:r>
              <a:rPr lang="en-US" sz="178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□ Editable PSD file saved</a:t>
            </a:r>
            <a:endParaRPr lang="en-US" sz="1780" dirty="0"/>
          </a:p>
          <a:p>
            <a:pPr algn="l" indent="0" marL="0">
              <a:buNone/>
            </a:pPr>
            <a:r>
              <a:rPr lang="en-US" sz="178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□ PNG/JPEG export reopened and checked</a:t>
            </a:r>
            <a:endParaRPr lang="en-US" sz="1780" dirty="0"/>
          </a:p>
        </p:txBody>
      </p:sp>
      <p:sp>
        <p:nvSpPr>
          <p:cNvPr id="15" name="Shape 13"/>
          <p:cNvSpPr/>
          <p:nvPr/>
        </p:nvSpPr>
        <p:spPr>
          <a:xfrm>
            <a:off x="6181344" y="2057400"/>
            <a:ext cx="5257800" cy="3538728"/>
          </a:xfrm>
          <a:prstGeom prst="roundRect">
            <a:avLst>
              <a:gd name="adj" fmla="val 3876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181344" y="2057400"/>
            <a:ext cx="82296" cy="3538728"/>
          </a:xfrm>
          <a:prstGeom prst="rect">
            <a:avLst>
              <a:gd name="adj" fmla="val 111111"/>
            </a:avLst>
          </a:prstGeom>
          <a:solidFill>
            <a:srgbClr val="E8A34A"/>
          </a:solidFill>
          <a:ln w="12700">
            <a:solidFill>
              <a:srgbClr val="E8A34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355080" y="219456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to submit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55080" y="2624328"/>
            <a:ext cx="494690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3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 editable event notice, one exported image and a short written explanation of two design decisions. When software is unavailable, sketch the layered design now and complete the digital file in practical time.</a:t>
            </a:r>
            <a:endParaRPr lang="en-US" sz="183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76923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4688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ITT06105  /  DESKTOP PUBLISHING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235440" y="219456"/>
            <a:ext cx="2487168" cy="274320"/>
          </a:xfrm>
          <a:prstGeom prst="roundRect">
            <a:avLst>
              <a:gd name="adj" fmla="val 33333"/>
            </a:avLst>
          </a:prstGeom>
          <a:solidFill>
            <a:srgbClr val="EEF7F8"/>
          </a:solidFill>
          <a:ln w="12700">
            <a:solidFill>
              <a:srgbClr val="EEF7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345168" y="256032"/>
            <a:ext cx="22677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REVISION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21208" y="722376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Can you answer these questions?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13258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Use the notes and diagrams to explain, not just list, the concepts.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30352" y="6382512"/>
            <a:ext cx="11128248" cy="0"/>
          </a:xfrm>
          <a:prstGeom prst="line">
            <a:avLst/>
          </a:prstGeom>
          <a:noFill/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39496" y="64602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DESKTOP PUBLISHING  •  GRAPHIC COMPOSITION  •  2026/2027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510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35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7784" y="2029968"/>
            <a:ext cx="3566160" cy="3602736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57784" y="2029968"/>
            <a:ext cx="82296" cy="3602736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216712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QUESTION 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2596896"/>
            <a:ext cx="3255264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How does changing the position of a layer affect overlapping objects?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06824" y="2029968"/>
            <a:ext cx="3566160" cy="3602736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306824" y="2029968"/>
            <a:ext cx="82296" cy="3602736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480560" y="216712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QUESTION 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480560" y="2596896"/>
            <a:ext cx="3255264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Explain how hierarchy, alignment and spacing work together in a notice.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055864" y="2029968"/>
            <a:ext cx="3566160" cy="3602736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055864" y="2029968"/>
            <a:ext cx="82296" cy="3602736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229600" y="216712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QUESTION 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29600" y="2596896"/>
            <a:ext cx="3255264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is the difference between a Photoshop PSD and a PNG/JPEG export?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76923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4688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ITT06105  /  DESKTOP PUBLISHING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235440" y="219456"/>
            <a:ext cx="2487168" cy="274320"/>
          </a:xfrm>
          <a:prstGeom prst="roundRect">
            <a:avLst>
              <a:gd name="adj" fmla="val 33333"/>
            </a:avLst>
          </a:prstGeom>
          <a:solidFill>
            <a:srgbClr val="EEF7F8"/>
          </a:solidFill>
          <a:ln w="12700">
            <a:solidFill>
              <a:srgbClr val="EEF7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345168" y="256032"/>
            <a:ext cx="22677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TAKEAWAY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21208" y="722376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Keep the design simple and editable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13258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message is more important than the number of tools you used.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30352" y="6382512"/>
            <a:ext cx="11128248" cy="0"/>
          </a:xfrm>
          <a:prstGeom prst="line">
            <a:avLst/>
          </a:prstGeom>
          <a:noFill/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39496" y="64602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DESKTOP PUBLISHING  •  GRAPHIC COMPOSITION  •  2026/2027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510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" y="2029968"/>
            <a:ext cx="10917936" cy="3566160"/>
          </a:xfrm>
          <a:prstGeom prst="roundRect">
            <a:avLst>
              <a:gd name="adj" fmla="val 4615"/>
            </a:avLst>
          </a:prstGeom>
          <a:solidFill>
            <a:srgbClr val="EEF7F8"/>
          </a:solidFill>
          <a:ln w="12700">
            <a:solidFill>
              <a:srgbClr val="EEF7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97280" y="2642616"/>
            <a:ext cx="99669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Image  +  Shapes  +  Editable Text  +  Space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1399032" y="3749040"/>
            <a:ext cx="93634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Good composition guides attention, preserves editability and produces a clear final export.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24128" y="5824728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NEXT: Create simple scalable artwork using vector graphics.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ITT06105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Condensed Lecture 05 - Basic Image Editing and Graphic Composition</dc:title>
  <dc:subject>Condensed lecture 5 Basic Image Editing and Graphic Composition</dc:subject>
  <dc:creator>ITT06105 Teaching Materials</dc:creator>
  <cp:lastModifiedBy>ITT06105 Teaching Materials</cp:lastModifiedBy>
  <cp:revision>1</cp:revision>
  <dcterms:created xsi:type="dcterms:W3CDTF">2026-10-21T17:03:23Z</dcterms:created>
  <dcterms:modified xsi:type="dcterms:W3CDTF">2026-10-21T17:03:23Z</dcterms:modified>
</cp:coreProperties>
</file>