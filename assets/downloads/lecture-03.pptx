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>
              <a:gd name="adj" fmla="val 50000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778240" y="0"/>
            <a:ext cx="3419856" cy="6858000"/>
          </a:xfrm>
          <a:prstGeom prst="rect">
            <a:avLst>
              <a:gd name="adj" fmla="val 3209"/>
            </a:avLst>
          </a:prstGeom>
          <a:solidFill>
            <a:srgbClr val="193047"/>
          </a:solidFill>
          <a:ln w="12700">
            <a:solidFill>
              <a:srgbClr val="19304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89720" y="1188720"/>
            <a:ext cx="2468880" cy="640080"/>
          </a:xfrm>
          <a:prstGeom prst="roundRect">
            <a:avLst>
              <a:gd name="adj" fmla="val 17143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89720" y="2048256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89720" y="324612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89720" y="4471416"/>
            <a:ext cx="2468880" cy="640080"/>
          </a:xfrm>
          <a:prstGeom prst="roundRect">
            <a:avLst>
              <a:gd name="adj" fmla="val 1714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86384" y="93268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LECTURE 03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572768"/>
            <a:ext cx="7680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Planning and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Organising a Publication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841248" y="4343400"/>
            <a:ext cx="7223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clear purpose and audience to a simple, readable page.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2104" y="6245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•   Ordinary Diploma in Information Technology   •   2026/2027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By the end of this lecture...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should be able to plan an A4 hand-out before opening a design application.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52303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31520" y="1965960"/>
            <a:ext cx="77724" cy="1536192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50976" y="214884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Define purpose and audience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50976" y="2679191"/>
            <a:ext cx="4791456" cy="71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the publication is needed and identify who will read 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59" y="1965960"/>
            <a:ext cx="52303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59" y="1965960"/>
            <a:ext cx="77724" cy="1536192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28816" y="214884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Choose the key content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28816" y="2679191"/>
            <a:ext cx="4791456" cy="71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a main message, supporting points and one clear reader action.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794760"/>
            <a:ext cx="52303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31520" y="3794760"/>
            <a:ext cx="77724" cy="1536192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50976" y="397764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Sketch a basic layout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50976" y="4507992"/>
            <a:ext cx="4791456" cy="71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a thumbnail showing the heading, image, content, margin and footer.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59" y="3794760"/>
            <a:ext cx="5230368" cy="153619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09359" y="3794760"/>
            <a:ext cx="77724" cy="1536192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28816" y="3977640"/>
            <a:ext cx="48188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Explain your choices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28816" y="4507992"/>
            <a:ext cx="4791456" cy="71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how hierarchy, alignment and spacing help the reader.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BACK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Lecture 3 connects to your previous learning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layouts depend on the visual communication principles you already know.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938528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1938528"/>
            <a:ext cx="77724" cy="315468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5" y="21214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1: Visual communication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5" y="2651760"/>
            <a:ext cx="29443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 publication makes the main message easy to notice. Contrast, alignment and proximity help organise the page.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07408" y="1938528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07408" y="1938528"/>
            <a:ext cx="77724" cy="3154680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26864" y="21214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2: Text and graphics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26864" y="2651760"/>
            <a:ext cx="29443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type, suitable images and restrained colour help the audience understand the message.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7575" y="1938528"/>
            <a:ext cx="33832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37575" y="1938528"/>
            <a:ext cx="77724" cy="3154680"/>
          </a:xfrm>
          <a:prstGeom prst="rect">
            <a:avLst>
              <a:gd name="adj" fmla="val 141176"/>
            </a:avLst>
          </a:prstGeom>
          <a:solidFill>
            <a:srgbClr val="193047"/>
          </a:solidFill>
          <a:ln w="12700">
            <a:solidFill>
              <a:srgbClr val="19304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257031" y="212140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3: Planning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57031" y="2651760"/>
            <a:ext cx="29443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decide the message and reading order before choosing the fonts, colours and software.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is the bridge between an idea and a finished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Our running project: a one-page learning hand-out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fictional brief will continue through Photoshop, Illustrator and InDesign exercises.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2104" y="1865376"/>
            <a:ext cx="47548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1560" y="2167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Tumaini Community Learning Centre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69848" y="2852928"/>
            <a:ext cx="41148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an A4 hand-out titled “Stay Safe Online” for first-year students. It should explain basic online safety habits in plain language and suggest one action readers can take today.</a:t>
            </a:r>
            <a:endParaRPr lang="en-US" sz="1700" dirty="0"/>
          </a:p>
        </p:txBody>
      </p:sp>
      <p:pic>
        <p:nvPicPr>
          <p:cNvPr id="13" name="Image 0" descr="/mnt/data/ITT06105_Condensed_L03_Package/assets/embedded_04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1746504"/>
            <a:ext cx="5303520" cy="33649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organisation and assignment details are fictional classroom examples.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first. Design second. Produce last.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publication is easier to revise when its purpose and content are settled early.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pic>
        <p:nvPicPr>
          <p:cNvPr id="10" name="Image 0" descr="/mnt/data/ITT06105_Condensed_L03_Package/assets/embedded_05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37360"/>
            <a:ext cx="10698480" cy="39502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5788152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861304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reader’s need—not with decorative fonts or software effects.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purpose is what the publication must achieve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describes the intended result of communication, not simply the document format.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68680" y="201168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2011680"/>
            <a:ext cx="77724" cy="3200400"/>
          </a:xfrm>
          <a:prstGeom prst="rect">
            <a:avLst>
              <a:gd name="adj" fmla="val 141176"/>
            </a:avLst>
          </a:prstGeom>
          <a:solidFill>
            <a:srgbClr val="D56958"/>
          </a:solidFill>
          <a:ln w="12700">
            <a:solidFill>
              <a:srgbClr val="D569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88136" y="2194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statement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88136" y="2724912"/>
            <a:ext cx="45902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are making an A4 hand-out.” This identifies a format, but it does not explain what readers should learn or do.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99632" y="2011680"/>
            <a:ext cx="50292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99632" y="2011680"/>
            <a:ext cx="77724" cy="320040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19088" y="2194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statement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19088" y="2724912"/>
            <a:ext cx="45902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“We want first-year students to recognise three online safety habits and apply at least one today.” This gives the design a clear goal.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useful purpose can often be written as: “After reading, the audience should be able to…”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audience shapes every design decision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suitable publication considers readers’ knowledge, language, context and available devices.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527608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1920240"/>
            <a:ext cx="77724" cy="157276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5" y="2103120"/>
            <a:ext cx="4864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 they already know?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96695" y="2633472"/>
            <a:ext cx="4837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unexplained technical words when readers are beginners.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1920240"/>
            <a:ext cx="527608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400800" y="1920240"/>
            <a:ext cx="77724" cy="157276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20256" y="2103120"/>
            <a:ext cx="4864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will they read it?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0256" y="2633472"/>
            <a:ext cx="4837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printed A4 sheet needs readable text at normal viewing distance.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" y="3749039"/>
            <a:ext cx="527608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77240" y="3749039"/>
            <a:ext cx="77724" cy="157276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96695" y="3931920"/>
            <a:ext cx="4864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matters to them?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6695" y="4462272"/>
            <a:ext cx="4837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with practical benefits and familiar examples.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3749039"/>
            <a:ext cx="5276088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00800" y="3749039"/>
            <a:ext cx="77724" cy="157276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20256" y="3931920"/>
            <a:ext cx="48646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action can they take?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20256" y="4462272"/>
            <a:ext cx="483717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short, realistic instruction rather than vague advice.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topic, two different audiences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subject needs different explanations for different readers.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516636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011680"/>
            <a:ext cx="77724" cy="315468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5" y="2194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First-year diploma students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6695" y="2724912"/>
            <a:ext cx="4727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“5 simple ways to protect your accounts.” Explain strong passwords, verification and suspicious links with short examples.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27064" y="2011680"/>
            <a:ext cx="516636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27064" y="2011680"/>
            <a:ext cx="77724" cy="3154680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2194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Experienced IT technicians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724912"/>
            <a:ext cx="4727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“Account security checklist.” Technical detail and policies may be appropriate because readers already know basic terms.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assignment is aimed at the first group, so plain language is more important than jargon.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prevents a one-page document becoming overcrowded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sets boundaries on what the publication will and will not include.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2011680"/>
            <a:ext cx="5157216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2011680"/>
            <a:ext cx="77724" cy="310896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5" y="2194560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the scope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5" y="2724912"/>
            <a:ext cx="4718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title, three to five safety tips, one helpful graphic and one clear action to try.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45352" y="2011680"/>
            <a:ext cx="5157216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45352" y="2011680"/>
            <a:ext cx="77724" cy="3108960"/>
          </a:xfrm>
          <a:prstGeom prst="rect">
            <a:avLst>
              <a:gd name="adj" fmla="val 141176"/>
            </a:avLst>
          </a:prstGeom>
          <a:solidFill>
            <a:srgbClr val="D56958"/>
          </a:solidFill>
          <a:ln w="12700">
            <a:solidFill>
              <a:srgbClr val="D569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64808" y="2194560"/>
            <a:ext cx="4745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the scope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64808" y="2724912"/>
            <a:ext cx="471830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cybersecurity syllabus, complicated technical diagrams or long explanations of every threat.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publications become stronger when unnecessary content is deliberately removed.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design brief records decisions before layout begins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brief is a short description of what must be made, for whom and for what purpose.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947672"/>
            <a:ext cx="5148072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1947672"/>
            <a:ext cx="77724" cy="3182112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2416" y="2130552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five-point brief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2416" y="2660904"/>
            <a:ext cx="470916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Product: one-page A4 hand-out.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Audience: new college students.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Purpose: encourage safer online habits.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Main message: small steps reduce risk.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Delivery: print and digital PDF.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27064" y="1947672"/>
            <a:ext cx="5102352" cy="318211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27064" y="1947672"/>
            <a:ext cx="77724" cy="3182112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2130552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write it?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660904"/>
            <a:ext cx="466344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brief helps the designer avoid wasting time on unsuitable details. It also gives the client or tutor a simple basis for feedback before the final artwork is made.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questions to ask before you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questions make the brief practical rather than bureaucratic.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783080"/>
            <a:ext cx="10469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50976" y="1901952"/>
            <a:ext cx="1280160" cy="393192"/>
          </a:xfrm>
          <a:prstGeom prst="roundRect">
            <a:avLst>
              <a:gd name="adj" fmla="val 27907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33271" y="1938528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87168" y="1911095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needs this information?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41248" y="2587752"/>
            <a:ext cx="10469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50976" y="2706624"/>
            <a:ext cx="1280160" cy="393192"/>
          </a:xfrm>
          <a:prstGeom prst="roundRect">
            <a:avLst>
              <a:gd name="adj" fmla="val 27907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33271" y="2743200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87168" y="271576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change after reading?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41248" y="3392424"/>
            <a:ext cx="10469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50976" y="3511296"/>
            <a:ext cx="1280160" cy="393192"/>
          </a:xfrm>
          <a:prstGeom prst="roundRect">
            <a:avLst>
              <a:gd name="adj" fmla="val 27907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33271" y="3547872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87168" y="35204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message and facts are essential?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41248" y="4197096"/>
            <a:ext cx="10469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50976" y="4315968"/>
            <a:ext cx="1280160" cy="393192"/>
          </a:xfrm>
          <a:prstGeom prst="roundRect">
            <a:avLst>
              <a:gd name="adj" fmla="val 27907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33271" y="43525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87168" y="43251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 it be printed, shared on screen or both?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41248" y="5001768"/>
            <a:ext cx="104698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50976" y="5120640"/>
            <a:ext cx="1280160" cy="393192"/>
          </a:xfrm>
          <a:prstGeom prst="roundRect">
            <a:avLst>
              <a:gd name="adj" fmla="val 27907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33271" y="515721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487168" y="5129783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makes the information easy to find?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Good content is selected, not collected indiscriminately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only details that support the purpose and the audience’s immediate needs.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77240" y="1883664"/>
            <a:ext cx="3474720" cy="3264408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7240" y="1883664"/>
            <a:ext cx="77724" cy="326440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5" y="2066544"/>
            <a:ext cx="3063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know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96695" y="2596896"/>
            <a:ext cx="30358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title; the main safety recommendation; the most useful examples; a simple reader action.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70832" y="1883664"/>
            <a:ext cx="3474720" cy="3264408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370832" y="1883664"/>
            <a:ext cx="77724" cy="326440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90288" y="2066544"/>
            <a:ext cx="3063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Helpful if space allows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90288" y="2596896"/>
            <a:ext cx="30358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icon or illustration; a short reminder; one trustworthy source line.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973568" y="1883664"/>
            <a:ext cx="3474720" cy="3264408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973568" y="1883664"/>
            <a:ext cx="77724" cy="3264408"/>
          </a:xfrm>
          <a:prstGeom prst="rect">
            <a:avLst>
              <a:gd name="adj" fmla="val 141176"/>
            </a:avLst>
          </a:prstGeom>
          <a:solidFill>
            <a:srgbClr val="D56958"/>
          </a:solidFill>
          <a:ln w="12700">
            <a:solidFill>
              <a:srgbClr val="D569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193024" y="2066544"/>
            <a:ext cx="30632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Leave for extended reading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93024" y="2596896"/>
            <a:ext cx="3035808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background histories, technical definitions and unrelated warnings.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one-page hand-out is not a shortened textbook chapter: it should prioritise action.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hierarchy decides what readers encounter first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hierarchy separates the main message from supporting explanations and optional detail.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pic>
        <p:nvPicPr>
          <p:cNvPr id="10" name="Image 0" descr="/mnt/data/ITT06105_Condensed_L03_Package/assets/embedded_13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10643616" cy="4114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577900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85216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heading size, position, spacing and contrast to communicate levels of importance.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content outline is the skeleton of your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Arrange messages in a logical reading order before deciding colours or exact positions.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" y="1764792"/>
            <a:ext cx="10479024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22960" y="1764792"/>
            <a:ext cx="77724" cy="7040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42416" y="1947672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Headline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42416" y="2478024"/>
            <a:ext cx="10040112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Safe Online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2569464"/>
            <a:ext cx="10479024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2569464"/>
            <a:ext cx="77724" cy="7040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42416" y="2752344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Short introduction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42416" y="3282696"/>
            <a:ext cx="10040112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accounts and data deserve simple protection.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374136"/>
            <a:ext cx="10479024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2960" y="3374136"/>
            <a:ext cx="77724" cy="7040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42416" y="3557016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Three habits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2416" y="4087368"/>
            <a:ext cx="10040112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strong passwords; turn on verification; check links.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178808"/>
            <a:ext cx="10479024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4178808"/>
            <a:ext cx="77724" cy="7040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42416" y="4361688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Action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42416" y="4892040"/>
            <a:ext cx="10040112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one habit and practise it today.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22960" y="4983480"/>
            <a:ext cx="10479024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22960" y="4983480"/>
            <a:ext cx="77724" cy="7040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42416" y="5166360"/>
            <a:ext cx="10067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Source line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42416" y="5696712"/>
            <a:ext cx="10040112" cy="-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credible source or course 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content map links each message to a place on the page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prevent an attractive design from losing important information.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4672" y="1865376"/>
            <a:ext cx="10561320" cy="3429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43000" y="2194560"/>
            <a:ext cx="1920240" cy="530352"/>
          </a:xfrm>
          <a:prstGeom prst="roundRect">
            <a:avLst>
              <a:gd name="adj" fmla="val 2069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234440" y="23042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267712"/>
            <a:ext cx="7315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heading and introductory sentence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143000" y="2916936"/>
            <a:ext cx="1920240" cy="530352"/>
          </a:xfrm>
          <a:prstGeom prst="roundRect">
            <a:avLst>
              <a:gd name="adj" fmla="val 2069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234440" y="3026664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LEFT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990088"/>
            <a:ext cx="7315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icon or illustration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143000" y="3639312"/>
            <a:ext cx="1920240" cy="530352"/>
          </a:xfrm>
          <a:prstGeom prst="roundRect">
            <a:avLst>
              <a:gd name="adj" fmla="val 2069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34440" y="3749039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 RIGHT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10128" y="3712463"/>
            <a:ext cx="7315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to five short safety habits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1143000" y="4361688"/>
            <a:ext cx="1920240" cy="530352"/>
          </a:xfrm>
          <a:prstGeom prst="roundRect">
            <a:avLst>
              <a:gd name="adj" fmla="val 2069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34440" y="4471416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10128" y="4434840"/>
            <a:ext cx="73152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line, source and contact if needed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 records the location and purpose of each element—not finished artwork.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BRAINSTORM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mind map can help you gather ideas quickly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a topic in the middle, then add possible points around it. Edit afterwards.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17720" y="2852928"/>
            <a:ext cx="2971800" cy="987552"/>
          </a:xfrm>
          <a:prstGeom prst="roundRect">
            <a:avLst>
              <a:gd name="adj" fmla="val 11111"/>
            </a:avLst>
          </a:prstGeom>
          <a:solidFill>
            <a:srgbClr val="193047"/>
          </a:solidFill>
          <a:ln w="12700">
            <a:solidFill>
              <a:srgbClr val="19304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83480" y="31363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 SAFE ONLINE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048256"/>
            <a:ext cx="2880360" cy="777240"/>
          </a:xfrm>
          <a:prstGeom prst="roundRect">
            <a:avLst>
              <a:gd name="adj" fmla="val 14118"/>
            </a:avLst>
          </a:prstGeom>
          <a:solidFill>
            <a:srgbClr val="DAF1EC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42416" y="2276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PASSWORDS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0" y="2048256"/>
            <a:ext cx="2880360" cy="777240"/>
          </a:xfrm>
          <a:prstGeom prst="roundRect">
            <a:avLst>
              <a:gd name="adj" fmla="val 14118"/>
            </a:avLst>
          </a:prstGeom>
          <a:solidFill>
            <a:srgbClr val="DAF1EC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57616" y="22768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TWO-STEP CHECKS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14400" y="4297680"/>
            <a:ext cx="2880360" cy="777240"/>
          </a:xfrm>
          <a:prstGeom prst="roundRect">
            <a:avLst>
              <a:gd name="adj" fmla="val 14118"/>
            </a:avLst>
          </a:prstGeom>
          <a:solidFill>
            <a:srgbClr val="DAF1EC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42416" y="4526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LINKS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4297680"/>
            <a:ext cx="2880360" cy="777240"/>
          </a:xfrm>
          <a:prstGeom prst="roundRect">
            <a:avLst>
              <a:gd name="adj" fmla="val 14118"/>
            </a:avLst>
          </a:prstGeom>
          <a:solidFill>
            <a:srgbClr val="DAF1EC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57616" y="4526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DEVICES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13232" y="5751576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2688" y="5824728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mind map is a tool for generating ideas; it is not the final page layout.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thumbnail sketch is a very small page plan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sketch lets you test positions and balance without committing to the final 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00" dirty="0"/>
          </a:p>
        </p:txBody>
      </p:sp>
      <p:pic>
        <p:nvPicPr>
          <p:cNvPr id="10" name="Image 0" descr="/mnt/data/ITT06105_Condensed_L03_Package/assets/embedded_17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572768"/>
            <a:ext cx="10835640" cy="44348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5925312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998464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Boxes and lines are enough. Attractive drawing is not required at this stage.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WIREFRAME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wireframe shows the structure more clearly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represents the approximate size and placement of text, graphics and white space.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874519"/>
            <a:ext cx="5175504" cy="3255264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1874519"/>
            <a:ext cx="77724" cy="3255264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9264" y="205740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Thumbnail sketch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9264" y="2587752"/>
            <a:ext cx="473659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rough early idea, often drawn quickly by hand. Several thumbnails can be compared before choosing a direction.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6208" y="1874519"/>
            <a:ext cx="5175504" cy="3255264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36208" y="1874519"/>
            <a:ext cx="77724" cy="3255264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55664" y="2057400"/>
            <a:ext cx="4764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Wireframe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55664" y="2587752"/>
            <a:ext cx="4736592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more deliberate structure with areas reserved for the title, content, illustrations and footer. Exact colours are not yet necessary.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are planning tools; neither is the finished publication.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basic A4 layout needs clear zones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where the heading, image, core content and action line will fit.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pic>
        <p:nvPicPr>
          <p:cNvPr id="10" name="Image 0" descr="/mnt/data/ITT06105_Condensed_L03_Package/assets/embedded_19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18488"/>
            <a:ext cx="10789920" cy="409651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582472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89788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clean reading path is usually more valuable than complex visual effects.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Margins keep important content away from the edge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margin is the space between the edge of a page and the main content area.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68680" y="1947672"/>
            <a:ext cx="5047488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1947672"/>
            <a:ext cx="77724" cy="312724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88136" y="2130552"/>
            <a:ext cx="4636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margins matter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88136" y="2660904"/>
            <a:ext cx="4608575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Margins help text breathe and reduce the risk of cropping or crowding. Consistent edges also make different parts of the page feel connected.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45352" y="1947672"/>
            <a:ext cx="5047488" cy="312724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45352" y="1947672"/>
            <a:ext cx="77724" cy="312724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64808" y="2130552"/>
            <a:ext cx="4636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starting rule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64808" y="2660904"/>
            <a:ext cx="4608575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an A4 classroom hand-out, begin with approximately 15–20 mm of space around the main content, then adjust for the page and printer.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margin is a design choice, not the same thing as bleed for commercial printing.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grid makes alignment easier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grid is an underlying arrangement of columns and spaces that helps organise the page.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  <p:pic>
        <p:nvPicPr>
          <p:cNvPr id="10" name="Image 0" descr="/mnt/data/ITT06105_Condensed_L03_Package/assets/embedded_21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700784"/>
            <a:ext cx="10698480" cy="412394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5797296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870448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beginner hand-out, a simple single-column or two-column grid is enough.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alignment and proximity to improve the sketch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planning already applies the visual communication skills from Lecture 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47672"/>
            <a:ext cx="505663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41248" y="1947672"/>
            <a:ext cx="77724" cy="329184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2130552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0704" y="2660904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related items along shared vertical or horizontal lines. Random positions make a page feel unstable and harder to scan.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27064" y="1947672"/>
            <a:ext cx="505663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27064" y="1947672"/>
            <a:ext cx="77724" cy="3291840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2130552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660904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headings near the text they introduce. Separate unrelated sections so readers can recognise groups quickly.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grid is one that improves reading, not one that adds unnecessary complexity.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Whitespace is part of the design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 space gives important ideas room to stand out and helps readers see where one section ends.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4672" y="1938528"/>
            <a:ext cx="5148072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04672" y="1938528"/>
            <a:ext cx="77724" cy="3154680"/>
          </a:xfrm>
          <a:prstGeom prst="rect">
            <a:avLst>
              <a:gd name="adj" fmla="val 141176"/>
            </a:avLst>
          </a:prstGeom>
          <a:solidFill>
            <a:srgbClr val="D56958"/>
          </a:solidFill>
          <a:ln w="12700">
            <a:solidFill>
              <a:srgbClr val="D569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4128" y="212140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Crowded page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65176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space is filled with text, unrelated icons or decoration. Readers have few visual clues about what matters most.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227064" y="1938528"/>
            <a:ext cx="5148072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27064" y="1938528"/>
            <a:ext cx="77724" cy="315468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46520" y="212140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page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46520" y="2651760"/>
            <a:ext cx="4709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title, key points and action have breathing room. Related items form visible groups, and the page feels easier to scan.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Leaving space empty is not wasting space when it improves understanding.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EDITORIAL CHOICE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Ask whether every element earns its place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planning check can save more time than a late redesign.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4672" y="1947672"/>
            <a:ext cx="522122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04672" y="1947672"/>
            <a:ext cx="77724" cy="160020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4128" y="21305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660904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reader identify the topic immediately?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91656" y="1947672"/>
            <a:ext cx="522122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91656" y="1947672"/>
            <a:ext cx="77724" cy="160020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611112" y="21305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11112" y="2660904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explain something or merely decorate the page?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" y="3849624"/>
            <a:ext cx="522122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04672" y="3849624"/>
            <a:ext cx="77724" cy="1600200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24128" y="4032504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Body text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24128" y="4562856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essential message concise and correctly grouped?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91656" y="3849624"/>
            <a:ext cx="522122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91656" y="3849624"/>
            <a:ext cx="77724" cy="160020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11112" y="4032504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line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11112" y="4562856"/>
            <a:ext cx="4782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reader know what to do next?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for the format in which the page will be used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Publication format influences page size, image clarity and how the audience reads.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65960"/>
            <a:ext cx="5020056" cy="3145536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41248" y="1965960"/>
            <a:ext cx="77724" cy="3145536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2148840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Printed A4 hand-out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0704" y="2679191"/>
            <a:ext cx="45811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page within reliable print margins; use readable type and artwork that remains clear when printed.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020056" cy="3145536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77724" cy="3145536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37376" y="2148840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PDF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37376" y="2679191"/>
            <a:ext cx="4581144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page readability on a small screen, preserve text and ensure any links are functional.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project will first use A4 as the master page and may later be exported as a PDF.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Feedback is more useful before final production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brief and rough layout to someone who resembles the intended reader.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56816"/>
            <a:ext cx="5084064" cy="3136392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41248" y="1956816"/>
            <a:ext cx="77724" cy="3136392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2139696"/>
            <a:ext cx="4672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specific questions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60704" y="2670048"/>
            <a:ext cx="464515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did you read first?” “Which advice was difficult?” “What action would you take?” These questions reveal problems you can fix.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17920" y="1956816"/>
            <a:ext cx="5084064" cy="3136392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17920" y="1956816"/>
            <a:ext cx="77724" cy="3136392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37376" y="2139696"/>
            <a:ext cx="467258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one thoughtful revision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37376" y="2670048"/>
            <a:ext cx="4645152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readers miss the key action, make it easier to find. If a term is unfamiliar, rewrite it rather than adding a longer paragraph.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 is evidence about the design—not a vote on a favourite colour.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minimum planning sequence for this course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complete this process with pencil and paper before using any software.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929384"/>
            <a:ext cx="524865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1929384"/>
            <a:ext cx="77724" cy="157276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9264" y="211226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Write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9264" y="2642615"/>
            <a:ext cx="4809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 and audience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7648" y="1929384"/>
            <a:ext cx="524865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27648" y="1929384"/>
            <a:ext cx="77724" cy="157276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47104" y="211226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Select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47104" y="2642615"/>
            <a:ext cx="4809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message and essential facts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" y="3803904"/>
            <a:ext cx="524865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9808" y="3803904"/>
            <a:ext cx="77724" cy="157276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9264" y="39867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Arrange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69264" y="4517136"/>
            <a:ext cx="4809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 thumbnail with margins and zones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27648" y="3803904"/>
            <a:ext cx="5248656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27648" y="3803904"/>
            <a:ext cx="77724" cy="157276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47104" y="3986784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Check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47104" y="4517136"/>
            <a:ext cx="48097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order and one reader action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TURN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write a five-line publication brief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fictional Tumaini hand-out assignment described earlier.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2104" y="1938528"/>
            <a:ext cx="10460736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32104" y="1938528"/>
            <a:ext cx="77724" cy="352044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2121408"/>
            <a:ext cx="10049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these five lines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51560" y="2651760"/>
            <a:ext cx="10021824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The publication I will create is …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My intended readers are …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After reading, they should …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Three essential points to include are …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The document will be delivered as …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TURN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 activity: sketch the page in five minutes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drawing simple. Show the information, not artistic talent.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00" dirty="0"/>
          </a:p>
        </p:txBody>
      </p:sp>
      <p:pic>
        <p:nvPicPr>
          <p:cNvPr id="10" name="Image 0" descr="/mnt/data/ITT06105_Condensed_L03_Package/assets/embedded_29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64208"/>
            <a:ext cx="10332720" cy="400507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3232" y="582472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32688" y="589788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the heading, image/icon, three tips, action line and source.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submitting: five quality checks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questions to test the first draft of your one-page hand-out.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728216"/>
            <a:ext cx="1047902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05840" y="1865376"/>
            <a:ext cx="374904" cy="374904"/>
          </a:xfrm>
          <a:prstGeom prst="roundRect">
            <a:avLst>
              <a:gd name="adj" fmla="val 29268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14984" y="1911095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72768" y="1874519"/>
            <a:ext cx="9418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audience clear?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2523744"/>
            <a:ext cx="1047902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05840" y="2660903"/>
            <a:ext cx="374904" cy="374904"/>
          </a:xfrm>
          <a:prstGeom prst="roundRect">
            <a:avLst>
              <a:gd name="adj" fmla="val 29268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14984" y="270662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72768" y="2670048"/>
            <a:ext cx="9418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one main message unmistakable?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" y="3319272"/>
            <a:ext cx="1047902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05840" y="3456432"/>
            <a:ext cx="374904" cy="374904"/>
          </a:xfrm>
          <a:prstGeom prst="roundRect">
            <a:avLst>
              <a:gd name="adj" fmla="val 29268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14984" y="35021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72768" y="3465576"/>
            <a:ext cx="9418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every key fact have a place?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1248" y="4114800"/>
            <a:ext cx="1047902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05840" y="4251960"/>
            <a:ext cx="374904" cy="374904"/>
          </a:xfrm>
          <a:prstGeom prst="roundRect">
            <a:avLst>
              <a:gd name="adj" fmla="val 29268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14984" y="429768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572768" y="4261104"/>
            <a:ext cx="9418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margins, alignment and spacing consistent?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41248" y="4910328"/>
            <a:ext cx="1047902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05840" y="5047488"/>
            <a:ext cx="374904" cy="374904"/>
          </a:xfrm>
          <a:prstGeom prst="roundRect">
            <a:avLst>
              <a:gd name="adj" fmla="val 29268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14984" y="50932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72768" y="5056632"/>
            <a:ext cx="9418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there one realistic action for the reader?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of a clear planning decision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how the five lines support each other rather than describing different projects.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32104" y="1920240"/>
            <a:ext cx="10451592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32104" y="1920240"/>
            <a:ext cx="77724" cy="3611880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51560" y="2103120"/>
            <a:ext cx="10040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Tumaini — Stay Safe Online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633472"/>
            <a:ext cx="100126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Format: A4, one-page educational hand-out.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Audience: first-year diploma students who are new to online safety.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help readers identify simple account-protection habits.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Content: strong passwords, two-step verification, suspicious links.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Action: choose one security setting to improve today.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ERRORS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planning mistakes to avoid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beginner layout problems start before the software is opened.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86384" y="1892807"/>
            <a:ext cx="523951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86384" y="1892807"/>
            <a:ext cx="77724" cy="1572768"/>
          </a:xfrm>
          <a:prstGeom prst="rect">
            <a:avLst>
              <a:gd name="adj" fmla="val 141176"/>
            </a:avLst>
          </a:prstGeom>
          <a:solidFill>
            <a:srgbClr val="D56958"/>
          </a:solidFill>
          <a:ln w="12700">
            <a:solidFill>
              <a:srgbClr val="D569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05840" y="207568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much content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606039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Trying to fit every fact on a single A4 page.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45936" y="1892807"/>
            <a:ext cx="523951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45936" y="1892807"/>
            <a:ext cx="77724" cy="157276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65392" y="2075688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clear audience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2606039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Using technical language that beginners may not understand.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86384" y="3749039"/>
            <a:ext cx="523951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6384" y="3749039"/>
            <a:ext cx="77724" cy="1572768"/>
          </a:xfrm>
          <a:prstGeom prst="rect">
            <a:avLst>
              <a:gd name="adj" fmla="val 141176"/>
            </a:avLst>
          </a:prstGeom>
          <a:solidFill>
            <a:srgbClr val="D56958"/>
          </a:solidFill>
          <a:ln w="12700">
            <a:solidFill>
              <a:srgbClr val="D5695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05840" y="393192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Decoration first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46227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colours and fonts before deciding what matters.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45936" y="3749039"/>
            <a:ext cx="5239512" cy="1572768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345936" y="3749039"/>
            <a:ext cx="77724" cy="157276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565392" y="3931920"/>
            <a:ext cx="4828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Skipping the sketch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65392" y="4462272"/>
            <a:ext cx="4800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directly in software and repeatedly moving elements.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Tutorial and practical follow-up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tasks develop the same skills without adding new theory to memorise.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41248" y="1938528"/>
            <a:ext cx="5047488" cy="3255264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41248" y="1938528"/>
            <a:ext cx="77724" cy="3255264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60704" y="2121408"/>
            <a:ext cx="4636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Tutorial (paper)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0704" y="2651760"/>
            <a:ext cx="4608575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the purpose and audience in pairs. Compare two thumbnail sketches and explain which is easier to understand.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6208" y="1938528"/>
            <a:ext cx="5047488" cy="3255264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236208" y="1938528"/>
            <a:ext cx="77724" cy="3255264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55664" y="2121408"/>
            <a:ext cx="463600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(paper or computer)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55664" y="2651760"/>
            <a:ext cx="4608575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your own A4 wireframe and content outline. Add labels for the title, graphic, key points, action and source.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3232" y="5687568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32688" y="5760720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a brief and an annotated sketch; a polished digital publication is not yet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ideas to remember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the concepts you should recognise and explain without notes.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49808" y="1874519"/>
            <a:ext cx="3529584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9808" y="1874519"/>
            <a:ext cx="77724" cy="16184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69264" y="2057400"/>
            <a:ext cx="3118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9264" y="2587752"/>
            <a:ext cx="3090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change the document should produce.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17136" y="1874519"/>
            <a:ext cx="3529584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17136" y="1874519"/>
            <a:ext cx="77724" cy="161848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36592" y="2057400"/>
            <a:ext cx="3118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36592" y="2587752"/>
            <a:ext cx="3090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people for whom the message is intended.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84464" y="1874519"/>
            <a:ext cx="3529584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284464" y="1874519"/>
            <a:ext cx="77724" cy="16184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503920" y="2057400"/>
            <a:ext cx="3118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587752"/>
            <a:ext cx="3090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record of design requirements.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49808" y="3803904"/>
            <a:ext cx="3529584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9808" y="3803904"/>
            <a:ext cx="77724" cy="1618488"/>
          </a:xfrm>
          <a:prstGeom prst="rect">
            <a:avLst>
              <a:gd name="adj" fmla="val 141176"/>
            </a:avLst>
          </a:prstGeom>
          <a:solidFill>
            <a:srgbClr val="E7A73E"/>
          </a:solidFill>
          <a:ln w="12700">
            <a:solidFill>
              <a:srgbClr val="E7A73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9264" y="3986784"/>
            <a:ext cx="3118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9264" y="4517136"/>
            <a:ext cx="3090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 in which content receives attention.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17136" y="3803904"/>
            <a:ext cx="3529584" cy="1618488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517136" y="3803904"/>
            <a:ext cx="77724" cy="1618488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736592" y="3986784"/>
            <a:ext cx="311810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Wireframe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36592" y="4517136"/>
            <a:ext cx="3090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plan showing where page elements belong.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>
              <a:gd name="adj" fmla="val 133333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8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 /   DESKTOP PUBLISHING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18320" y="192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58368" y="603504"/>
            <a:ext cx="10927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9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 your understanding before CAT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1216152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review questions to strengthen your understanding of the first three lectures.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6382512"/>
            <a:ext cx="10881360" cy="18288"/>
          </a:xfrm>
          <a:prstGeom prst="rect">
            <a:avLst>
              <a:gd name="adj" fmla="val 600000"/>
            </a:avLst>
          </a:prstGeom>
          <a:solidFill>
            <a:srgbClr val="E2EEF2"/>
          </a:solidFill>
          <a:ln w="12700">
            <a:solidFill>
              <a:srgbClr val="E2EEF2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6501384"/>
            <a:ext cx="9144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03  •  2026/2027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972800" y="649224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4672" y="1892807"/>
            <a:ext cx="10552176" cy="3712463"/>
          </a:xfrm>
          <a:prstGeom prst="roundRect">
            <a:avLst>
              <a:gd name="adj" fmla="val 2956"/>
            </a:avLst>
          </a:prstGeom>
          <a:solidFill>
            <a:srgbClr val="FFFFFF"/>
          </a:solidFill>
          <a:ln w="8890">
            <a:solidFill>
              <a:srgbClr val="E2EEF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04672" y="1892807"/>
            <a:ext cx="77724" cy="3712463"/>
          </a:xfrm>
          <a:prstGeom prst="rect">
            <a:avLst>
              <a:gd name="adj" fmla="val 141176"/>
            </a:avLst>
          </a:prstGeom>
          <a:solidFill>
            <a:srgbClr val="008C86"/>
          </a:solidFill>
          <a:ln w="12700">
            <a:solidFill>
              <a:srgbClr val="008C86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24128" y="2075688"/>
            <a:ext cx="10140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questions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606039"/>
            <a:ext cx="10113263" cy="288950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distinguishes a document purpose from its format?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Give two reasons why the target audience affects layout decisions.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Explain how hierarchy and margins improve an A4 hand-out.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List the five elements of a useful design brief.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586D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Sketch and label a simple one-page publication.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" y="5815584"/>
            <a:ext cx="10716768" cy="457200"/>
          </a:xfrm>
          <a:prstGeom prst="roundRect">
            <a:avLst>
              <a:gd name="adj" fmla="val 24000"/>
            </a:avLst>
          </a:prstGeom>
          <a:solidFill>
            <a:srgbClr val="DAF1EC"/>
          </a:solidFill>
          <a:ln w="12700">
            <a:solidFill>
              <a:srgbClr val="DAF1EC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2688" y="5888736"/>
            <a:ext cx="10195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9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essential concepts of visual communication, graphics and planning.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 and Organising a Publication</dc:title>
  <dc:subject>Desktop Publishing Condensed Lecture 3</dc:subject>
  <dc:creator>Course Teaching Material</dc:creator>
  <cp:lastModifiedBy>Course Teaching Material</cp:lastModifiedBy>
  <cp:revision>1</cp:revision>
  <dcterms:created xsi:type="dcterms:W3CDTF">2026-10-21T12:12:32Z</dcterms:created>
  <dcterms:modified xsi:type="dcterms:W3CDTF">2026-10-21T12:12:32Z</dcterms:modified>
</cp:coreProperties>
</file>