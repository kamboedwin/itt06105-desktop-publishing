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552"/>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78A91"/>
          </a:solidFill>
          <a:ln w="12700">
            <a:solidFill>
              <a:srgbClr val="078A91"/>
            </a:solidFill>
            <a:prstDash val="solid"/>
          </a:ln>
        </p:spPr>
        <p:txBody>
          <a:bodyPr/>
          <a:p/>
        </p:txBody>
      </p:sp>
      <p:sp>
        <p:nvSpPr>
          <p:cNvPr id="3" name="Shape 1"/>
          <p:cNvSpPr/>
          <p:nvPr/>
        </p:nvSpPr>
        <p:spPr>
          <a:xfrm>
            <a:off x="722376" y="566928"/>
            <a:ext cx="3749040" cy="484632"/>
          </a:xfrm>
          <a:prstGeom prst="roundRect">
            <a:avLst>
              <a:gd name="adj" fmla="val 22642"/>
            </a:avLst>
          </a:prstGeom>
          <a:solidFill>
            <a:srgbClr val="21435C"/>
          </a:solidFill>
          <a:ln w="12700">
            <a:solidFill>
              <a:srgbClr val="21435C"/>
            </a:solidFill>
            <a:prstDash val="solid"/>
          </a:ln>
        </p:spPr>
        <p:txBody>
          <a:bodyPr/>
          <a:p/>
        </p:txBody>
      </p:sp>
      <p:sp>
        <p:nvSpPr>
          <p:cNvPr id="4" name="Text 2"/>
          <p:cNvSpPr/>
          <p:nvPr/>
        </p:nvSpPr>
        <p:spPr>
          <a:xfrm>
            <a:off x="877824" y="713232"/>
            <a:ext cx="3474720" cy="173736"/>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pitchFamily="34" charset="0"/>
                <a:ea typeface="Aptos" pitchFamily="34" charset="-122"/>
                <a:cs typeface="Aptos" pitchFamily="34" charset="-120"/>
              </a:rPr>
              <a:t>ITT06105  •  DESKTOP PUBLISHING</a:t>
            </a:r>
            <a:endParaRPr lang="en-US" sz="1300" dirty="0"/>
          </a:p>
        </p:txBody>
      </p:sp>
      <p:sp>
        <p:nvSpPr>
          <p:cNvPr id="5" name="Text 3"/>
          <p:cNvSpPr/>
          <p:nvPr/>
        </p:nvSpPr>
        <p:spPr>
          <a:xfrm>
            <a:off x="832104" y="1554480"/>
            <a:ext cx="10424160" cy="685800"/>
          </a:xfrm>
          <a:prstGeom prst="rect">
            <a:avLst/>
          </a:prstGeom>
          <a:noFill/>
          <a:ln/>
        </p:spPr>
        <p:txBody>
          <a:bodyPr wrap="square" lIns="0" tIns="0" rIns="0" bIns="0" rtlCol="0" anchor="ctr">
            <a:normAutofit/>
          </a:bodyPr>
          <a:lstStyle/>
          <a:p>
            <a:pPr indent="0" marL="0">
              <a:buNone/>
            </a:pPr>
            <a:r>
              <a:rPr lang="en-US" sz="3700" b="1" dirty="0">
                <a:solidFill>
                  <a:srgbClr val="FFFFFF"/>
                </a:solidFill>
                <a:latin typeface="Aptos" pitchFamily="34" charset="0"/>
                <a:ea typeface="Aptos" pitchFamily="34" charset="-122"/>
                <a:cs typeface="Aptos" pitchFamily="34" charset="-120"/>
              </a:rPr>
              <a:t>PRINTING DESKTOP</a:t>
            </a:r>
            <a:endParaRPr lang="en-US" sz="3700" dirty="0"/>
          </a:p>
        </p:txBody>
      </p:sp>
      <p:sp>
        <p:nvSpPr>
          <p:cNvPr id="6" name="Text 4"/>
          <p:cNvSpPr/>
          <p:nvPr/>
        </p:nvSpPr>
        <p:spPr>
          <a:xfrm>
            <a:off x="832104" y="2395728"/>
            <a:ext cx="10332720" cy="621792"/>
          </a:xfrm>
          <a:prstGeom prst="rect">
            <a:avLst/>
          </a:prstGeom>
          <a:noFill/>
          <a:ln/>
        </p:spPr>
        <p:txBody>
          <a:bodyPr wrap="square" lIns="0" tIns="0" rIns="0" bIns="0" rtlCol="0" anchor="ctr">
            <a:normAutofit/>
          </a:bodyPr>
          <a:lstStyle/>
          <a:p>
            <a:pPr indent="0" marL="0">
              <a:buNone/>
            </a:pPr>
            <a:r>
              <a:rPr lang="en-US" sz="4300" b="1" dirty="0">
                <a:solidFill>
                  <a:srgbClr val="F6BF53"/>
                </a:solidFill>
                <a:latin typeface="Aptos" pitchFamily="34" charset="0"/>
                <a:ea typeface="Aptos" pitchFamily="34" charset="-122"/>
                <a:cs typeface="Aptos" pitchFamily="34" charset="-120"/>
              </a:rPr>
              <a:t>PUBLISHING</a:t>
            </a:r>
            <a:endParaRPr lang="en-US" sz="4300" dirty="0"/>
          </a:p>
        </p:txBody>
      </p:sp>
      <p:sp>
        <p:nvSpPr>
          <p:cNvPr id="7" name="Text 5"/>
          <p:cNvSpPr/>
          <p:nvPr/>
        </p:nvSpPr>
        <p:spPr>
          <a:xfrm>
            <a:off x="832104" y="3172968"/>
            <a:ext cx="10515600" cy="612648"/>
          </a:xfrm>
          <a:prstGeom prst="rect">
            <a:avLst/>
          </a:prstGeom>
          <a:noFill/>
          <a:ln/>
        </p:spPr>
        <p:txBody>
          <a:bodyPr wrap="square" lIns="0" tIns="0" rIns="0" bIns="0" rtlCol="0" anchor="ctr">
            <a:normAutofit/>
          </a:bodyPr>
          <a:lstStyle/>
          <a:p>
            <a:pPr indent="0" marL="0">
              <a:buNone/>
            </a:pPr>
            <a:r>
              <a:rPr lang="en-US" sz="4300" b="1" dirty="0">
                <a:solidFill>
                  <a:srgbClr val="FFFFFF"/>
                </a:solidFill>
                <a:latin typeface="Aptos" pitchFamily="34" charset="0"/>
                <a:ea typeface="Aptos" pitchFamily="34" charset="-122"/>
                <a:cs typeface="Aptos" pitchFamily="34" charset="-120"/>
              </a:rPr>
              <a:t>DOCUMENTS</a:t>
            </a:r>
            <a:endParaRPr lang="en-US" sz="4300" dirty="0"/>
          </a:p>
        </p:txBody>
      </p:sp>
      <p:sp>
        <p:nvSpPr>
          <p:cNvPr id="8" name="Text 6"/>
          <p:cNvSpPr/>
          <p:nvPr/>
        </p:nvSpPr>
        <p:spPr>
          <a:xfrm>
            <a:off x="841248" y="4105656"/>
            <a:ext cx="10424160" cy="365760"/>
          </a:xfrm>
          <a:prstGeom prst="rect">
            <a:avLst/>
          </a:prstGeom>
          <a:noFill/>
          <a:ln/>
        </p:spPr>
        <p:txBody>
          <a:bodyPr wrap="square" lIns="0" tIns="0" rIns="0" bIns="0" rtlCol="0" anchor="ctr">
            <a:normAutofit/>
          </a:bodyPr>
          <a:lstStyle/>
          <a:p>
            <a:pPr indent="0" marL="0">
              <a:buNone/>
            </a:pPr>
            <a:r>
              <a:rPr lang="en-US" sz="1800" dirty="0">
                <a:solidFill>
                  <a:srgbClr val="FFFFFF"/>
                </a:solidFill>
                <a:latin typeface="Aptos" pitchFamily="34" charset="0"/>
                <a:ea typeface="Aptos" pitchFamily="34" charset="-122"/>
                <a:cs typeface="Aptos" pitchFamily="34" charset="-120"/>
              </a:rPr>
              <a:t>Lecture 09   |   Ordinary Diploma in IT</a:t>
            </a:r>
            <a:endParaRPr lang="en-US" sz="1800" dirty="0"/>
          </a:p>
        </p:txBody>
      </p:sp>
      <p:sp>
        <p:nvSpPr>
          <p:cNvPr id="9" name="Shape 7"/>
          <p:cNvSpPr/>
          <p:nvPr/>
        </p:nvSpPr>
        <p:spPr>
          <a:xfrm>
            <a:off x="813816" y="4901184"/>
            <a:ext cx="10515600" cy="804672"/>
          </a:xfrm>
          <a:prstGeom prst="roundRect">
            <a:avLst>
              <a:gd name="adj" fmla="val 13636"/>
            </a:avLst>
          </a:prstGeom>
          <a:solidFill>
            <a:srgbClr val="21435C"/>
          </a:solidFill>
          <a:ln w="12700">
            <a:solidFill>
              <a:srgbClr val="21435C"/>
            </a:solidFill>
            <a:prstDash val="solid"/>
          </a:ln>
        </p:spPr>
        <p:txBody>
          <a:bodyPr/>
          <a:p/>
        </p:txBody>
      </p:sp>
      <p:sp>
        <p:nvSpPr>
          <p:cNvPr id="10" name="Text 8"/>
          <p:cNvSpPr/>
          <p:nvPr/>
        </p:nvSpPr>
        <p:spPr>
          <a:xfrm>
            <a:off x="1042416" y="5157216"/>
            <a:ext cx="9966960" cy="338328"/>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pitchFamily="34" charset="0"/>
                <a:ea typeface="Aptos" pitchFamily="34" charset="-122"/>
                <a:cs typeface="Aptos" pitchFamily="34" charset="-120"/>
              </a:rPr>
              <a:t>PDF proof  →  printer settings  →  test print  →  quality checks</a:t>
            </a:r>
            <a:endParaRPr lang="en-US" sz="1950" dirty="0"/>
          </a:p>
        </p:txBody>
      </p:sp>
      <p:sp>
        <p:nvSpPr>
          <p:cNvPr id="11" name="Text 9"/>
          <p:cNvSpPr/>
          <p:nvPr/>
        </p:nvSpPr>
        <p:spPr>
          <a:xfrm>
            <a:off x="822960" y="6327648"/>
            <a:ext cx="3931920" cy="182880"/>
          </a:xfrm>
          <a:prstGeom prst="rect">
            <a:avLst/>
          </a:prstGeom>
          <a:noFill/>
          <a:ln/>
        </p:spPr>
        <p:txBody>
          <a:bodyPr wrap="square" lIns="0" tIns="0" rIns="0" bIns="0" rtlCol="0" anchor="ctr">
            <a:normAutofit/>
          </a:bodyPr>
          <a:lstStyle/>
          <a:p>
            <a:pPr indent="0" marL="0">
              <a:buNone/>
            </a:pPr>
            <a:r>
              <a:rPr lang="en-US" sz="1300" dirty="0">
                <a:solidFill>
                  <a:srgbClr val="BDD0DB"/>
                </a:solidFill>
                <a:latin typeface="Aptos" pitchFamily="34" charset="0"/>
                <a:ea typeface="Aptos" pitchFamily="34" charset="-122"/>
                <a:cs typeface="Aptos" pitchFamily="34" charset="-120"/>
              </a:rPr>
              <a:t>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LEARNING OUTCOMES</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Learning outcomes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After this lecture, you should be able to explain and demonstrate: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02</a:t>
            </a:r>
            <a:endParaRPr lang="en-US" sz="1000" dirty="0"/>
          </a:p>
        </p:txBody>
      </p:sp>
      <p:sp>
        <p:nvSpPr>
          <p:cNvPr id="11" name="Shape 9"/>
          <p:cNvSpPr/>
          <p:nvPr/>
        </p:nvSpPr>
        <p:spPr>
          <a:xfrm>
            <a:off x="612648" y="1865376"/>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2" name="Shape 10"/>
          <p:cNvSpPr/>
          <p:nvPr/>
        </p:nvSpPr>
        <p:spPr>
          <a:xfrm>
            <a:off x="795528" y="1993392"/>
            <a:ext cx="594360" cy="488290"/>
          </a:xfrm>
          <a:prstGeom prst="roundRect">
            <a:avLst>
              <a:gd name="adj" fmla="val 22472"/>
            </a:avLst>
          </a:prstGeom>
          <a:solidFill>
            <a:srgbClr val="078A91"/>
          </a:solidFill>
          <a:ln w="12700">
            <a:solidFill>
              <a:srgbClr val="078A91"/>
            </a:solidFill>
            <a:prstDash val="solid"/>
          </a:ln>
        </p:spPr>
        <p:txBody>
          <a:bodyPr/>
          <a:p/>
        </p:txBody>
      </p:sp>
      <p:sp>
        <p:nvSpPr>
          <p:cNvPr id="13" name="Text 11"/>
          <p:cNvSpPr/>
          <p:nvPr/>
        </p:nvSpPr>
        <p:spPr>
          <a:xfrm>
            <a:off x="996696" y="2048256"/>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4" name="Text 12"/>
          <p:cNvSpPr/>
          <p:nvPr/>
        </p:nvSpPr>
        <p:spPr>
          <a:xfrm>
            <a:off x="1554480" y="1975104"/>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Compare</a:t>
            </a:r>
            <a:endParaRPr lang="en-US" sz="1870" dirty="0"/>
          </a:p>
        </p:txBody>
      </p:sp>
      <p:sp>
        <p:nvSpPr>
          <p:cNvPr id="15" name="Text 13"/>
          <p:cNvSpPr/>
          <p:nvPr/>
        </p:nvSpPr>
        <p:spPr>
          <a:xfrm>
            <a:off x="4434840" y="1956816"/>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Describe basic inkjet, laser and commercial print options.</a:t>
            </a:r>
            <a:endParaRPr lang="en-US" sz="1740" dirty="0"/>
          </a:p>
        </p:txBody>
      </p:sp>
      <p:sp>
        <p:nvSpPr>
          <p:cNvPr id="16" name="Shape 14"/>
          <p:cNvSpPr/>
          <p:nvPr/>
        </p:nvSpPr>
        <p:spPr>
          <a:xfrm>
            <a:off x="612648" y="272857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7" name="Shape 15"/>
          <p:cNvSpPr/>
          <p:nvPr/>
        </p:nvSpPr>
        <p:spPr>
          <a:xfrm>
            <a:off x="795528" y="2856586"/>
            <a:ext cx="594360" cy="488290"/>
          </a:xfrm>
          <a:prstGeom prst="roundRect">
            <a:avLst>
              <a:gd name="adj" fmla="val 22472"/>
            </a:avLst>
          </a:prstGeom>
          <a:solidFill>
            <a:srgbClr val="173552"/>
          </a:solidFill>
          <a:ln w="12700">
            <a:solidFill>
              <a:srgbClr val="173552"/>
            </a:solidFill>
            <a:prstDash val="solid"/>
          </a:ln>
        </p:spPr>
        <p:txBody>
          <a:bodyPr/>
          <a:p/>
        </p:txBody>
      </p:sp>
      <p:sp>
        <p:nvSpPr>
          <p:cNvPr id="18" name="Text 16"/>
          <p:cNvSpPr/>
          <p:nvPr/>
        </p:nvSpPr>
        <p:spPr>
          <a:xfrm>
            <a:off x="996696" y="291145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9" name="Text 17"/>
          <p:cNvSpPr/>
          <p:nvPr/>
        </p:nvSpPr>
        <p:spPr>
          <a:xfrm>
            <a:off x="1554480" y="283829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Prepare</a:t>
            </a:r>
            <a:endParaRPr lang="en-US" sz="1870" dirty="0"/>
          </a:p>
        </p:txBody>
      </p:sp>
      <p:sp>
        <p:nvSpPr>
          <p:cNvPr id="20" name="Text 18"/>
          <p:cNvSpPr/>
          <p:nvPr/>
        </p:nvSpPr>
        <p:spPr>
          <a:xfrm>
            <a:off x="4434840" y="282001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Select suitable A4 paper, size, scaling and print settings.</a:t>
            </a:r>
            <a:endParaRPr lang="en-US" sz="1740" dirty="0"/>
          </a:p>
        </p:txBody>
      </p:sp>
      <p:sp>
        <p:nvSpPr>
          <p:cNvPr id="21" name="Shape 19"/>
          <p:cNvSpPr/>
          <p:nvPr/>
        </p:nvSpPr>
        <p:spPr>
          <a:xfrm>
            <a:off x="612648" y="3591763"/>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2" name="Shape 20"/>
          <p:cNvSpPr/>
          <p:nvPr/>
        </p:nvSpPr>
        <p:spPr>
          <a:xfrm>
            <a:off x="795528" y="3719779"/>
            <a:ext cx="594360" cy="488290"/>
          </a:xfrm>
          <a:prstGeom prst="roundRect">
            <a:avLst>
              <a:gd name="adj" fmla="val 22472"/>
            </a:avLst>
          </a:prstGeom>
          <a:solidFill>
            <a:srgbClr val="078A91"/>
          </a:solidFill>
          <a:ln w="12700">
            <a:solidFill>
              <a:srgbClr val="078A91"/>
            </a:solidFill>
            <a:prstDash val="solid"/>
          </a:ln>
        </p:spPr>
        <p:txBody>
          <a:bodyPr/>
          <a:p/>
        </p:txBody>
      </p:sp>
      <p:sp>
        <p:nvSpPr>
          <p:cNvPr id="23" name="Text 21"/>
          <p:cNvSpPr/>
          <p:nvPr/>
        </p:nvSpPr>
        <p:spPr>
          <a:xfrm>
            <a:off x="996696" y="3774643"/>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4" name="Text 22"/>
          <p:cNvSpPr/>
          <p:nvPr/>
        </p:nvSpPr>
        <p:spPr>
          <a:xfrm>
            <a:off x="1554480" y="3701491"/>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Explain</a:t>
            </a:r>
            <a:endParaRPr lang="en-US" sz="1870" dirty="0"/>
          </a:p>
        </p:txBody>
      </p:sp>
      <p:sp>
        <p:nvSpPr>
          <p:cNvPr id="25" name="Text 23"/>
          <p:cNvSpPr/>
          <p:nvPr/>
        </p:nvSpPr>
        <p:spPr>
          <a:xfrm>
            <a:off x="4434840" y="3683203"/>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Describe PDF proof, trim, safe area and bleed.</a:t>
            </a:r>
            <a:endParaRPr lang="en-US" sz="1740" dirty="0"/>
          </a:p>
        </p:txBody>
      </p:sp>
      <p:sp>
        <p:nvSpPr>
          <p:cNvPr id="26" name="Shape 24"/>
          <p:cNvSpPr/>
          <p:nvPr/>
        </p:nvSpPr>
        <p:spPr>
          <a:xfrm>
            <a:off x="612648" y="4454957"/>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7" name="Shape 25"/>
          <p:cNvSpPr/>
          <p:nvPr/>
        </p:nvSpPr>
        <p:spPr>
          <a:xfrm>
            <a:off x="795528" y="4582973"/>
            <a:ext cx="594360" cy="488290"/>
          </a:xfrm>
          <a:prstGeom prst="roundRect">
            <a:avLst>
              <a:gd name="adj" fmla="val 22472"/>
            </a:avLst>
          </a:prstGeom>
          <a:solidFill>
            <a:srgbClr val="173552"/>
          </a:solidFill>
          <a:ln w="12700">
            <a:solidFill>
              <a:srgbClr val="173552"/>
            </a:solidFill>
            <a:prstDash val="solid"/>
          </a:ln>
        </p:spPr>
        <p:txBody>
          <a:bodyPr/>
          <a:p/>
        </p:txBody>
      </p:sp>
      <p:sp>
        <p:nvSpPr>
          <p:cNvPr id="28" name="Text 26"/>
          <p:cNvSpPr/>
          <p:nvPr/>
        </p:nvSpPr>
        <p:spPr>
          <a:xfrm>
            <a:off x="996696" y="4637837"/>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1554480" y="4564685"/>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Calculate</a:t>
            </a:r>
            <a:endParaRPr lang="en-US" sz="1870" dirty="0"/>
          </a:p>
        </p:txBody>
      </p:sp>
      <p:sp>
        <p:nvSpPr>
          <p:cNvPr id="30" name="Text 28"/>
          <p:cNvSpPr/>
          <p:nvPr/>
        </p:nvSpPr>
        <p:spPr>
          <a:xfrm>
            <a:off x="4434840" y="4546397"/>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Determine image PPI and simple printing costs.</a:t>
            </a:r>
            <a:endParaRPr lang="en-US" sz="1740" dirty="0"/>
          </a:p>
        </p:txBody>
      </p:sp>
      <p:sp>
        <p:nvSpPr>
          <p:cNvPr id="31" name="Shape 29"/>
          <p:cNvSpPr/>
          <p:nvPr/>
        </p:nvSpPr>
        <p:spPr>
          <a:xfrm>
            <a:off x="612648" y="531815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32" name="Shape 30"/>
          <p:cNvSpPr/>
          <p:nvPr/>
        </p:nvSpPr>
        <p:spPr>
          <a:xfrm>
            <a:off x="795528" y="5446166"/>
            <a:ext cx="594360" cy="488290"/>
          </a:xfrm>
          <a:prstGeom prst="roundRect">
            <a:avLst>
              <a:gd name="adj" fmla="val 22472"/>
            </a:avLst>
          </a:prstGeom>
          <a:solidFill>
            <a:srgbClr val="078A91"/>
          </a:solidFill>
          <a:ln w="12700">
            <a:solidFill>
              <a:srgbClr val="078A91"/>
            </a:solidFill>
            <a:prstDash val="solid"/>
          </a:ln>
        </p:spPr>
        <p:txBody>
          <a:bodyPr/>
          <a:p/>
        </p:txBody>
      </p:sp>
      <p:sp>
        <p:nvSpPr>
          <p:cNvPr id="33" name="Text 31"/>
          <p:cNvSpPr/>
          <p:nvPr/>
        </p:nvSpPr>
        <p:spPr>
          <a:xfrm>
            <a:off x="996696" y="550103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4" name="Text 32"/>
          <p:cNvSpPr/>
          <p:nvPr/>
        </p:nvSpPr>
        <p:spPr>
          <a:xfrm>
            <a:off x="1554480" y="542787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Diagnose</a:t>
            </a:r>
            <a:endParaRPr lang="en-US" sz="1870" dirty="0"/>
          </a:p>
        </p:txBody>
      </p:sp>
      <p:sp>
        <p:nvSpPr>
          <p:cNvPr id="35" name="Text 33"/>
          <p:cNvSpPr/>
          <p:nvPr/>
        </p:nvSpPr>
        <p:spPr>
          <a:xfrm>
            <a:off x="4434840" y="540959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Identify common defects and apply safe first checks.</a:t>
            </a:r>
            <a:endParaRPr lang="en-US" sz="1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COURSE CONNECTION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Why printing is part of DTP</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design is used by real people, often beyond the screen.</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03</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The final output matters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Desktop publishing does not finish when a student saves a file. For printed publications, the physical page must preserve the words, graphics, arrangement and intended quality of the design. Poor settings can make a correct layout unreadable or inaccurately sized.</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Our example is the A4 “Stay Safe Online” hand-out completed in Lectures 7 and 8.</a:t>
            </a:r>
            <a:endParaRPr lang="en-US" sz="1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From designed PDF to printed hand-out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workflow is short, but each check has a distinct purpose.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04</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1_Print_Workflow.png">    </p:cNvPr>
          <p:cNvPicPr>
            <a:picLocks noChangeAspect="1"/>
          </p:cNvPicPr>
          <p:nvPr/>
        </p:nvPicPr>
        <p:blipFill>
          <a:blip r:embed="rId1"/>
          <a:stretch>
            <a:fillRect/>
          </a:stretch>
        </p:blipFill>
        <p:spPr>
          <a:xfrm>
            <a:off x="640080" y="2511874"/>
            <a:ext cx="6483096" cy="2867523"/>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Five-stage workflow</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80" dirty="0">
                <a:solidFill>
                  <a:srgbClr val="173552"/>
                </a:solidFill>
                <a:latin typeface="Aptos" pitchFamily="34" charset="0"/>
                <a:ea typeface="Aptos" pitchFamily="34" charset="-122"/>
                <a:cs typeface="Aptos" pitchFamily="34" charset="-120"/>
              </a:rPr>
              <a:t>Review the editable design; export a fresh PDF; inspect the proof; select printer settings; then examine the first printed copy. If you find an error, correct the source or settings before printing the whole batch.</a:t>
            </a:r>
            <a:endParaRPr lang="en-US" sz="1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Printed output and digital output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same publication may be delivered in more than one way.</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05</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Digital publication</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PDF shared by phone, email or a learning portal is viewed on a screen. File size, screen legibility and device compatibility matter. Digital viewing does not confirm that colours or margins will print identically.</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Printed publication</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physical hand-out requires appropriate paper, actual page dimensions, printer settings and acceptable image detail. Printed colours can differ from screen colours, so one test print is useful.</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Which printing method should we choose?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There is no single printer type that is best for all purposes.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06</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3_Print_Methods.png">    </p:cNvPr>
          <p:cNvPicPr>
            <a:picLocks noChangeAspect="1"/>
          </p:cNvPicPr>
          <p:nvPr/>
        </p:nvPicPr>
        <p:blipFill>
          <a:blip r:embed="rId1"/>
          <a:stretch>
            <a:fillRect/>
          </a:stretch>
        </p:blipFill>
        <p:spPr>
          <a:xfrm>
            <a:off x="640080" y="2418971"/>
            <a:ext cx="6483096" cy="3053329"/>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Compare needs</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80" dirty="0">
                <a:solidFill>
                  <a:srgbClr val="173552"/>
                </a:solidFill>
                <a:latin typeface="Aptos" pitchFamily="34" charset="0"/>
                <a:ea typeface="Aptos" pitchFamily="34" charset="-122"/>
                <a:cs typeface="Aptos" pitchFamily="34" charset="-120"/>
              </a:rPr>
              <a:t>Inkjet may suit small colour image tasks; laser often suits repeated office text; commercial printing helps with special paper, larger runs and finishing. Costs, quality and availability vary by device and service.</a:t>
            </a:r>
            <a:endParaRPr lang="en-US" sz="1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Inkjet printing</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Many small printers use inkjet technology.</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07</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Basic idea</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An inkjet printer places droplets of liquid ink onto the paper. It may produce detailed photographic results when suitable ink and paper are used. However, drying, ink consumption and colour quality depend on the device and media.</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Example: printing a colourful educational poster in a small office.</a:t>
            </a:r>
            <a:endParaRPr lang="en-US" sz="1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Laser printing</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Often used for office text and repeated pages.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Basic idea</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laser printer typically transfers toner to paper and fixes it with heat. It can produce crisp text and efficient document printing, though colour quality and accepted paper types vary between models.</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Example: producing a stack of black-and-white class hand-outs.</a:t>
            </a:r>
            <a:endParaRPr lang="en-US" sz="1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Commercial printing services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print shop may offer more than a standard desktop printer.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09</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Basic idea</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Commercial printers can use digital presses or offset processes and offer specialised paper, folding, trimming and binding. Quantity, colour requirements, finishing and production time affect the method selected.</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For a large order, ask the provider for page size, bleed, file format and finishing requirements before export.</a:t>
            </a:r>
            <a:endParaRPr lang="en-US" sz="1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Paper properties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sheet itself changes the final result.</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10</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Size and thickness</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A4 measures 210 × 297 mm. Paper weight is often expressed in gsm (grams per square metre). Ordinary office paper and heavier brochure stock are not interchangeable for every printer or purpose.</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Finish and suitability</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Coated and uncoated surfaces absorb or reflect ink differently. Some printers restrict coated, textured or heavy paper. Always use paper compatible with the specific printer and expected output.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Choose a suitable method</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Think about the audience, quantity and resources.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11</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Which is more sensible for 20 text-heavy course hand-outs: a local office laser printer or an offset press? Give two reasons.</a:t>
            </a:r>
            <a:endParaRPr lang="en-US" sz="240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Mention quantity, setup needs, paper and access; the answer can depend on real costs.</a:t>
            </a:r>
            <a:endParaRPr lang="en-US" sz="17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is a print-ready document?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file can look correct on screen but still be unsuitable for a press.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12</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Working definition</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print-ready document is a publication checked and prepared to meet the requirements of its intended printing process. It normally has the correct dimensions, complete text, sound graphics, suitable fonts and an appropriately exported file.</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Different print providers have different requirements, so always confirm the actual specification.</a:t>
            </a:r>
            <a:endParaRPr lang="en-US" sz="18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Editable file versus PDF proof</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These two documents have different responsibilities.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13</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Editable source (.indd)</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InDesign file holds the editable layout and may depend on linked images and fonts. Keep it organised so text, positions and graphics can be corrected before final output.</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PDF proof</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PDF shows the intended exported page for inspection and sharing. It is convenient for printing, but exporting does not automatically resolve hidden text, blurry images or an unsuitable page setup.</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PAGE GEOMETRY</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Trim, bleed and safe area</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These zones should not be confused with each other.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14</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2_Trim_Bleed_Safe.png">    </p:cNvPr>
          <p:cNvPicPr>
            <a:picLocks noChangeAspect="1"/>
          </p:cNvPicPr>
          <p:nvPr/>
        </p:nvPicPr>
        <p:blipFill>
          <a:blip r:embed="rId1"/>
          <a:stretch>
            <a:fillRect/>
          </a:stretch>
        </p:blipFill>
        <p:spPr>
          <a:xfrm>
            <a:off x="640080" y="2149643"/>
            <a:ext cx="6483096" cy="3591986"/>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Remember the difference</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40" dirty="0">
                <a:solidFill>
                  <a:srgbClr val="173552"/>
                </a:solidFill>
                <a:latin typeface="Aptos" pitchFamily="34" charset="0"/>
                <a:ea typeface="Aptos" pitchFamily="34" charset="-122"/>
                <a:cs typeface="Aptos" pitchFamily="34" charset="-120"/>
              </a:rPr>
              <a:t>Trim is the intended finished edge. Bleed extends background artwork beyond that line. The safe area keeps essential information inside the cut. A 3 mm bleed is just an illustrative value: confirm the provider’s instruction.</a:t>
            </a:r>
            <a:endParaRPr lang="en-US" sz="17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Safe margins on an A4 hand-out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normal office hand-out may not require a full commercial bleed setup.</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15</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Practical classroom choice</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For our simple A4 hand-out, keep the title, body text and logo comfortably within the printable area. Margins protect readability and help avoid printer limitations. Background-to-edge printing requires a printer capable of borderless output or later trimming.</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The supplied A4 PDF is an instructional example; it is not a certified commercial press file.</a:t>
            </a:r>
            <a:endParaRPr lang="en-US" sz="1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SETTINGS</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Printer dialogue: five settings to inspect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Menu names and available choices differ by device.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16</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5_Print_Settings.png">    </p:cNvPr>
          <p:cNvPicPr>
            <a:picLocks noChangeAspect="1"/>
          </p:cNvPicPr>
          <p:nvPr/>
        </p:nvPicPr>
        <p:blipFill>
          <a:blip r:embed="rId1"/>
          <a:stretch>
            <a:fillRect/>
          </a:stretch>
        </p:blipFill>
        <p:spPr>
          <a:xfrm>
            <a:off x="640080" y="2196906"/>
            <a:ext cx="6483096" cy="3497460"/>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Checklist</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Confirm paper size, actual size/scale, sides, colour or greyscale, and output quality. Check the paper tray and orientation too. Never assume the software has chosen the right values automatically.</a:t>
            </a:r>
            <a:endParaRPr lang="en-US" sz="17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“Actual size” versus “Fit to page”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small selection can change the physical dimensions.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17</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Actual size (100%)</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Normally prints at the intended scale when page and paper agree. Choose this for our A4 classroom proof unless the printer or document indicates otherwise.</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Fit to page</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May shrink or scale the image to a printable area. Useful in some situations, but it can alter measurements and reduce the size of text or layout. Inspect the preview before proceeding.</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Orientation, paper and number of copies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Basic settings are as important as advanced options.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Practical rule</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Choose A4 portrait for the Tumaini hand-out. Confirm the tray paper matches the PDF size and choose the number of copies needed. A single test copy is usually better than discovering a mistake after producing a large batch.</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If a printer does not support edge-to-edge A4, the printable margins may affect output.</a:t>
            </a:r>
            <a:endParaRPr lang="en-US" sz="18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does duplex mean?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Some documents use both sides of the paper.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19</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Duplex printing places content on the front and back of the same sheet. It can reduce paper consumption for multipage documents. The long-edge or short-edge flip setting determines page orientation when turning the sheet.</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Our one-page hand-out is normally single-sided; duplex is introduced for later publications.</a:t>
            </a:r>
            <a:endParaRPr lang="en-US" sz="18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Choose settings for one page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PDF is already a single-page A4 portrait file.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20</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State appropriate settings for paper size, scale, sides, colour and copies when producing ONE proof of the hand-out.</a:t>
            </a:r>
            <a:endParaRPr lang="en-US" sz="240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Use A4, actual size, single-sided and one copy; colour depends on the available printer.</a:t>
            </a:r>
            <a:endParaRPr lang="en-US" sz="17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FORMULA</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does PPI mean?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Image detail has a relationship with its final printed size.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21</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Effective PPI</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Pixels per inch measures the density of image pixels at the size they are printed. The same photograph has lower effective PPI when placed at a larger physical width. This is different from the printer’s dots-per-inch (DPI) specification.</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Effective PPI = (pixel width × 25.4) ÷ printed width in millimetres.</a:t>
            </a:r>
            <a:endParaRPr lang="en-US" sz="18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WORKED EXAMPLE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Calculate effective PPI</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image is 1,800 pixels wide and prints at 150 mm.</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22</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4_Effective_PPI.png">    </p:cNvPr>
          <p:cNvPicPr>
            <a:picLocks noChangeAspect="1"/>
          </p:cNvPicPr>
          <p:nvPr/>
        </p:nvPicPr>
        <p:blipFill>
          <a:blip r:embed="rId1"/>
          <a:stretch>
            <a:fillRect/>
          </a:stretch>
        </p:blipFill>
        <p:spPr>
          <a:xfrm>
            <a:off x="640080" y="2377828"/>
            <a:ext cx="6483096" cy="3135615"/>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Worked solution</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80" dirty="0">
                <a:solidFill>
                  <a:srgbClr val="173552"/>
                </a:solidFill>
                <a:latin typeface="Aptos" pitchFamily="34" charset="0"/>
                <a:ea typeface="Aptos" pitchFamily="34" charset="-122"/>
                <a:cs typeface="Aptos" pitchFamily="34" charset="-120"/>
              </a:rPr>
              <a:t>1,800 × 25.4 ÷ 150 = 304.8 PPI. This value is useful evidence about image detail at the intended size. The appropriate resolution depends on print technology, image type and viewing distance.</a:t>
            </a:r>
            <a:endParaRPr lang="en-US" sz="17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PPI is not the same as DPI</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Two important terms often appear in print settings.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23</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Image PPI</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Describes how the image’s original pixels are distributed at the placed print dimensions. Enlarging an image usually lowers its effective PPI.</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Printer DPI</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Describes the density or addressability of printing marks. Selecting a higher DPI mode in the driver does not magically recreate details absent from the original image.</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Your turn: PPI calculation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Show working before deciding whether the image is suitable.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24</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A photograph is 1,200 pixels wide and is printed 150 mm wide. Calculate its effective PPI.</a:t>
            </a:r>
            <a:endParaRPr lang="en-US" sz="240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Use pixel width × 25.4 ÷ printed width in millimetres.</a:t>
            </a:r>
            <a:endParaRPr lang="en-US" sz="17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should a good print look like?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visual quality check considers more than colour alone.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25</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Inspect these properties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Printed body text should be sharp and legible. Images should contain sufficient detail. Content should be correctly placed and not clipped. Colour, streaking, margins and page orientation should be sensible for the specified output.</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Compare the printed copy with the PDF proof before printing multiple copies.</a:t>
            </a:r>
            <a:endParaRPr lang="en-US" sz="18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PRINT QUALITY</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Recognise common printing defects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symptom is a starting point for diagnosis, not proof of one cause.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26</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6_Common_Print_Defects.png">    </p:cNvPr>
          <p:cNvPicPr>
            <a:picLocks noChangeAspect="1"/>
          </p:cNvPicPr>
          <p:nvPr/>
        </p:nvPicPr>
        <p:blipFill>
          <a:blip r:embed="rId1"/>
          <a:stretch>
            <a:fillRect/>
          </a:stretch>
        </p:blipFill>
        <p:spPr>
          <a:xfrm>
            <a:off x="640080" y="2179408"/>
            <a:ext cx="6483096" cy="3532456"/>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Four typical symptoms</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50" dirty="0">
                <a:solidFill>
                  <a:srgbClr val="173552"/>
                </a:solidFill>
                <a:latin typeface="Aptos" pitchFamily="34" charset="0"/>
                <a:ea typeface="Aptos" pitchFamily="34" charset="-122"/>
                <a:cs typeface="Aptos" pitchFamily="34" charset="-120"/>
              </a:rPr>
              <a:t>Pixelation, banding, misalignment and colour shift can come from different problems. Compare the PDF with the print and check relevant settings before changing or replacing equipment.</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Pixelation and blur</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photo that looks clear at small size may fail when enlarged.</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27</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Possible reasons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Pixelation can occur when too few pixels are spread across a large printed area. Blur can result from low detail, image editing or output conditions. Begin by checking the original photograph and effective PPI at the final page size.</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Avoid enlarging a small screenshot or thumbnail to fill a large hand-out.</a:t>
            </a:r>
            <a:endParaRPr lang="en-US" sz="18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Banding and streaks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These marks may not exist in the original PDF.</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Possible reasons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Banding consists of unwanted repeated light, dark or coloured lines. Causes may include printhead or toner issues, feed problems, media and maintenance needs. Compare the source with a print test and use the manufacturer’s prescribed checks.</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Do not assume all banding can be fixed by changing image contrast.</a:t>
            </a:r>
            <a:endParaRPr lang="en-US" sz="18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Misalignment and unexpected cropping</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Paper size and driver settings are common places to investigate.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29</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Possible reasons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If content is shifted, cut off or reduced, compare PDF page size, paper orientation, scaling and available printer margins. If the PDF itself is already incorrect, return to the editable publication instead of repeatedly adjusting the printer.</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One-page test prints help distinguish document errors from printer-setting problems.</a:t>
            </a:r>
            <a:endParaRPr lang="en-US" sz="18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Colour differences between screen and print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Screens and paper produce colour in different ways.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30</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Possible reasons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Screen brightness, colour profiles, ink or toner, media type and printer condition can all affect colour appearance. Print may look less vivid than the monitor. For a classroom task, prioritise readable contrast and consistent, intentional use of colour.</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For professional accuracy, use the print provider’s colour specifications and proofing process.</a:t>
            </a:r>
            <a:endParaRPr lang="en-US" sz="18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TROUBLESHOOTING</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Safe diagnosis is a step-by-step process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Avoid experimenting with the whole printer at once.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31</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09_Package/resources/Fig07_Diagnosis_Flow.png">    </p:cNvPr>
          <p:cNvPicPr>
            <a:picLocks noChangeAspect="1"/>
          </p:cNvPicPr>
          <p:nvPr/>
        </p:nvPicPr>
        <p:blipFill>
          <a:blip r:embed="rId1"/>
          <a:stretch>
            <a:fillRect/>
          </a:stretch>
        </p:blipFill>
        <p:spPr>
          <a:xfrm>
            <a:off x="640080" y="2449537"/>
            <a:ext cx="6483096" cy="2992198"/>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Five checks</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730" dirty="0">
                <a:solidFill>
                  <a:srgbClr val="173552"/>
                </a:solidFill>
                <a:latin typeface="Aptos" pitchFamily="34" charset="0"/>
                <a:ea typeface="Aptos" pitchFamily="34" charset="-122"/>
                <a:cs typeface="Aptos" pitchFamily="34" charset="-120"/>
              </a:rPr>
              <a:t>Name the symptom; inspect the PDF; verify size, media and settings; print one corrected sample; and record what changed. If hardware work is needed, follow the manufacturer’s safety guidance.</a:t>
            </a:r>
            <a:endParaRPr lang="en-US" sz="17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SAFETY</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Paper jams and printer maintenance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Students should know basic precautions, not internal repair.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32</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Safety first</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Power, heat and moving rollers can make printer maintenance hazardous. If a sheet jams, stop the job and follow the printer manual or lab technician’s instructions. Avoid forcing paper through the machine or touching hot internal parts.</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When in doubt, report the problem instead of dismantling the equipment.</a:t>
            </a:r>
            <a:endParaRPr lang="en-US" sz="18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COST EXAMPLE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Estimate simple printing costs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Only use a quoted price when planning real jobs.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33</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Basic method</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The number of required sheets depends on page count, copies and whether printing is single- or double-sided. Multiply the number of printed sheets by the stated unit price; add other supplier charges if applicable. Classroom figures are hypothetical.</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Example: 30 single-page hand-outs × TZS 150 per printed sheet = TZS 4,500.</a:t>
            </a:r>
            <a:endParaRPr lang="en-US" sz="18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Quick cost calculation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Use a fictional teaching quotation.</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34</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A training centre needs 40 one-page, single-sided A4 hand-outs at TZS 120 per sheet. What is the estimated charge, excluding other costs?</a:t>
            </a:r>
            <a:endParaRPr lang="en-US" sz="240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Multiply 40 × 120, and label your answer in Tanzanian shillings.</a:t>
            </a:r>
            <a:endParaRPr lang="en-US" sz="17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PRACTICAL WORKFLOW</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Practical: prepare and test the hand-out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Use the completed “Stay Safe Online” PDF from Lecture 8.</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35</a:t>
            </a:r>
            <a:endParaRPr lang="en-US" sz="1000" dirty="0"/>
          </a:p>
        </p:txBody>
      </p:sp>
      <p:sp>
        <p:nvSpPr>
          <p:cNvPr id="11" name="Shape 9"/>
          <p:cNvSpPr/>
          <p:nvPr/>
        </p:nvSpPr>
        <p:spPr>
          <a:xfrm>
            <a:off x="612648" y="1865376"/>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2" name="Shape 10"/>
          <p:cNvSpPr/>
          <p:nvPr/>
        </p:nvSpPr>
        <p:spPr>
          <a:xfrm>
            <a:off x="795528" y="1993392"/>
            <a:ext cx="594360" cy="488290"/>
          </a:xfrm>
          <a:prstGeom prst="roundRect">
            <a:avLst>
              <a:gd name="adj" fmla="val 22472"/>
            </a:avLst>
          </a:prstGeom>
          <a:solidFill>
            <a:srgbClr val="078A91"/>
          </a:solidFill>
          <a:ln w="12700">
            <a:solidFill>
              <a:srgbClr val="078A91"/>
            </a:solidFill>
            <a:prstDash val="solid"/>
          </a:ln>
        </p:spPr>
        <p:txBody>
          <a:bodyPr/>
          <a:p/>
        </p:txBody>
      </p:sp>
      <p:sp>
        <p:nvSpPr>
          <p:cNvPr id="13" name="Text 11"/>
          <p:cNvSpPr/>
          <p:nvPr/>
        </p:nvSpPr>
        <p:spPr>
          <a:xfrm>
            <a:off x="996696" y="2048256"/>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4" name="Text 12"/>
          <p:cNvSpPr/>
          <p:nvPr/>
        </p:nvSpPr>
        <p:spPr>
          <a:xfrm>
            <a:off x="1554480" y="1975104"/>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Inspect PDF</a:t>
            </a:r>
            <a:endParaRPr lang="en-US" sz="1870" dirty="0"/>
          </a:p>
        </p:txBody>
      </p:sp>
      <p:sp>
        <p:nvSpPr>
          <p:cNvPr id="15" name="Text 13"/>
          <p:cNvSpPr/>
          <p:nvPr/>
        </p:nvSpPr>
        <p:spPr>
          <a:xfrm>
            <a:off x="4434840" y="1956816"/>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Check title, tips, placed graphic and A4 page size.</a:t>
            </a:r>
            <a:endParaRPr lang="en-US" sz="1740" dirty="0"/>
          </a:p>
        </p:txBody>
      </p:sp>
      <p:sp>
        <p:nvSpPr>
          <p:cNvPr id="16" name="Shape 14"/>
          <p:cNvSpPr/>
          <p:nvPr/>
        </p:nvSpPr>
        <p:spPr>
          <a:xfrm>
            <a:off x="612648" y="272857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7" name="Shape 15"/>
          <p:cNvSpPr/>
          <p:nvPr/>
        </p:nvSpPr>
        <p:spPr>
          <a:xfrm>
            <a:off x="795528" y="2856586"/>
            <a:ext cx="594360" cy="488290"/>
          </a:xfrm>
          <a:prstGeom prst="roundRect">
            <a:avLst>
              <a:gd name="adj" fmla="val 22472"/>
            </a:avLst>
          </a:prstGeom>
          <a:solidFill>
            <a:srgbClr val="173552"/>
          </a:solidFill>
          <a:ln w="12700">
            <a:solidFill>
              <a:srgbClr val="173552"/>
            </a:solidFill>
            <a:prstDash val="solid"/>
          </a:ln>
        </p:spPr>
        <p:txBody>
          <a:bodyPr/>
          <a:p/>
        </p:txBody>
      </p:sp>
      <p:sp>
        <p:nvSpPr>
          <p:cNvPr id="18" name="Text 16"/>
          <p:cNvSpPr/>
          <p:nvPr/>
        </p:nvSpPr>
        <p:spPr>
          <a:xfrm>
            <a:off x="996696" y="291145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9" name="Text 17"/>
          <p:cNvSpPr/>
          <p:nvPr/>
        </p:nvSpPr>
        <p:spPr>
          <a:xfrm>
            <a:off x="1554480" y="283829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Choose settings</a:t>
            </a:r>
            <a:endParaRPr lang="en-US" sz="1870" dirty="0"/>
          </a:p>
        </p:txBody>
      </p:sp>
      <p:sp>
        <p:nvSpPr>
          <p:cNvPr id="20" name="Text 18"/>
          <p:cNvSpPr/>
          <p:nvPr/>
        </p:nvSpPr>
        <p:spPr>
          <a:xfrm>
            <a:off x="4434840" y="282001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Select paper, scale, colour and number of copies.</a:t>
            </a:r>
            <a:endParaRPr lang="en-US" sz="1740" dirty="0"/>
          </a:p>
        </p:txBody>
      </p:sp>
      <p:sp>
        <p:nvSpPr>
          <p:cNvPr id="21" name="Shape 19"/>
          <p:cNvSpPr/>
          <p:nvPr/>
        </p:nvSpPr>
        <p:spPr>
          <a:xfrm>
            <a:off x="612648" y="3591763"/>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2" name="Shape 20"/>
          <p:cNvSpPr/>
          <p:nvPr/>
        </p:nvSpPr>
        <p:spPr>
          <a:xfrm>
            <a:off x="795528" y="3719779"/>
            <a:ext cx="594360" cy="488290"/>
          </a:xfrm>
          <a:prstGeom prst="roundRect">
            <a:avLst>
              <a:gd name="adj" fmla="val 22472"/>
            </a:avLst>
          </a:prstGeom>
          <a:solidFill>
            <a:srgbClr val="078A91"/>
          </a:solidFill>
          <a:ln w="12700">
            <a:solidFill>
              <a:srgbClr val="078A91"/>
            </a:solidFill>
            <a:prstDash val="solid"/>
          </a:ln>
        </p:spPr>
        <p:txBody>
          <a:bodyPr/>
          <a:p/>
        </p:txBody>
      </p:sp>
      <p:sp>
        <p:nvSpPr>
          <p:cNvPr id="23" name="Text 21"/>
          <p:cNvSpPr/>
          <p:nvPr/>
        </p:nvSpPr>
        <p:spPr>
          <a:xfrm>
            <a:off x="996696" y="3774643"/>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4" name="Text 22"/>
          <p:cNvSpPr/>
          <p:nvPr/>
        </p:nvSpPr>
        <p:spPr>
          <a:xfrm>
            <a:off x="1554480" y="3701491"/>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Calculate</a:t>
            </a:r>
            <a:endParaRPr lang="en-US" sz="1870" dirty="0"/>
          </a:p>
        </p:txBody>
      </p:sp>
      <p:sp>
        <p:nvSpPr>
          <p:cNvPr id="25" name="Text 23"/>
          <p:cNvSpPr/>
          <p:nvPr/>
        </p:nvSpPr>
        <p:spPr>
          <a:xfrm>
            <a:off x="4434840" y="3683203"/>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Find effective PPI and estimated printed-copy cost.</a:t>
            </a:r>
            <a:endParaRPr lang="en-US" sz="1740" dirty="0"/>
          </a:p>
        </p:txBody>
      </p:sp>
      <p:sp>
        <p:nvSpPr>
          <p:cNvPr id="26" name="Shape 24"/>
          <p:cNvSpPr/>
          <p:nvPr/>
        </p:nvSpPr>
        <p:spPr>
          <a:xfrm>
            <a:off x="612648" y="4454957"/>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7" name="Shape 25"/>
          <p:cNvSpPr/>
          <p:nvPr/>
        </p:nvSpPr>
        <p:spPr>
          <a:xfrm>
            <a:off x="795528" y="4582973"/>
            <a:ext cx="594360" cy="488290"/>
          </a:xfrm>
          <a:prstGeom prst="roundRect">
            <a:avLst>
              <a:gd name="adj" fmla="val 22472"/>
            </a:avLst>
          </a:prstGeom>
          <a:solidFill>
            <a:srgbClr val="173552"/>
          </a:solidFill>
          <a:ln w="12700">
            <a:solidFill>
              <a:srgbClr val="173552"/>
            </a:solidFill>
            <a:prstDash val="solid"/>
          </a:ln>
        </p:spPr>
        <p:txBody>
          <a:bodyPr/>
          <a:p/>
        </p:txBody>
      </p:sp>
      <p:sp>
        <p:nvSpPr>
          <p:cNvPr id="28" name="Text 26"/>
          <p:cNvSpPr/>
          <p:nvPr/>
        </p:nvSpPr>
        <p:spPr>
          <a:xfrm>
            <a:off x="996696" y="4637837"/>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1554480" y="4564685"/>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Print or analyse</a:t>
            </a:r>
            <a:endParaRPr lang="en-US" sz="1870" dirty="0"/>
          </a:p>
        </p:txBody>
      </p:sp>
      <p:sp>
        <p:nvSpPr>
          <p:cNvPr id="30" name="Text 28"/>
          <p:cNvSpPr/>
          <p:nvPr/>
        </p:nvSpPr>
        <p:spPr>
          <a:xfrm>
            <a:off x="4434840" y="4546397"/>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Use a test page if available; otherwise inspect defect examples.</a:t>
            </a:r>
            <a:endParaRPr lang="en-US" sz="1740" dirty="0"/>
          </a:p>
        </p:txBody>
      </p:sp>
      <p:sp>
        <p:nvSpPr>
          <p:cNvPr id="31" name="Shape 29"/>
          <p:cNvSpPr/>
          <p:nvPr/>
        </p:nvSpPr>
        <p:spPr>
          <a:xfrm>
            <a:off x="612648" y="531815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32" name="Shape 30"/>
          <p:cNvSpPr/>
          <p:nvPr/>
        </p:nvSpPr>
        <p:spPr>
          <a:xfrm>
            <a:off x="795528" y="5446166"/>
            <a:ext cx="594360" cy="488290"/>
          </a:xfrm>
          <a:prstGeom prst="roundRect">
            <a:avLst>
              <a:gd name="adj" fmla="val 22472"/>
            </a:avLst>
          </a:prstGeom>
          <a:solidFill>
            <a:srgbClr val="078A91"/>
          </a:solidFill>
          <a:ln w="12700">
            <a:solidFill>
              <a:srgbClr val="078A91"/>
            </a:solidFill>
            <a:prstDash val="solid"/>
          </a:ln>
        </p:spPr>
        <p:txBody>
          <a:bodyPr/>
          <a:p/>
        </p:txBody>
      </p:sp>
      <p:sp>
        <p:nvSpPr>
          <p:cNvPr id="33" name="Text 31"/>
          <p:cNvSpPr/>
          <p:nvPr/>
        </p:nvSpPr>
        <p:spPr>
          <a:xfrm>
            <a:off x="996696" y="550103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4" name="Text 32"/>
          <p:cNvSpPr/>
          <p:nvPr/>
        </p:nvSpPr>
        <p:spPr>
          <a:xfrm>
            <a:off x="1554480" y="542787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Record</a:t>
            </a:r>
            <a:endParaRPr lang="en-US" sz="1870" dirty="0"/>
          </a:p>
        </p:txBody>
      </p:sp>
      <p:sp>
        <p:nvSpPr>
          <p:cNvPr id="35" name="Text 33"/>
          <p:cNvSpPr/>
          <p:nvPr/>
        </p:nvSpPr>
        <p:spPr>
          <a:xfrm>
            <a:off x="4434840" y="540959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Write observations and a justified correction or next step.</a:t>
            </a:r>
            <a:endParaRPr lang="en-US" sz="174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PRACTICAL</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The test page is a diagnostic aid</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An A4 chart is supplied in the practical resources.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36</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How to use it</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Print the chart at actual size where possible. Compare large and small text, coloured areas, fine lines and page alignment. Record what you notice. The chart can support a basic classroom quality check but is not a professional colour-calibration tool.</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If no printer is available, use the printed-defect illustrations and complete a reasoned diagnosis.</a:t>
            </a:r>
            <a:endParaRPr lang="en-US" sz="18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Diagnose a problem</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Decide which part of the workflow should be checked first.</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37</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The hand-out looks correct as a PDF, but the printed page is unexpectedly smaller. Name one likely cause and one appropriate correction.</a:t>
            </a:r>
            <a:endParaRPr lang="en-US" sz="240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Check scaling and paper size before changing the design itself.</a:t>
            </a:r>
            <a:endParaRPr lang="en-US" sz="17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Keep a useful quality-control record</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short record helps explain why a decision was made.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Record evidence</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Write down the file name, printer settings, paper size, number of copies and observed problem. State the suspected cause and what you checked. A useful report separates what was actually observed from what was only assumed.</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Example: “PDF is A4; driver used Fit to page; test output is smaller; retry at 100%.”</a:t>
            </a:r>
            <a:endParaRPr lang="en-US" sz="18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SUMMARY</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Five things to remember</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These ideas connect the entire lecture.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39</a:t>
            </a:r>
            <a:endParaRPr lang="en-US" sz="1000" dirty="0"/>
          </a:p>
        </p:txBody>
      </p:sp>
      <p:sp>
        <p:nvSpPr>
          <p:cNvPr id="11" name="Shape 9"/>
          <p:cNvSpPr/>
          <p:nvPr/>
        </p:nvSpPr>
        <p:spPr>
          <a:xfrm>
            <a:off x="612648" y="1865376"/>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2" name="Shape 10"/>
          <p:cNvSpPr/>
          <p:nvPr/>
        </p:nvSpPr>
        <p:spPr>
          <a:xfrm>
            <a:off x="795528" y="1993392"/>
            <a:ext cx="594360" cy="488290"/>
          </a:xfrm>
          <a:prstGeom prst="roundRect">
            <a:avLst>
              <a:gd name="adj" fmla="val 22472"/>
            </a:avLst>
          </a:prstGeom>
          <a:solidFill>
            <a:srgbClr val="078A91"/>
          </a:solidFill>
          <a:ln w="12700">
            <a:solidFill>
              <a:srgbClr val="078A91"/>
            </a:solidFill>
            <a:prstDash val="solid"/>
          </a:ln>
        </p:spPr>
        <p:txBody>
          <a:bodyPr/>
          <a:p/>
        </p:txBody>
      </p:sp>
      <p:sp>
        <p:nvSpPr>
          <p:cNvPr id="13" name="Text 11"/>
          <p:cNvSpPr/>
          <p:nvPr/>
        </p:nvSpPr>
        <p:spPr>
          <a:xfrm>
            <a:off x="996696" y="2048256"/>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4" name="Text 12"/>
          <p:cNvSpPr/>
          <p:nvPr/>
        </p:nvSpPr>
        <p:spPr>
          <a:xfrm>
            <a:off x="1554480" y="1975104"/>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Choose</a:t>
            </a:r>
            <a:endParaRPr lang="en-US" sz="1870" dirty="0"/>
          </a:p>
        </p:txBody>
      </p:sp>
      <p:sp>
        <p:nvSpPr>
          <p:cNvPr id="15" name="Text 13"/>
          <p:cNvSpPr/>
          <p:nvPr/>
        </p:nvSpPr>
        <p:spPr>
          <a:xfrm>
            <a:off x="4434840" y="1956816"/>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A printer and paper appropriate for the publication.</a:t>
            </a:r>
            <a:endParaRPr lang="en-US" sz="1740" dirty="0"/>
          </a:p>
        </p:txBody>
      </p:sp>
      <p:sp>
        <p:nvSpPr>
          <p:cNvPr id="16" name="Shape 14"/>
          <p:cNvSpPr/>
          <p:nvPr/>
        </p:nvSpPr>
        <p:spPr>
          <a:xfrm>
            <a:off x="612648" y="272857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7" name="Shape 15"/>
          <p:cNvSpPr/>
          <p:nvPr/>
        </p:nvSpPr>
        <p:spPr>
          <a:xfrm>
            <a:off x="795528" y="2856586"/>
            <a:ext cx="594360" cy="488290"/>
          </a:xfrm>
          <a:prstGeom prst="roundRect">
            <a:avLst>
              <a:gd name="adj" fmla="val 22472"/>
            </a:avLst>
          </a:prstGeom>
          <a:solidFill>
            <a:srgbClr val="173552"/>
          </a:solidFill>
          <a:ln w="12700">
            <a:solidFill>
              <a:srgbClr val="173552"/>
            </a:solidFill>
            <a:prstDash val="solid"/>
          </a:ln>
        </p:spPr>
        <p:txBody>
          <a:bodyPr/>
          <a:p/>
        </p:txBody>
      </p:sp>
      <p:sp>
        <p:nvSpPr>
          <p:cNvPr id="18" name="Text 16"/>
          <p:cNvSpPr/>
          <p:nvPr/>
        </p:nvSpPr>
        <p:spPr>
          <a:xfrm>
            <a:off x="996696" y="291145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9" name="Text 17"/>
          <p:cNvSpPr/>
          <p:nvPr/>
        </p:nvSpPr>
        <p:spPr>
          <a:xfrm>
            <a:off x="1554480" y="283829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Verify</a:t>
            </a:r>
            <a:endParaRPr lang="en-US" sz="1870" dirty="0"/>
          </a:p>
        </p:txBody>
      </p:sp>
      <p:sp>
        <p:nvSpPr>
          <p:cNvPr id="20" name="Text 18"/>
          <p:cNvSpPr/>
          <p:nvPr/>
        </p:nvSpPr>
        <p:spPr>
          <a:xfrm>
            <a:off x="4434840" y="282001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PDF size, margins and any provider requirements.</a:t>
            </a:r>
            <a:endParaRPr lang="en-US" sz="1740" dirty="0"/>
          </a:p>
        </p:txBody>
      </p:sp>
      <p:sp>
        <p:nvSpPr>
          <p:cNvPr id="21" name="Shape 19"/>
          <p:cNvSpPr/>
          <p:nvPr/>
        </p:nvSpPr>
        <p:spPr>
          <a:xfrm>
            <a:off x="612648" y="3591763"/>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2" name="Shape 20"/>
          <p:cNvSpPr/>
          <p:nvPr/>
        </p:nvSpPr>
        <p:spPr>
          <a:xfrm>
            <a:off x="795528" y="3719779"/>
            <a:ext cx="594360" cy="488290"/>
          </a:xfrm>
          <a:prstGeom prst="roundRect">
            <a:avLst>
              <a:gd name="adj" fmla="val 22472"/>
            </a:avLst>
          </a:prstGeom>
          <a:solidFill>
            <a:srgbClr val="078A91"/>
          </a:solidFill>
          <a:ln w="12700">
            <a:solidFill>
              <a:srgbClr val="078A91"/>
            </a:solidFill>
            <a:prstDash val="solid"/>
          </a:ln>
        </p:spPr>
        <p:txBody>
          <a:bodyPr/>
          <a:p/>
        </p:txBody>
      </p:sp>
      <p:sp>
        <p:nvSpPr>
          <p:cNvPr id="23" name="Text 21"/>
          <p:cNvSpPr/>
          <p:nvPr/>
        </p:nvSpPr>
        <p:spPr>
          <a:xfrm>
            <a:off x="996696" y="3774643"/>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4" name="Text 22"/>
          <p:cNvSpPr/>
          <p:nvPr/>
        </p:nvSpPr>
        <p:spPr>
          <a:xfrm>
            <a:off x="1554480" y="3701491"/>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Calculate</a:t>
            </a:r>
            <a:endParaRPr lang="en-US" sz="1870" dirty="0"/>
          </a:p>
        </p:txBody>
      </p:sp>
      <p:sp>
        <p:nvSpPr>
          <p:cNvPr id="25" name="Text 23"/>
          <p:cNvSpPr/>
          <p:nvPr/>
        </p:nvSpPr>
        <p:spPr>
          <a:xfrm>
            <a:off x="4434840" y="3683203"/>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Effective PPI at the actual placed size.</a:t>
            </a:r>
            <a:endParaRPr lang="en-US" sz="1740" dirty="0"/>
          </a:p>
        </p:txBody>
      </p:sp>
      <p:sp>
        <p:nvSpPr>
          <p:cNvPr id="26" name="Shape 24"/>
          <p:cNvSpPr/>
          <p:nvPr/>
        </p:nvSpPr>
        <p:spPr>
          <a:xfrm>
            <a:off x="612648" y="4454957"/>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7" name="Shape 25"/>
          <p:cNvSpPr/>
          <p:nvPr/>
        </p:nvSpPr>
        <p:spPr>
          <a:xfrm>
            <a:off x="795528" y="4582973"/>
            <a:ext cx="594360" cy="488290"/>
          </a:xfrm>
          <a:prstGeom prst="roundRect">
            <a:avLst>
              <a:gd name="adj" fmla="val 22472"/>
            </a:avLst>
          </a:prstGeom>
          <a:solidFill>
            <a:srgbClr val="173552"/>
          </a:solidFill>
          <a:ln w="12700">
            <a:solidFill>
              <a:srgbClr val="173552"/>
            </a:solidFill>
            <a:prstDash val="solid"/>
          </a:ln>
        </p:spPr>
        <p:txBody>
          <a:bodyPr/>
          <a:p/>
        </p:txBody>
      </p:sp>
      <p:sp>
        <p:nvSpPr>
          <p:cNvPr id="28" name="Text 26"/>
          <p:cNvSpPr/>
          <p:nvPr/>
        </p:nvSpPr>
        <p:spPr>
          <a:xfrm>
            <a:off x="996696" y="4637837"/>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1554480" y="4564685"/>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Inspect</a:t>
            </a:r>
            <a:endParaRPr lang="en-US" sz="1870" dirty="0"/>
          </a:p>
        </p:txBody>
      </p:sp>
      <p:sp>
        <p:nvSpPr>
          <p:cNvPr id="30" name="Text 28"/>
          <p:cNvSpPr/>
          <p:nvPr/>
        </p:nvSpPr>
        <p:spPr>
          <a:xfrm>
            <a:off x="4434840" y="4546397"/>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One sample for clarity, colour and positioning.</a:t>
            </a:r>
            <a:endParaRPr lang="en-US" sz="1740" dirty="0"/>
          </a:p>
        </p:txBody>
      </p:sp>
      <p:sp>
        <p:nvSpPr>
          <p:cNvPr id="31" name="Shape 29"/>
          <p:cNvSpPr/>
          <p:nvPr/>
        </p:nvSpPr>
        <p:spPr>
          <a:xfrm>
            <a:off x="612648" y="531815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32" name="Shape 30"/>
          <p:cNvSpPr/>
          <p:nvPr/>
        </p:nvSpPr>
        <p:spPr>
          <a:xfrm>
            <a:off x="795528" y="5446166"/>
            <a:ext cx="594360" cy="488290"/>
          </a:xfrm>
          <a:prstGeom prst="roundRect">
            <a:avLst>
              <a:gd name="adj" fmla="val 22472"/>
            </a:avLst>
          </a:prstGeom>
          <a:solidFill>
            <a:srgbClr val="078A91"/>
          </a:solidFill>
          <a:ln w="12700">
            <a:solidFill>
              <a:srgbClr val="078A91"/>
            </a:solidFill>
            <a:prstDash val="solid"/>
          </a:ln>
        </p:spPr>
        <p:txBody>
          <a:bodyPr/>
          <a:p/>
        </p:txBody>
      </p:sp>
      <p:sp>
        <p:nvSpPr>
          <p:cNvPr id="33" name="Text 31"/>
          <p:cNvSpPr/>
          <p:nvPr/>
        </p:nvSpPr>
        <p:spPr>
          <a:xfrm>
            <a:off x="996696" y="550103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4" name="Text 32"/>
          <p:cNvSpPr/>
          <p:nvPr/>
        </p:nvSpPr>
        <p:spPr>
          <a:xfrm>
            <a:off x="1554480" y="542787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Correct</a:t>
            </a:r>
            <a:endParaRPr lang="en-US" sz="1870" dirty="0"/>
          </a:p>
        </p:txBody>
      </p:sp>
      <p:sp>
        <p:nvSpPr>
          <p:cNvPr id="35" name="Text 33"/>
          <p:cNvSpPr/>
          <p:nvPr/>
        </p:nvSpPr>
        <p:spPr>
          <a:xfrm>
            <a:off x="4434840" y="540959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The source or settings, then test again before bulk printing.</a:t>
            </a:r>
            <a:endParaRPr lang="en-US" sz="17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End-of-lecture review</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Think about the physical output, not only the PDF.</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40</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400" b="1" dirty="0">
                <a:solidFill>
                  <a:srgbClr val="173552"/>
                </a:solidFill>
                <a:latin typeface="Aptos" pitchFamily="34" charset="0"/>
                <a:ea typeface="Aptos" pitchFamily="34" charset="-122"/>
                <a:cs typeface="Aptos" pitchFamily="34" charset="-120"/>
              </a:rPr>
              <a:t>Why should you inspect a test print before producing 100 copies? State three different problems that a test may reveal.</a:t>
            </a:r>
            <a:endParaRPr lang="en-US" sz="240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Examples include size, image sharpness, colour, cropping and streaks.</a:t>
            </a:r>
            <a:endParaRPr lang="en-US" sz="174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COMING NEXT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Next lecture: Image Processing and Compression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Efficient digital images balance file size and visual quality.</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PRINTING AND QUALITY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41</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Connection to Lecture 10</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You now know how image resolution and printing size affect output quality. In the next lecture, you will compare lossless and lossy formats, measure changes in file size and decide how to preserve useful image quality for digital and printed media.</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Keep your Tumaini image files for the next practical.</a:t>
            </a:r>
            <a:endParaRPr lang="en-US" sz="1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Condensed Lecture 9 — Printing Desktop Publishing Documents</dc:title>
  <dc:subject>Printable handout, settings, resolution and troubleshooting</dc:subject>
  <dc:creator>ITT06105 Desktop Publishing</dc:creator>
  <cp:lastModifiedBy>ITT06105 Desktop Publishing</cp:lastModifiedBy>
  <cp:revision>1</cp:revision>
  <dcterms:created xsi:type="dcterms:W3CDTF">2026-10-22T10:54:52Z</dcterms:created>
  <dcterms:modified xsi:type="dcterms:W3CDTF">2026-10-22T10:54:52Z</dcterms:modified>
</cp:coreProperties>
</file>