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552"/>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78A91"/>
          </a:solidFill>
          <a:ln w="12700">
            <a:solidFill>
              <a:srgbClr val="078A91"/>
            </a:solidFill>
            <a:prstDash val="solid"/>
          </a:ln>
        </p:spPr>
        <p:txBody>
          <a:bodyPr/>
          <a:p/>
        </p:txBody>
      </p:sp>
      <p:sp>
        <p:nvSpPr>
          <p:cNvPr id="3" name="Shape 1"/>
          <p:cNvSpPr/>
          <p:nvPr/>
        </p:nvSpPr>
        <p:spPr>
          <a:xfrm>
            <a:off x="667512" y="539496"/>
            <a:ext cx="3749040" cy="493776"/>
          </a:xfrm>
          <a:prstGeom prst="roundRect">
            <a:avLst>
              <a:gd name="adj" fmla="val 25926"/>
            </a:avLst>
          </a:prstGeom>
          <a:solidFill>
            <a:srgbClr val="21435C"/>
          </a:solidFill>
          <a:ln w="12700">
            <a:solidFill>
              <a:srgbClr val="21435C"/>
            </a:solidFill>
            <a:prstDash val="solid"/>
          </a:ln>
        </p:spPr>
        <p:txBody>
          <a:bodyPr/>
          <a:p/>
        </p:txBody>
      </p:sp>
      <p:sp>
        <p:nvSpPr>
          <p:cNvPr id="4" name="Text 2"/>
          <p:cNvSpPr/>
          <p:nvPr/>
        </p:nvSpPr>
        <p:spPr>
          <a:xfrm>
            <a:off x="841248" y="685800"/>
            <a:ext cx="3520440" cy="173736"/>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Aptos" pitchFamily="34" charset="0"/>
                <a:ea typeface="Aptos" pitchFamily="34" charset="-122"/>
                <a:cs typeface="Aptos" pitchFamily="34" charset="-120"/>
              </a:rPr>
              <a:t>ITT06105  •  DESKTOP PUBLISHING</a:t>
            </a:r>
            <a:endParaRPr lang="en-US" sz="1300" dirty="0"/>
          </a:p>
        </p:txBody>
      </p:sp>
      <p:sp>
        <p:nvSpPr>
          <p:cNvPr id="5" name="Text 3"/>
          <p:cNvSpPr/>
          <p:nvPr/>
        </p:nvSpPr>
        <p:spPr>
          <a:xfrm>
            <a:off x="804672" y="1408176"/>
            <a:ext cx="10287000" cy="512064"/>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ptos" pitchFamily="34" charset="0"/>
                <a:ea typeface="Aptos" pitchFamily="34" charset="-122"/>
                <a:cs typeface="Aptos" pitchFamily="34" charset="-120"/>
              </a:rPr>
              <a:t>CREATING AND</a:t>
            </a:r>
            <a:endParaRPr lang="en-US" sz="3000" dirty="0"/>
          </a:p>
        </p:txBody>
      </p:sp>
      <p:sp>
        <p:nvSpPr>
          <p:cNvPr id="6" name="Text 4"/>
          <p:cNvSpPr/>
          <p:nvPr/>
        </p:nvSpPr>
        <p:spPr>
          <a:xfrm>
            <a:off x="795528" y="2093976"/>
            <a:ext cx="10515600" cy="585216"/>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ptos" pitchFamily="34" charset="0"/>
                <a:ea typeface="Aptos" pitchFamily="34" charset="-122"/>
                <a:cs typeface="Aptos" pitchFamily="34" charset="-120"/>
              </a:rPr>
              <a:t>FINALISING A SIMPLE</a:t>
            </a:r>
            <a:endParaRPr lang="en-US" sz="3600" dirty="0"/>
          </a:p>
        </p:txBody>
      </p:sp>
      <p:sp>
        <p:nvSpPr>
          <p:cNvPr id="7" name="Text 5"/>
          <p:cNvSpPr/>
          <p:nvPr/>
        </p:nvSpPr>
        <p:spPr>
          <a:xfrm>
            <a:off x="813816" y="2852928"/>
            <a:ext cx="9966960" cy="603504"/>
          </a:xfrm>
          <a:prstGeom prst="rect">
            <a:avLst/>
          </a:prstGeom>
          <a:noFill/>
          <a:ln/>
        </p:spPr>
        <p:txBody>
          <a:bodyPr wrap="square" lIns="0" tIns="0" rIns="0" bIns="0" rtlCol="0" anchor="ctr">
            <a:normAutofit/>
          </a:bodyPr>
          <a:lstStyle/>
          <a:p>
            <a:pPr indent="0" marL="0">
              <a:buNone/>
            </a:pPr>
            <a:r>
              <a:rPr lang="en-US" sz="4000" b="1" dirty="0">
                <a:solidFill>
                  <a:srgbClr val="F6BF53"/>
                </a:solidFill>
                <a:latin typeface="Aptos" pitchFamily="34" charset="0"/>
                <a:ea typeface="Aptos" pitchFamily="34" charset="-122"/>
                <a:cs typeface="Aptos" pitchFamily="34" charset="-120"/>
              </a:rPr>
              <a:t>PUBLICATION</a:t>
            </a:r>
            <a:endParaRPr lang="en-US" sz="4000" dirty="0"/>
          </a:p>
        </p:txBody>
      </p:sp>
      <p:sp>
        <p:nvSpPr>
          <p:cNvPr id="8" name="Text 6"/>
          <p:cNvSpPr/>
          <p:nvPr/>
        </p:nvSpPr>
        <p:spPr>
          <a:xfrm>
            <a:off x="822960" y="3886200"/>
            <a:ext cx="10607040" cy="365760"/>
          </a:xfrm>
          <a:prstGeom prst="rect">
            <a:avLst/>
          </a:prstGeom>
          <a:noFill/>
          <a:ln/>
        </p:spPr>
        <p:txBody>
          <a:bodyPr wrap="square" lIns="0" tIns="0" rIns="0" bIns="0" rtlCol="0" anchor="ctr">
            <a:normAutofit/>
          </a:bodyPr>
          <a:lstStyle/>
          <a:p>
            <a:pPr indent="0" marL="0">
              <a:buNone/>
            </a:pPr>
            <a:r>
              <a:rPr lang="en-US" sz="1800" dirty="0">
                <a:solidFill>
                  <a:srgbClr val="FFFFFF"/>
                </a:solidFill>
                <a:latin typeface="Aptos" pitchFamily="34" charset="0"/>
                <a:ea typeface="Aptos" pitchFamily="34" charset="-122"/>
                <a:cs typeface="Aptos" pitchFamily="34" charset="-120"/>
              </a:rPr>
              <a:t>Lecture 08   |   Diploma in Information Technology</a:t>
            </a:r>
            <a:endParaRPr lang="en-US" sz="1800" dirty="0"/>
          </a:p>
        </p:txBody>
      </p:sp>
      <p:sp>
        <p:nvSpPr>
          <p:cNvPr id="9" name="Shape 7"/>
          <p:cNvSpPr/>
          <p:nvPr/>
        </p:nvSpPr>
        <p:spPr>
          <a:xfrm>
            <a:off x="822960" y="4782312"/>
            <a:ext cx="10378440" cy="850392"/>
          </a:xfrm>
          <a:prstGeom prst="roundRect">
            <a:avLst>
              <a:gd name="adj" fmla="val 15054"/>
            </a:avLst>
          </a:prstGeom>
          <a:solidFill>
            <a:srgbClr val="21435C"/>
          </a:solidFill>
          <a:ln w="12700">
            <a:solidFill>
              <a:srgbClr val="21435C"/>
            </a:solidFill>
            <a:prstDash val="solid"/>
          </a:ln>
        </p:spPr>
        <p:txBody>
          <a:bodyPr/>
          <a:p/>
        </p:txBody>
      </p:sp>
      <p:sp>
        <p:nvSpPr>
          <p:cNvPr id="10" name="Text 8"/>
          <p:cNvSpPr/>
          <p:nvPr/>
        </p:nvSpPr>
        <p:spPr>
          <a:xfrm>
            <a:off x="1051560" y="5038344"/>
            <a:ext cx="9875520" cy="310896"/>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ptos" pitchFamily="34" charset="0"/>
                <a:ea typeface="Aptos" pitchFamily="34" charset="-122"/>
                <a:cs typeface="Aptos" pitchFamily="34" charset="-120"/>
              </a:rPr>
              <a:t>Refine a first draft  →  correct errors  →  inspect the final PDF</a:t>
            </a:r>
            <a:endParaRPr lang="en-US" sz="2000" dirty="0"/>
          </a:p>
        </p:txBody>
      </p:sp>
      <p:sp>
        <p:nvSpPr>
          <p:cNvPr id="11" name="Text 9"/>
          <p:cNvSpPr/>
          <p:nvPr/>
        </p:nvSpPr>
        <p:spPr>
          <a:xfrm>
            <a:off x="822960" y="6318504"/>
            <a:ext cx="3931920" cy="182880"/>
          </a:xfrm>
          <a:prstGeom prst="rect">
            <a:avLst/>
          </a:prstGeom>
          <a:noFill/>
          <a:ln/>
        </p:spPr>
        <p:txBody>
          <a:bodyPr wrap="square" lIns="0" tIns="0" rIns="0" bIns="0" rtlCol="0" anchor="ctr">
            <a:normAutofit/>
          </a:bodyPr>
          <a:lstStyle/>
          <a:p>
            <a:pPr indent="0" marL="0">
              <a:buNone/>
            </a:pPr>
            <a:r>
              <a:rPr lang="en-US" sz="1300" dirty="0">
                <a:solidFill>
                  <a:srgbClr val="BDD0DB"/>
                </a:solidFill>
                <a:latin typeface="Aptos" pitchFamily="34" charset="0"/>
                <a:ea typeface="Aptos" pitchFamily="34" charset="-122"/>
                <a:cs typeface="Aptos" pitchFamily="34" charset="-120"/>
              </a:rPr>
              <a:t>Academic year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LEARNING OUTCOMES</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Learning outcomes</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Five practical skills to demonstrate at the end of this lecture.</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02</a:t>
            </a:r>
            <a:endParaRPr lang="en-US" sz="1000" dirty="0"/>
          </a:p>
        </p:txBody>
      </p:sp>
      <p:sp>
        <p:nvSpPr>
          <p:cNvPr id="11" name="Shape 9"/>
          <p:cNvSpPr/>
          <p:nvPr/>
        </p:nvSpPr>
        <p:spPr>
          <a:xfrm>
            <a:off x="612648" y="1874520"/>
            <a:ext cx="10972800" cy="738835"/>
          </a:xfrm>
          <a:prstGeom prst="roundRect">
            <a:avLst>
              <a:gd name="adj" fmla="val 17327"/>
            </a:avLst>
          </a:prstGeom>
          <a:solidFill>
            <a:srgbClr val="FFFFFF"/>
          </a:solidFill>
          <a:ln w="12700">
            <a:solidFill>
              <a:srgbClr val="D3E3E9"/>
            </a:solidFill>
            <a:prstDash val="solid"/>
          </a:ln>
        </p:spPr>
        <p:txBody>
          <a:bodyPr/>
          <a:p/>
        </p:txBody>
      </p:sp>
      <p:sp>
        <p:nvSpPr>
          <p:cNvPr id="12" name="Shape 10"/>
          <p:cNvSpPr/>
          <p:nvPr/>
        </p:nvSpPr>
        <p:spPr>
          <a:xfrm>
            <a:off x="795528" y="2029968"/>
            <a:ext cx="594360" cy="427939"/>
          </a:xfrm>
          <a:prstGeom prst="roundRect">
            <a:avLst>
              <a:gd name="adj" fmla="val 29915"/>
            </a:avLst>
          </a:prstGeom>
          <a:solidFill>
            <a:srgbClr val="078A91"/>
          </a:solidFill>
          <a:ln w="12700">
            <a:solidFill>
              <a:srgbClr val="078A91"/>
            </a:solidFill>
            <a:prstDash val="solid"/>
          </a:ln>
        </p:spPr>
        <p:txBody>
          <a:bodyPr/>
          <a:p/>
        </p:txBody>
      </p:sp>
      <p:sp>
        <p:nvSpPr>
          <p:cNvPr id="13" name="Text 11"/>
          <p:cNvSpPr/>
          <p:nvPr/>
        </p:nvSpPr>
        <p:spPr>
          <a:xfrm>
            <a:off x="987552" y="2057400"/>
            <a:ext cx="182880" cy="382219"/>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63624" y="2002536"/>
            <a:ext cx="2862072" cy="491947"/>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Revise</a:t>
            </a:r>
            <a:endParaRPr lang="en-US" sz="1880" dirty="0"/>
          </a:p>
        </p:txBody>
      </p:sp>
      <p:sp>
        <p:nvSpPr>
          <p:cNvPr id="15" name="Text 13"/>
          <p:cNvSpPr/>
          <p:nvPr/>
        </p:nvSpPr>
        <p:spPr>
          <a:xfrm>
            <a:off x="4517136" y="2002536"/>
            <a:ext cx="6592824" cy="491947"/>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Check that the title, introduction and three safety tips are correct.</a:t>
            </a:r>
            <a:endParaRPr lang="en-US" sz="1760" dirty="0"/>
          </a:p>
        </p:txBody>
      </p:sp>
      <p:sp>
        <p:nvSpPr>
          <p:cNvPr id="16" name="Shape 14"/>
          <p:cNvSpPr/>
          <p:nvPr/>
        </p:nvSpPr>
        <p:spPr>
          <a:xfrm>
            <a:off x="612648" y="2732227"/>
            <a:ext cx="10972800" cy="738835"/>
          </a:xfrm>
          <a:prstGeom prst="roundRect">
            <a:avLst>
              <a:gd name="adj" fmla="val 17327"/>
            </a:avLst>
          </a:prstGeom>
          <a:solidFill>
            <a:srgbClr val="FFFFFF"/>
          </a:solidFill>
          <a:ln w="12700">
            <a:solidFill>
              <a:srgbClr val="D3E3E9"/>
            </a:solidFill>
            <a:prstDash val="solid"/>
          </a:ln>
        </p:spPr>
        <p:txBody>
          <a:bodyPr/>
          <a:p/>
        </p:txBody>
      </p:sp>
      <p:sp>
        <p:nvSpPr>
          <p:cNvPr id="17" name="Shape 15"/>
          <p:cNvSpPr/>
          <p:nvPr/>
        </p:nvSpPr>
        <p:spPr>
          <a:xfrm>
            <a:off x="795528" y="2887675"/>
            <a:ext cx="594360" cy="427939"/>
          </a:xfrm>
          <a:prstGeom prst="roundRect">
            <a:avLst>
              <a:gd name="adj" fmla="val 29915"/>
            </a:avLst>
          </a:prstGeom>
          <a:solidFill>
            <a:srgbClr val="173552"/>
          </a:solidFill>
          <a:ln w="12700">
            <a:solidFill>
              <a:srgbClr val="173552"/>
            </a:solidFill>
            <a:prstDash val="solid"/>
          </a:ln>
        </p:spPr>
        <p:txBody>
          <a:bodyPr/>
          <a:p/>
        </p:txBody>
      </p:sp>
      <p:sp>
        <p:nvSpPr>
          <p:cNvPr id="18" name="Text 16"/>
          <p:cNvSpPr/>
          <p:nvPr/>
        </p:nvSpPr>
        <p:spPr>
          <a:xfrm>
            <a:off x="987552" y="2915107"/>
            <a:ext cx="182880" cy="382219"/>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63624" y="2860243"/>
            <a:ext cx="2862072" cy="491947"/>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Refine</a:t>
            </a:r>
            <a:endParaRPr lang="en-US" sz="1880" dirty="0"/>
          </a:p>
        </p:txBody>
      </p:sp>
      <p:sp>
        <p:nvSpPr>
          <p:cNvPr id="20" name="Text 18"/>
          <p:cNvSpPr/>
          <p:nvPr/>
        </p:nvSpPr>
        <p:spPr>
          <a:xfrm>
            <a:off x="4517136" y="2860243"/>
            <a:ext cx="6592824" cy="491947"/>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Use hierarchy, alignment, spacing and consistent formatting.</a:t>
            </a:r>
            <a:endParaRPr lang="en-US" sz="1760" dirty="0"/>
          </a:p>
        </p:txBody>
      </p:sp>
      <p:sp>
        <p:nvSpPr>
          <p:cNvPr id="21" name="Shape 19"/>
          <p:cNvSpPr/>
          <p:nvPr/>
        </p:nvSpPr>
        <p:spPr>
          <a:xfrm>
            <a:off x="612648" y="3589934"/>
            <a:ext cx="10972800" cy="738835"/>
          </a:xfrm>
          <a:prstGeom prst="roundRect">
            <a:avLst>
              <a:gd name="adj" fmla="val 17327"/>
            </a:avLst>
          </a:prstGeom>
          <a:solidFill>
            <a:srgbClr val="FFFFFF"/>
          </a:solidFill>
          <a:ln w="12700">
            <a:solidFill>
              <a:srgbClr val="D3E3E9"/>
            </a:solidFill>
            <a:prstDash val="solid"/>
          </a:ln>
        </p:spPr>
        <p:txBody>
          <a:bodyPr/>
          <a:p/>
        </p:txBody>
      </p:sp>
      <p:sp>
        <p:nvSpPr>
          <p:cNvPr id="22" name="Shape 20"/>
          <p:cNvSpPr/>
          <p:nvPr/>
        </p:nvSpPr>
        <p:spPr>
          <a:xfrm>
            <a:off x="795528" y="3745382"/>
            <a:ext cx="594360" cy="427939"/>
          </a:xfrm>
          <a:prstGeom prst="roundRect">
            <a:avLst>
              <a:gd name="adj" fmla="val 29915"/>
            </a:avLst>
          </a:prstGeom>
          <a:solidFill>
            <a:srgbClr val="078A91"/>
          </a:solidFill>
          <a:ln w="12700">
            <a:solidFill>
              <a:srgbClr val="078A91"/>
            </a:solidFill>
            <a:prstDash val="solid"/>
          </a:ln>
        </p:spPr>
        <p:txBody>
          <a:bodyPr/>
          <a:p/>
        </p:txBody>
      </p:sp>
      <p:sp>
        <p:nvSpPr>
          <p:cNvPr id="23" name="Text 21"/>
          <p:cNvSpPr/>
          <p:nvPr/>
        </p:nvSpPr>
        <p:spPr>
          <a:xfrm>
            <a:off x="987552" y="3772814"/>
            <a:ext cx="182880" cy="382219"/>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63624" y="3717950"/>
            <a:ext cx="2862072" cy="491947"/>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Correct</a:t>
            </a:r>
            <a:endParaRPr lang="en-US" sz="1880" dirty="0"/>
          </a:p>
        </p:txBody>
      </p:sp>
      <p:sp>
        <p:nvSpPr>
          <p:cNvPr id="25" name="Text 23"/>
          <p:cNvSpPr/>
          <p:nvPr/>
        </p:nvSpPr>
        <p:spPr>
          <a:xfrm>
            <a:off x="4517136" y="3717950"/>
            <a:ext cx="6592824" cy="491947"/>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Fix overset text, distorted images and missing links.</a:t>
            </a:r>
            <a:endParaRPr lang="en-US" sz="1760" dirty="0"/>
          </a:p>
        </p:txBody>
      </p:sp>
      <p:sp>
        <p:nvSpPr>
          <p:cNvPr id="26" name="Shape 24"/>
          <p:cNvSpPr/>
          <p:nvPr/>
        </p:nvSpPr>
        <p:spPr>
          <a:xfrm>
            <a:off x="612648" y="4447642"/>
            <a:ext cx="10972800" cy="738835"/>
          </a:xfrm>
          <a:prstGeom prst="roundRect">
            <a:avLst>
              <a:gd name="adj" fmla="val 17327"/>
            </a:avLst>
          </a:prstGeom>
          <a:solidFill>
            <a:srgbClr val="FFFFFF"/>
          </a:solidFill>
          <a:ln w="12700">
            <a:solidFill>
              <a:srgbClr val="D3E3E9"/>
            </a:solidFill>
            <a:prstDash val="solid"/>
          </a:ln>
        </p:spPr>
        <p:txBody>
          <a:bodyPr/>
          <a:p/>
        </p:txBody>
      </p:sp>
      <p:sp>
        <p:nvSpPr>
          <p:cNvPr id="27" name="Shape 25"/>
          <p:cNvSpPr/>
          <p:nvPr/>
        </p:nvSpPr>
        <p:spPr>
          <a:xfrm>
            <a:off x="795528" y="4603090"/>
            <a:ext cx="594360" cy="427939"/>
          </a:xfrm>
          <a:prstGeom prst="roundRect">
            <a:avLst>
              <a:gd name="adj" fmla="val 29915"/>
            </a:avLst>
          </a:prstGeom>
          <a:solidFill>
            <a:srgbClr val="173552"/>
          </a:solidFill>
          <a:ln w="12700">
            <a:solidFill>
              <a:srgbClr val="173552"/>
            </a:solidFill>
            <a:prstDash val="solid"/>
          </a:ln>
        </p:spPr>
        <p:txBody>
          <a:bodyPr/>
          <a:p/>
        </p:txBody>
      </p:sp>
      <p:sp>
        <p:nvSpPr>
          <p:cNvPr id="28" name="Text 26"/>
          <p:cNvSpPr/>
          <p:nvPr/>
        </p:nvSpPr>
        <p:spPr>
          <a:xfrm>
            <a:off x="987552" y="4630522"/>
            <a:ext cx="182880" cy="382219"/>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63624" y="4575658"/>
            <a:ext cx="2862072" cy="491947"/>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Proof</a:t>
            </a:r>
            <a:endParaRPr lang="en-US" sz="1880" dirty="0"/>
          </a:p>
        </p:txBody>
      </p:sp>
      <p:sp>
        <p:nvSpPr>
          <p:cNvPr id="30" name="Text 28"/>
          <p:cNvSpPr/>
          <p:nvPr/>
        </p:nvSpPr>
        <p:spPr>
          <a:xfrm>
            <a:off x="4517136" y="4575658"/>
            <a:ext cx="6592824" cy="491947"/>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Export a fresh PDF and inspect the publication as a reader.</a:t>
            </a:r>
            <a:endParaRPr lang="en-US" sz="1760" dirty="0"/>
          </a:p>
        </p:txBody>
      </p:sp>
      <p:sp>
        <p:nvSpPr>
          <p:cNvPr id="31" name="Shape 29"/>
          <p:cNvSpPr/>
          <p:nvPr/>
        </p:nvSpPr>
        <p:spPr>
          <a:xfrm>
            <a:off x="612648" y="5305349"/>
            <a:ext cx="10972800" cy="738835"/>
          </a:xfrm>
          <a:prstGeom prst="roundRect">
            <a:avLst>
              <a:gd name="adj" fmla="val 17327"/>
            </a:avLst>
          </a:prstGeom>
          <a:solidFill>
            <a:srgbClr val="FFFFFF"/>
          </a:solidFill>
          <a:ln w="12700">
            <a:solidFill>
              <a:srgbClr val="D3E3E9"/>
            </a:solidFill>
            <a:prstDash val="solid"/>
          </a:ln>
        </p:spPr>
        <p:txBody>
          <a:bodyPr/>
          <a:p/>
        </p:txBody>
      </p:sp>
      <p:sp>
        <p:nvSpPr>
          <p:cNvPr id="32" name="Shape 30"/>
          <p:cNvSpPr/>
          <p:nvPr/>
        </p:nvSpPr>
        <p:spPr>
          <a:xfrm>
            <a:off x="795528" y="5460797"/>
            <a:ext cx="594360" cy="427939"/>
          </a:xfrm>
          <a:prstGeom prst="roundRect">
            <a:avLst>
              <a:gd name="adj" fmla="val 29915"/>
            </a:avLst>
          </a:prstGeom>
          <a:solidFill>
            <a:srgbClr val="078A91"/>
          </a:solidFill>
          <a:ln w="12700">
            <a:solidFill>
              <a:srgbClr val="078A91"/>
            </a:solidFill>
            <a:prstDash val="solid"/>
          </a:ln>
        </p:spPr>
        <p:txBody>
          <a:bodyPr/>
          <a:p/>
        </p:txBody>
      </p:sp>
      <p:sp>
        <p:nvSpPr>
          <p:cNvPr id="33" name="Text 31"/>
          <p:cNvSpPr/>
          <p:nvPr/>
        </p:nvSpPr>
        <p:spPr>
          <a:xfrm>
            <a:off x="987552" y="5488229"/>
            <a:ext cx="182880" cy="382219"/>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34" name="Text 32"/>
          <p:cNvSpPr/>
          <p:nvPr/>
        </p:nvSpPr>
        <p:spPr>
          <a:xfrm>
            <a:off x="1563624" y="5433365"/>
            <a:ext cx="2862072" cy="491947"/>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Submit</a:t>
            </a:r>
            <a:endParaRPr lang="en-US" sz="1880" dirty="0"/>
          </a:p>
        </p:txBody>
      </p:sp>
      <p:sp>
        <p:nvSpPr>
          <p:cNvPr id="35" name="Text 33"/>
          <p:cNvSpPr/>
          <p:nvPr/>
        </p:nvSpPr>
        <p:spPr>
          <a:xfrm>
            <a:off x="4517136" y="5433365"/>
            <a:ext cx="6592824" cy="491947"/>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Keep the editable source, PDF proof and supporting assets.</a:t>
            </a:r>
            <a:endParaRPr lang="en-US" sz="17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COURSE CONNECTION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Where we are in the publishing process</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The first draft was created in Lecture 7.</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03</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Lecture 7: create the page | Lecture 8: make it usable</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The first draft already has an A4 page, text frames, a placed illustration and the basic reading order. This lecture concentrates on checking and improving that content rather than learning every advanced InDesign feature.</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The quality of a final publication depends on what readers can actually see and understand.</a:t>
            </a:r>
            <a:endParaRPr lang="en-US" sz="1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BEFORE / AFTER</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From draft to clearer communication</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Compare the first proof with an example of refined layout.</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04</a:t>
            </a:r>
            <a:endParaRPr lang="en-US" sz="1000" dirty="0"/>
          </a:p>
        </p:txBody>
      </p:sp>
      <p:sp>
        <p:nvSpPr>
          <p:cNvPr id="11" name="Shape 9"/>
          <p:cNvSpPr/>
          <p:nvPr/>
        </p:nvSpPr>
        <p:spPr>
          <a:xfrm>
            <a:off x="521208" y="1865376"/>
            <a:ext cx="6702552" cy="4178808"/>
          </a:xfrm>
          <a:prstGeom prst="roundRect">
            <a:avLst>
              <a:gd name="adj" fmla="val 3063"/>
            </a:avLst>
          </a:prstGeom>
          <a:solidFill>
            <a:srgbClr val="FFFFFF"/>
          </a:solidFill>
          <a:ln w="12700">
            <a:solidFill>
              <a:srgbClr val="D3E3E9"/>
            </a:solidFill>
            <a:prstDash val="solid"/>
          </a:ln>
        </p:spPr>
        <p:txBody>
          <a:bodyPr/>
          <a:p/>
        </p:txBody>
      </p:sp>
      <p:pic>
        <p:nvPicPr>
          <p:cNvPr id="12" name="Image 0" descr="/mnt/data/ITT06105_Condensed_L08_Package/resources/Fig04_First_Proof_vs_Refined.png">    </p:cNvPr>
          <p:cNvPicPr>
            <a:picLocks noChangeAspect="1"/>
          </p:cNvPicPr>
          <p:nvPr/>
        </p:nvPicPr>
        <p:blipFill>
          <a:blip r:embed="rId1"/>
          <a:stretch>
            <a:fillRect/>
          </a:stretch>
        </p:blipFill>
        <p:spPr>
          <a:xfrm>
            <a:off x="640080" y="2334006"/>
            <a:ext cx="6446520" cy="3223260"/>
          </a:xfrm>
          <a:prstGeom prst="rect">
            <a:avLst/>
          </a:prstGeom>
        </p:spPr>
      </p:pic>
      <p:sp>
        <p:nvSpPr>
          <p:cNvPr id="13" name="Shape 10"/>
          <p:cNvSpPr/>
          <p:nvPr/>
        </p:nvSpPr>
        <p:spPr>
          <a:xfrm>
            <a:off x="7370064" y="1865376"/>
            <a:ext cx="4251960" cy="4178808"/>
          </a:xfrm>
          <a:prstGeom prst="roundRect">
            <a:avLst>
              <a:gd name="adj" fmla="val 3063"/>
            </a:avLst>
          </a:prstGeom>
          <a:solidFill>
            <a:srgbClr val="FFFFFF"/>
          </a:solidFill>
          <a:ln w="12700">
            <a:solidFill>
              <a:srgbClr val="D3E3E9"/>
            </a:solidFill>
            <a:prstDash val="solid"/>
          </a:ln>
        </p:spPr>
        <p:txBody>
          <a:bodyPr/>
          <a:p/>
        </p:txBody>
      </p:sp>
      <p:sp>
        <p:nvSpPr>
          <p:cNvPr id="14" name="Shape 11"/>
          <p:cNvSpPr/>
          <p:nvPr/>
        </p:nvSpPr>
        <p:spPr>
          <a:xfrm>
            <a:off x="7370064" y="1865376"/>
            <a:ext cx="82296" cy="4178808"/>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84832"/>
            <a:ext cx="374904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What changed?</a:t>
            </a:r>
            <a:endParaRPr lang="en-US" sz="2000" dirty="0"/>
          </a:p>
        </p:txBody>
      </p:sp>
      <p:sp>
        <p:nvSpPr>
          <p:cNvPr id="16" name="Text 13"/>
          <p:cNvSpPr/>
          <p:nvPr/>
        </p:nvSpPr>
        <p:spPr>
          <a:xfrm>
            <a:off x="7598664" y="2624328"/>
            <a:ext cx="3767328" cy="3246120"/>
          </a:xfrm>
          <a:prstGeom prst="rect">
            <a:avLst/>
          </a:prstGeom>
          <a:noFill/>
          <a:ln/>
        </p:spPr>
        <p:txBody>
          <a:bodyPr wrap="square" lIns="0" tIns="0" rIns="0" bIns="0" rtlCol="0" anchor="t">
            <a:normAutofit/>
          </a:bodyPr>
          <a:lstStyle/>
          <a:p>
            <a:pPr indent="0" marL="0">
              <a:buNone/>
            </a:pPr>
            <a:r>
              <a:rPr lang="en-US" sz="1750" dirty="0">
                <a:solidFill>
                  <a:srgbClr val="173552"/>
                </a:solidFill>
                <a:latin typeface="Aptos" pitchFamily="34" charset="0"/>
                <a:ea typeface="Aptos" pitchFamily="34" charset="-122"/>
                <a:cs typeface="Aptos" pitchFamily="34" charset="-120"/>
              </a:rPr>
              <a:t>The revised example strengthens the message, uses a more relevant illustration and groups the tips consistently. The purpose is to make each safety habit easier to find, not merely to decorate the page.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KEY CONCEPT</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What does “finalising” mean?</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 publication is not complete merely because it has been saved.</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05</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Finalising a publication</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Finalising is the process of reviewing content, correcting layout and technical problems, and verifying an exported proof before the document is shared or produced. It includes both communication quality and file accuracy.</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Work in the editable document; inspect the PDF; return to the source if corrections are needed.</a:t>
            </a:r>
            <a:endParaRPr lang="en-US" sz="18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EXPLAIN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Editing is different from decorating</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Start with useful information, then improve its presentation.</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06</a:t>
            </a:r>
            <a:endParaRPr lang="en-US" sz="1000" dirty="0"/>
          </a:p>
        </p:txBody>
      </p:sp>
      <p:sp>
        <p:nvSpPr>
          <p:cNvPr id="11" name="Shape 9"/>
          <p:cNvSpPr/>
          <p:nvPr/>
        </p:nvSpPr>
        <p:spPr>
          <a:xfrm>
            <a:off x="539496" y="1874520"/>
            <a:ext cx="5458968" cy="4160520"/>
          </a:xfrm>
          <a:prstGeom prst="roundRect">
            <a:avLst>
              <a:gd name="adj" fmla="val 3077"/>
            </a:avLst>
          </a:prstGeom>
          <a:solidFill>
            <a:srgbClr val="FFFFFF"/>
          </a:solidFill>
          <a:ln w="12700">
            <a:solidFill>
              <a:srgbClr val="D3E3E9"/>
            </a:solidFill>
            <a:prstDash val="solid"/>
          </a:ln>
        </p:spPr>
        <p:txBody>
          <a:bodyPr/>
          <a:p/>
        </p:txBody>
      </p:sp>
      <p:sp>
        <p:nvSpPr>
          <p:cNvPr id="12" name="Shape 10"/>
          <p:cNvSpPr/>
          <p:nvPr/>
        </p:nvSpPr>
        <p:spPr>
          <a:xfrm>
            <a:off x="539496" y="1874520"/>
            <a:ext cx="82296"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68096" y="2093976"/>
            <a:ext cx="495604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Editing content</a:t>
            </a:r>
            <a:endParaRPr lang="en-US" sz="2000" dirty="0"/>
          </a:p>
        </p:txBody>
      </p:sp>
      <p:sp>
        <p:nvSpPr>
          <p:cNvPr id="14" name="Text 12"/>
          <p:cNvSpPr/>
          <p:nvPr/>
        </p:nvSpPr>
        <p:spPr>
          <a:xfrm>
            <a:off x="768096" y="2633472"/>
            <a:ext cx="4974336" cy="3227832"/>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Check meaning, spelling, accuracy and completeness. Replace vague sentences with specific advice. Ensure all three safety tips can be understood by someone reading alone.</a:t>
            </a:r>
            <a:endParaRPr lang="en-US" sz="1900" dirty="0"/>
          </a:p>
        </p:txBody>
      </p:sp>
      <p:sp>
        <p:nvSpPr>
          <p:cNvPr id="15" name="Shape 13"/>
          <p:cNvSpPr/>
          <p:nvPr/>
        </p:nvSpPr>
        <p:spPr>
          <a:xfrm>
            <a:off x="6144768" y="1874520"/>
            <a:ext cx="5486400" cy="4160520"/>
          </a:xfrm>
          <a:prstGeom prst="roundRect">
            <a:avLst>
              <a:gd name="adj" fmla="val 3077"/>
            </a:avLst>
          </a:prstGeom>
          <a:solidFill>
            <a:srgbClr val="FFFFFF"/>
          </a:solidFill>
          <a:ln w="12700">
            <a:solidFill>
              <a:srgbClr val="D3E3E9"/>
            </a:solidFill>
            <a:prstDash val="solid"/>
          </a:ln>
        </p:spPr>
        <p:txBody>
          <a:bodyPr/>
          <a:p/>
        </p:txBody>
      </p:sp>
      <p:sp>
        <p:nvSpPr>
          <p:cNvPr id="16" name="Shape 14"/>
          <p:cNvSpPr/>
          <p:nvPr/>
        </p:nvSpPr>
        <p:spPr>
          <a:xfrm>
            <a:off x="6144768" y="1874520"/>
            <a:ext cx="82296"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73368" y="2093976"/>
            <a:ext cx="498348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Improving design</a:t>
            </a:r>
            <a:endParaRPr lang="en-US" sz="2000" dirty="0"/>
          </a:p>
        </p:txBody>
      </p:sp>
      <p:sp>
        <p:nvSpPr>
          <p:cNvPr id="18" name="Text 16"/>
          <p:cNvSpPr/>
          <p:nvPr/>
        </p:nvSpPr>
        <p:spPr>
          <a:xfrm>
            <a:off x="6373368" y="2633472"/>
            <a:ext cx="5001768" cy="3227832"/>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Improve title prominence, text size, spacing, alignment and image placement. A new shape or extra colour is not an improvement unless it helps the message.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STUDENT PRACTICE</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Quick content check</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Read the three safety habits on the hand-out.</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07</a:t>
            </a:r>
            <a:endParaRPr lang="en-US" sz="1000" dirty="0"/>
          </a:p>
        </p:txBody>
      </p:sp>
      <p:sp>
        <p:nvSpPr>
          <p:cNvPr id="11" name="Shape 9"/>
          <p:cNvSpPr/>
          <p:nvPr/>
        </p:nvSpPr>
        <p:spPr>
          <a:xfrm>
            <a:off x="685800" y="1865376"/>
            <a:ext cx="10817352" cy="2953512"/>
          </a:xfrm>
          <a:prstGeom prst="roundRect">
            <a:avLst>
              <a:gd name="adj" fmla="val 4334"/>
            </a:avLst>
          </a:prstGeom>
          <a:solidFill>
            <a:srgbClr val="FFFFFF"/>
          </a:solidFill>
          <a:ln w="12700">
            <a:solidFill>
              <a:srgbClr val="D3E3E9"/>
            </a:solidFill>
            <a:prstDash val="solid"/>
          </a:ln>
        </p:spPr>
        <p:txBody>
          <a:bodyPr/>
          <a:p/>
        </p:txBody>
      </p:sp>
      <p:sp>
        <p:nvSpPr>
          <p:cNvPr id="12" name="Text 10"/>
          <p:cNvSpPr/>
          <p:nvPr/>
        </p:nvSpPr>
        <p:spPr>
          <a:xfrm>
            <a:off x="960120" y="2148840"/>
            <a:ext cx="324612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43200"/>
            <a:ext cx="9829800" cy="1572768"/>
          </a:xfrm>
          <a:prstGeom prst="rect">
            <a:avLst/>
          </a:prstGeom>
          <a:noFill/>
          <a:ln/>
        </p:spPr>
        <p:txBody>
          <a:bodyPr wrap="square" lIns="0" tIns="0" rIns="0" bIns="0" rtlCol="0" anchor="t">
            <a:normAutofit/>
          </a:bodyPr>
          <a:lstStyle/>
          <a:p>
            <a:pPr indent="0" marL="0">
              <a:buNone/>
            </a:pPr>
            <a:r>
              <a:rPr lang="en-US" sz="2400" b="1" dirty="0">
                <a:solidFill>
                  <a:srgbClr val="173552"/>
                </a:solidFill>
                <a:latin typeface="Aptos" pitchFamily="34" charset="0"/>
                <a:ea typeface="Aptos" pitchFamily="34" charset="-122"/>
                <a:cs typeface="Aptos" pitchFamily="34" charset="-120"/>
              </a:rPr>
              <a:t>Which is clearer for a new computer user: “Use secure credentials” or “Use strong, unique passwords”? Explain why.</a:t>
            </a:r>
            <a:endParaRPr lang="en-US" sz="2400" dirty="0"/>
          </a:p>
        </p:txBody>
      </p:sp>
      <p:sp>
        <p:nvSpPr>
          <p:cNvPr id="14" name="Shape 12"/>
          <p:cNvSpPr/>
          <p:nvPr/>
        </p:nvSpPr>
        <p:spPr>
          <a:xfrm>
            <a:off x="685800" y="5038344"/>
            <a:ext cx="10817352" cy="1014984"/>
          </a:xfrm>
          <a:prstGeom prst="roundRect">
            <a:avLst>
              <a:gd name="adj" fmla="val 12613"/>
            </a:avLst>
          </a:prstGeom>
          <a:solidFill>
            <a:srgbClr val="EAF3F5"/>
          </a:solidFill>
          <a:ln w="12700">
            <a:solidFill>
              <a:srgbClr val="EAF3F5"/>
            </a:solidFill>
            <a:prstDash val="solid"/>
          </a:ln>
        </p:spPr>
        <p:txBody>
          <a:bodyPr/>
          <a:p/>
        </p:txBody>
      </p:sp>
      <p:sp>
        <p:nvSpPr>
          <p:cNvPr id="15" name="Text 13"/>
          <p:cNvSpPr/>
          <p:nvPr/>
        </p:nvSpPr>
        <p:spPr>
          <a:xfrm>
            <a:off x="932688" y="5266944"/>
            <a:ext cx="10058400" cy="594360"/>
          </a:xfrm>
          <a:prstGeom prst="rect">
            <a:avLst/>
          </a:prstGeom>
          <a:noFill/>
          <a:ln/>
        </p:spPr>
        <p:txBody>
          <a:bodyPr wrap="square" lIns="0" tIns="0" rIns="0" bIns="0" rtlCol="0" anchor="ctr">
            <a:normAutofit/>
          </a:bodyPr>
          <a:lstStyle/>
          <a:p>
            <a:pPr indent="0" marL="0">
              <a:buNone/>
            </a:pPr>
            <a:r>
              <a:rPr lang="en-US" sz="1740" dirty="0">
                <a:solidFill>
                  <a:srgbClr val="5F788A"/>
                </a:solidFill>
                <a:latin typeface="Aptos" pitchFamily="34" charset="0"/>
                <a:ea typeface="Aptos" pitchFamily="34" charset="-122"/>
                <a:cs typeface="Aptos" pitchFamily="34" charset="-120"/>
              </a:rPr>
              <a:t>A strong answer considers familiar words, a clear action and relevance to the intended audience.</a:t>
            </a:r>
            <a:endParaRPr lang="en-US" sz="17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KEY DEFINITION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Typographic hierarchy</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Readers should know where to begin and what to read next.</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08</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Definition</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Typographic hierarchy is the use of differences in text size, weight, spacing and placement to indicate relative importance. The title gets attention first; supporting text then guides the reader towards the practical advice.</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A clear order for our hand-out is: title → short introduction → main graphic → three tips → organisation footer.</a:t>
            </a:r>
            <a:endParaRPr lang="en-US" sz="18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ILLUSTRATION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Compare two text treatments</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 large number of fonts is not required for a clear design.</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09</a:t>
            </a:r>
            <a:endParaRPr lang="en-US" sz="1000" dirty="0"/>
          </a:p>
        </p:txBody>
      </p:sp>
      <p:sp>
        <p:nvSpPr>
          <p:cNvPr id="11" name="Shape 9"/>
          <p:cNvSpPr/>
          <p:nvPr/>
        </p:nvSpPr>
        <p:spPr>
          <a:xfrm>
            <a:off x="521208" y="1865376"/>
            <a:ext cx="6702552" cy="4178808"/>
          </a:xfrm>
          <a:prstGeom prst="roundRect">
            <a:avLst>
              <a:gd name="adj" fmla="val 3063"/>
            </a:avLst>
          </a:prstGeom>
          <a:solidFill>
            <a:srgbClr val="FFFFFF"/>
          </a:solidFill>
          <a:ln w="12700">
            <a:solidFill>
              <a:srgbClr val="D3E3E9"/>
            </a:solidFill>
            <a:prstDash val="solid"/>
          </a:ln>
        </p:spPr>
        <p:txBody>
          <a:bodyPr/>
          <a:p/>
        </p:txBody>
      </p:sp>
      <p:pic>
        <p:nvPicPr>
          <p:cNvPr id="12" name="Image 0" descr="/mnt/data/ITT06105_Condensed_L08_Package/resources/Fig01_Typography_Hierarchy.png">    </p:cNvPr>
          <p:cNvPicPr>
            <a:picLocks noChangeAspect="1"/>
          </p:cNvPicPr>
          <p:nvPr/>
        </p:nvPicPr>
        <p:blipFill>
          <a:blip r:embed="rId1"/>
          <a:stretch>
            <a:fillRect/>
          </a:stretch>
        </p:blipFill>
        <p:spPr>
          <a:xfrm>
            <a:off x="640080" y="2226564"/>
            <a:ext cx="6446520" cy="3438144"/>
          </a:xfrm>
          <a:prstGeom prst="rect">
            <a:avLst/>
          </a:prstGeom>
        </p:spPr>
      </p:pic>
      <p:sp>
        <p:nvSpPr>
          <p:cNvPr id="13" name="Shape 10"/>
          <p:cNvSpPr/>
          <p:nvPr/>
        </p:nvSpPr>
        <p:spPr>
          <a:xfrm>
            <a:off x="7370064" y="1865376"/>
            <a:ext cx="4251960" cy="4178808"/>
          </a:xfrm>
          <a:prstGeom prst="roundRect">
            <a:avLst>
              <a:gd name="adj" fmla="val 3063"/>
            </a:avLst>
          </a:prstGeom>
          <a:solidFill>
            <a:srgbClr val="FFFFFF"/>
          </a:solidFill>
          <a:ln w="12700">
            <a:solidFill>
              <a:srgbClr val="D3E3E9"/>
            </a:solidFill>
            <a:prstDash val="solid"/>
          </a:ln>
        </p:spPr>
        <p:txBody>
          <a:bodyPr/>
          <a:p/>
        </p:txBody>
      </p:sp>
      <p:sp>
        <p:nvSpPr>
          <p:cNvPr id="14" name="Shape 11"/>
          <p:cNvSpPr/>
          <p:nvPr/>
        </p:nvSpPr>
        <p:spPr>
          <a:xfrm>
            <a:off x="7370064" y="1865376"/>
            <a:ext cx="82296" cy="4178808"/>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84832"/>
            <a:ext cx="374904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Look at the order</a:t>
            </a:r>
            <a:endParaRPr lang="en-US" sz="2000" dirty="0"/>
          </a:p>
        </p:txBody>
      </p:sp>
      <p:sp>
        <p:nvSpPr>
          <p:cNvPr id="16" name="Text 13"/>
          <p:cNvSpPr/>
          <p:nvPr/>
        </p:nvSpPr>
        <p:spPr>
          <a:xfrm>
            <a:off x="7598664" y="2624328"/>
            <a:ext cx="3767328" cy="3246120"/>
          </a:xfrm>
          <a:prstGeom prst="rect">
            <a:avLst/>
          </a:prstGeom>
          <a:noFill/>
          <a:ln/>
        </p:spPr>
        <p:txBody>
          <a:bodyPr wrap="square" lIns="0" tIns="0" rIns="0" bIns="0" rtlCol="0" anchor="t">
            <a:normAutofit/>
          </a:bodyPr>
          <a:lstStyle/>
          <a:p>
            <a:pPr indent="0" marL="0">
              <a:buNone/>
            </a:pPr>
            <a:r>
              <a:rPr lang="en-US" sz="1750" dirty="0">
                <a:solidFill>
                  <a:srgbClr val="173552"/>
                </a:solidFill>
                <a:latin typeface="Aptos" pitchFamily="34" charset="0"/>
                <a:ea typeface="Aptos" pitchFamily="34" charset="-122"/>
                <a:cs typeface="Aptos" pitchFamily="34" charset="-120"/>
              </a:rPr>
              <a:t>On the right, the title is most prominent, followed by the introduction and grouped tips. Readers can identify the subject quickly, even when viewing the sheet from a distance.</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EXPLAIN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A simple hierarchy works</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Use differences purposefully, not randomly.</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10</a:t>
            </a:r>
            <a:endParaRPr lang="en-US" sz="1000" dirty="0"/>
          </a:p>
        </p:txBody>
      </p:sp>
      <p:sp>
        <p:nvSpPr>
          <p:cNvPr id="11" name="Shape 9"/>
          <p:cNvSpPr/>
          <p:nvPr/>
        </p:nvSpPr>
        <p:spPr>
          <a:xfrm>
            <a:off x="539496" y="1874520"/>
            <a:ext cx="5458968" cy="4160520"/>
          </a:xfrm>
          <a:prstGeom prst="roundRect">
            <a:avLst>
              <a:gd name="adj" fmla="val 3077"/>
            </a:avLst>
          </a:prstGeom>
          <a:solidFill>
            <a:srgbClr val="FFFFFF"/>
          </a:solidFill>
          <a:ln w="12700">
            <a:solidFill>
              <a:srgbClr val="D3E3E9"/>
            </a:solidFill>
            <a:prstDash val="solid"/>
          </a:ln>
        </p:spPr>
        <p:txBody>
          <a:bodyPr/>
          <a:p/>
        </p:txBody>
      </p:sp>
      <p:sp>
        <p:nvSpPr>
          <p:cNvPr id="12" name="Shape 10"/>
          <p:cNvSpPr/>
          <p:nvPr/>
        </p:nvSpPr>
        <p:spPr>
          <a:xfrm>
            <a:off x="539496" y="1874520"/>
            <a:ext cx="82296"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68096" y="2093976"/>
            <a:ext cx="495604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Headline and introduction</a:t>
            </a:r>
            <a:endParaRPr lang="en-US" sz="2000" dirty="0"/>
          </a:p>
        </p:txBody>
      </p:sp>
      <p:sp>
        <p:nvSpPr>
          <p:cNvPr id="14" name="Text 12"/>
          <p:cNvSpPr/>
          <p:nvPr/>
        </p:nvSpPr>
        <p:spPr>
          <a:xfrm>
            <a:off x="768096" y="2633472"/>
            <a:ext cx="4974336" cy="3227832"/>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Make the title visibly larger and heavier than the body text. The introduction should be short, readable and placed near the headline so that the two pieces feel connected.</a:t>
            </a:r>
            <a:endParaRPr lang="en-US" sz="1900" dirty="0"/>
          </a:p>
        </p:txBody>
      </p:sp>
      <p:sp>
        <p:nvSpPr>
          <p:cNvPr id="15" name="Shape 13"/>
          <p:cNvSpPr/>
          <p:nvPr/>
        </p:nvSpPr>
        <p:spPr>
          <a:xfrm>
            <a:off x="6144768" y="1874520"/>
            <a:ext cx="5486400" cy="4160520"/>
          </a:xfrm>
          <a:prstGeom prst="roundRect">
            <a:avLst>
              <a:gd name="adj" fmla="val 3077"/>
            </a:avLst>
          </a:prstGeom>
          <a:solidFill>
            <a:srgbClr val="FFFFFF"/>
          </a:solidFill>
          <a:ln w="12700">
            <a:solidFill>
              <a:srgbClr val="D3E3E9"/>
            </a:solidFill>
            <a:prstDash val="solid"/>
          </a:ln>
        </p:spPr>
        <p:txBody>
          <a:bodyPr/>
          <a:p/>
        </p:txBody>
      </p:sp>
      <p:sp>
        <p:nvSpPr>
          <p:cNvPr id="16" name="Shape 14"/>
          <p:cNvSpPr/>
          <p:nvPr/>
        </p:nvSpPr>
        <p:spPr>
          <a:xfrm>
            <a:off x="6144768" y="1874520"/>
            <a:ext cx="82296"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73368" y="2093976"/>
            <a:ext cx="498348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Body tips and footer</a:t>
            </a:r>
            <a:endParaRPr lang="en-US" sz="2000" dirty="0"/>
          </a:p>
        </p:txBody>
      </p:sp>
      <p:sp>
        <p:nvSpPr>
          <p:cNvPr id="18" name="Text 16"/>
          <p:cNvSpPr/>
          <p:nvPr/>
        </p:nvSpPr>
        <p:spPr>
          <a:xfrm>
            <a:off x="6373368" y="2633472"/>
            <a:ext cx="5001768" cy="3227832"/>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Use a consistent size, weight and alignment for the three safety tips. The organisation name can be smaller because it provides attribution rather than the main instruction.</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TYPOGRAPHY</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Choosing readable type</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Accessibility is more important than novelty.</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11</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Keep the type system simple</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Use one or two related typefaces, avoid typing long paragraphs in capitals, and choose a body size that remains comfortable on an A4 page. The goal is consistency; the same kind of information should look the same throughout.</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If the body text only fits after making it very small, revise the wording or adjust the text frame first.</a:t>
            </a:r>
            <a:endParaRPr lang="en-US" sz="1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STUDENT PRACTICE</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What should change first?</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 beginner’s hand-out has six decorative fonts and very small advice text.</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12</a:t>
            </a:r>
            <a:endParaRPr lang="en-US" sz="1000" dirty="0"/>
          </a:p>
        </p:txBody>
      </p:sp>
      <p:sp>
        <p:nvSpPr>
          <p:cNvPr id="11" name="Shape 9"/>
          <p:cNvSpPr/>
          <p:nvPr/>
        </p:nvSpPr>
        <p:spPr>
          <a:xfrm>
            <a:off x="685800" y="1865376"/>
            <a:ext cx="10817352" cy="2953512"/>
          </a:xfrm>
          <a:prstGeom prst="roundRect">
            <a:avLst>
              <a:gd name="adj" fmla="val 4334"/>
            </a:avLst>
          </a:prstGeom>
          <a:solidFill>
            <a:srgbClr val="FFFFFF"/>
          </a:solidFill>
          <a:ln w="12700">
            <a:solidFill>
              <a:srgbClr val="D3E3E9"/>
            </a:solidFill>
            <a:prstDash val="solid"/>
          </a:ln>
        </p:spPr>
        <p:txBody>
          <a:bodyPr/>
          <a:p/>
        </p:txBody>
      </p:sp>
      <p:sp>
        <p:nvSpPr>
          <p:cNvPr id="12" name="Text 10"/>
          <p:cNvSpPr/>
          <p:nvPr/>
        </p:nvSpPr>
        <p:spPr>
          <a:xfrm>
            <a:off x="960120" y="2148840"/>
            <a:ext cx="324612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43200"/>
            <a:ext cx="9829800" cy="1572768"/>
          </a:xfrm>
          <a:prstGeom prst="rect">
            <a:avLst/>
          </a:prstGeom>
          <a:noFill/>
          <a:ln/>
        </p:spPr>
        <p:txBody>
          <a:bodyPr wrap="square" lIns="0" tIns="0" rIns="0" bIns="0" rtlCol="0" anchor="t">
            <a:normAutofit/>
          </a:bodyPr>
          <a:lstStyle/>
          <a:p>
            <a:pPr indent="0" marL="0">
              <a:buNone/>
            </a:pPr>
            <a:r>
              <a:rPr lang="en-US" sz="2400" b="1" dirty="0">
                <a:solidFill>
                  <a:srgbClr val="173552"/>
                </a:solidFill>
                <a:latin typeface="Aptos" pitchFamily="34" charset="0"/>
                <a:ea typeface="Aptos" pitchFamily="34" charset="-122"/>
                <a:cs typeface="Aptos" pitchFamily="34" charset="-120"/>
              </a:rPr>
              <a:t>Name two improvements that preserve the message but make the page easier to read.</a:t>
            </a:r>
            <a:endParaRPr lang="en-US" sz="2400" dirty="0"/>
          </a:p>
        </p:txBody>
      </p:sp>
      <p:sp>
        <p:nvSpPr>
          <p:cNvPr id="14" name="Shape 12"/>
          <p:cNvSpPr/>
          <p:nvPr/>
        </p:nvSpPr>
        <p:spPr>
          <a:xfrm>
            <a:off x="685800" y="5038344"/>
            <a:ext cx="10817352" cy="1014984"/>
          </a:xfrm>
          <a:prstGeom prst="roundRect">
            <a:avLst>
              <a:gd name="adj" fmla="val 12613"/>
            </a:avLst>
          </a:prstGeom>
          <a:solidFill>
            <a:srgbClr val="EAF3F5"/>
          </a:solidFill>
          <a:ln w="12700">
            <a:solidFill>
              <a:srgbClr val="EAF3F5"/>
            </a:solidFill>
            <a:prstDash val="solid"/>
          </a:ln>
        </p:spPr>
        <p:txBody>
          <a:bodyPr/>
          <a:p/>
        </p:txBody>
      </p:sp>
      <p:sp>
        <p:nvSpPr>
          <p:cNvPr id="15" name="Text 13"/>
          <p:cNvSpPr/>
          <p:nvPr/>
        </p:nvSpPr>
        <p:spPr>
          <a:xfrm>
            <a:off x="932688" y="5266944"/>
            <a:ext cx="10058400" cy="594360"/>
          </a:xfrm>
          <a:prstGeom prst="rect">
            <a:avLst/>
          </a:prstGeom>
          <a:noFill/>
          <a:ln/>
        </p:spPr>
        <p:txBody>
          <a:bodyPr wrap="square" lIns="0" tIns="0" rIns="0" bIns="0" rtlCol="0" anchor="ctr">
            <a:normAutofit/>
          </a:bodyPr>
          <a:lstStyle/>
          <a:p>
            <a:pPr indent="0" marL="0">
              <a:buNone/>
            </a:pPr>
            <a:r>
              <a:rPr lang="en-US" sz="1740" dirty="0">
                <a:solidFill>
                  <a:srgbClr val="5F788A"/>
                </a:solidFill>
                <a:latin typeface="Aptos" pitchFamily="34" charset="0"/>
                <a:ea typeface="Aptos" pitchFamily="34" charset="-122"/>
                <a:cs typeface="Aptos" pitchFamily="34" charset="-120"/>
              </a:rPr>
              <a:t>Think about limiting typefaces, strengthening hierarchy and increasing the body-text legibility.</a:t>
            </a:r>
            <a:endParaRPr lang="en-US" sz="17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DESIGN PRINCIPLE</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Alignment</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Related items should follow common visual lines.</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13</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Definition</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Alignment is the positioning of text and graphics so that their edges or centres follow a deliberate relationship. Consistent alignment makes a page appear organised and helps readers group related information.</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Try lining up the three advice blocks along the same left edge as the subtitle.</a:t>
            </a:r>
            <a:endParaRPr lang="en-US" sz="18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DESIGN PRINCIPLE</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White space</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An empty area can improve communication.</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14</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Definition</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White space is the unoccupied area between elements and around content. It separates groups and prevents the page from feeling overcrowded. It does not have to be white; it can be any unobstructed background.</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Leave breathing room around the title, image and tip blocks rather than filling every available area.</a:t>
            </a:r>
            <a:endParaRPr lang="en-US" sz="1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ILLUSTRATION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A crowded page versus an organised page</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Contrast, alignment and spacing work together.</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15</a:t>
            </a:r>
            <a:endParaRPr lang="en-US" sz="1000" dirty="0"/>
          </a:p>
        </p:txBody>
      </p:sp>
      <p:sp>
        <p:nvSpPr>
          <p:cNvPr id="11" name="Shape 9"/>
          <p:cNvSpPr/>
          <p:nvPr/>
        </p:nvSpPr>
        <p:spPr>
          <a:xfrm>
            <a:off x="521208" y="1865376"/>
            <a:ext cx="6702552" cy="4178808"/>
          </a:xfrm>
          <a:prstGeom prst="roundRect">
            <a:avLst>
              <a:gd name="adj" fmla="val 3063"/>
            </a:avLst>
          </a:prstGeom>
          <a:solidFill>
            <a:srgbClr val="FFFFFF"/>
          </a:solidFill>
          <a:ln w="12700">
            <a:solidFill>
              <a:srgbClr val="D3E3E9"/>
            </a:solidFill>
            <a:prstDash val="solid"/>
          </a:ln>
        </p:spPr>
        <p:txBody>
          <a:bodyPr/>
          <a:p/>
        </p:txBody>
      </p:sp>
      <p:pic>
        <p:nvPicPr>
          <p:cNvPr id="12" name="Image 0" descr="/mnt/data/ITT06105_Condensed_L08_Package/resources/Fig02_Alignment_White_Space.png">    </p:cNvPr>
          <p:cNvPicPr>
            <a:picLocks noChangeAspect="1"/>
          </p:cNvPicPr>
          <p:nvPr/>
        </p:nvPicPr>
        <p:blipFill>
          <a:blip r:embed="rId1"/>
          <a:stretch>
            <a:fillRect/>
          </a:stretch>
        </p:blipFill>
        <p:spPr>
          <a:xfrm>
            <a:off x="640080" y="2226564"/>
            <a:ext cx="6446520" cy="3438144"/>
          </a:xfrm>
          <a:prstGeom prst="rect">
            <a:avLst/>
          </a:prstGeom>
        </p:spPr>
      </p:pic>
      <p:sp>
        <p:nvSpPr>
          <p:cNvPr id="13" name="Shape 10"/>
          <p:cNvSpPr/>
          <p:nvPr/>
        </p:nvSpPr>
        <p:spPr>
          <a:xfrm>
            <a:off x="7370064" y="1865376"/>
            <a:ext cx="4251960" cy="4178808"/>
          </a:xfrm>
          <a:prstGeom prst="roundRect">
            <a:avLst>
              <a:gd name="adj" fmla="val 3063"/>
            </a:avLst>
          </a:prstGeom>
          <a:solidFill>
            <a:srgbClr val="FFFFFF"/>
          </a:solidFill>
          <a:ln w="12700">
            <a:solidFill>
              <a:srgbClr val="D3E3E9"/>
            </a:solidFill>
            <a:prstDash val="solid"/>
          </a:ln>
        </p:spPr>
        <p:txBody>
          <a:bodyPr/>
          <a:p/>
        </p:txBody>
      </p:sp>
      <p:sp>
        <p:nvSpPr>
          <p:cNvPr id="14" name="Shape 11"/>
          <p:cNvSpPr/>
          <p:nvPr/>
        </p:nvSpPr>
        <p:spPr>
          <a:xfrm>
            <a:off x="7370064" y="1865376"/>
            <a:ext cx="82296" cy="4178808"/>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84832"/>
            <a:ext cx="374904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Observe the right-hand version</a:t>
            </a:r>
            <a:endParaRPr lang="en-US" sz="2000" dirty="0"/>
          </a:p>
        </p:txBody>
      </p:sp>
      <p:sp>
        <p:nvSpPr>
          <p:cNvPr id="16" name="Text 13"/>
          <p:cNvSpPr/>
          <p:nvPr/>
        </p:nvSpPr>
        <p:spPr>
          <a:xfrm>
            <a:off x="7598664" y="2624328"/>
            <a:ext cx="3767328" cy="3246120"/>
          </a:xfrm>
          <a:prstGeom prst="rect">
            <a:avLst/>
          </a:prstGeom>
          <a:noFill/>
          <a:ln/>
        </p:spPr>
        <p:txBody>
          <a:bodyPr wrap="square" lIns="0" tIns="0" rIns="0" bIns="0" rtlCol="0" anchor="t">
            <a:normAutofit/>
          </a:bodyPr>
          <a:lstStyle/>
          <a:p>
            <a:pPr indent="0" marL="0">
              <a:buNone/>
            </a:pPr>
            <a:r>
              <a:rPr lang="en-US" sz="1750" dirty="0">
                <a:solidFill>
                  <a:srgbClr val="173552"/>
                </a:solidFill>
                <a:latin typeface="Aptos" pitchFamily="34" charset="0"/>
                <a:ea typeface="Aptos" pitchFamily="34" charset="-122"/>
                <a:cs typeface="Aptos" pitchFamily="34" charset="-120"/>
              </a:rPr>
              <a:t>The headline, body sections and margins follow a clear structure. Grouped advice blocks remain distinct without requiring many additional colours or decorations.</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EXPLAIN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Use colours consistently</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 few repeated colours are often enough.</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16</a:t>
            </a:r>
            <a:endParaRPr lang="en-US" sz="1000" dirty="0"/>
          </a:p>
        </p:txBody>
      </p:sp>
      <p:sp>
        <p:nvSpPr>
          <p:cNvPr id="11" name="Shape 9"/>
          <p:cNvSpPr/>
          <p:nvPr/>
        </p:nvSpPr>
        <p:spPr>
          <a:xfrm>
            <a:off x="539496" y="1874520"/>
            <a:ext cx="5458968" cy="4160520"/>
          </a:xfrm>
          <a:prstGeom prst="roundRect">
            <a:avLst>
              <a:gd name="adj" fmla="val 3077"/>
            </a:avLst>
          </a:prstGeom>
          <a:solidFill>
            <a:srgbClr val="FFFFFF"/>
          </a:solidFill>
          <a:ln w="12700">
            <a:solidFill>
              <a:srgbClr val="D3E3E9"/>
            </a:solidFill>
            <a:prstDash val="solid"/>
          </a:ln>
        </p:spPr>
        <p:txBody>
          <a:bodyPr/>
          <a:p/>
        </p:txBody>
      </p:sp>
      <p:sp>
        <p:nvSpPr>
          <p:cNvPr id="12" name="Shape 10"/>
          <p:cNvSpPr/>
          <p:nvPr/>
        </p:nvSpPr>
        <p:spPr>
          <a:xfrm>
            <a:off x="539496" y="1874520"/>
            <a:ext cx="82296"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68096" y="2093976"/>
            <a:ext cx="495604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Useful palette</a:t>
            </a:r>
            <a:endParaRPr lang="en-US" sz="2000" dirty="0"/>
          </a:p>
        </p:txBody>
      </p:sp>
      <p:sp>
        <p:nvSpPr>
          <p:cNvPr id="14" name="Text 12"/>
          <p:cNvSpPr/>
          <p:nvPr/>
        </p:nvSpPr>
        <p:spPr>
          <a:xfrm>
            <a:off x="768096" y="2633472"/>
            <a:ext cx="4974336" cy="3227832"/>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For this teaching example, navy can identify main headings, teal can mark labels or small accents, and amber can highlight one important area. Consistency makes the visual system predictable.</a:t>
            </a:r>
            <a:endParaRPr lang="en-US" sz="1900" dirty="0"/>
          </a:p>
        </p:txBody>
      </p:sp>
      <p:sp>
        <p:nvSpPr>
          <p:cNvPr id="15" name="Shape 13"/>
          <p:cNvSpPr/>
          <p:nvPr/>
        </p:nvSpPr>
        <p:spPr>
          <a:xfrm>
            <a:off x="6144768" y="1874520"/>
            <a:ext cx="5486400" cy="4160520"/>
          </a:xfrm>
          <a:prstGeom prst="roundRect">
            <a:avLst>
              <a:gd name="adj" fmla="val 3077"/>
            </a:avLst>
          </a:prstGeom>
          <a:solidFill>
            <a:srgbClr val="FFFFFF"/>
          </a:solidFill>
          <a:ln w="12700">
            <a:solidFill>
              <a:srgbClr val="D3E3E9"/>
            </a:solidFill>
            <a:prstDash val="solid"/>
          </a:ln>
        </p:spPr>
        <p:txBody>
          <a:bodyPr/>
          <a:p/>
        </p:txBody>
      </p:sp>
      <p:sp>
        <p:nvSpPr>
          <p:cNvPr id="16" name="Shape 14"/>
          <p:cNvSpPr/>
          <p:nvPr/>
        </p:nvSpPr>
        <p:spPr>
          <a:xfrm>
            <a:off x="6144768" y="1874520"/>
            <a:ext cx="82296"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73368" y="2093976"/>
            <a:ext cx="498348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Avoid unnecessary decoration</a:t>
            </a:r>
            <a:endParaRPr lang="en-US" sz="2000" dirty="0"/>
          </a:p>
        </p:txBody>
      </p:sp>
      <p:sp>
        <p:nvSpPr>
          <p:cNvPr id="18" name="Text 16"/>
          <p:cNvSpPr/>
          <p:nvPr/>
        </p:nvSpPr>
        <p:spPr>
          <a:xfrm>
            <a:off x="6373368" y="2633472"/>
            <a:ext cx="5001768" cy="3227832"/>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Do not colour every sentence differently, use low-contrast combinations or place busy artwork behind body text. Colour should support the message rather than compete with it.</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TEXT FRAMES</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What is overset text?</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 common problem when editing short publications.</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17</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Definition</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Overset text is content stored in a text frame that exceeds the visible frame area. InDesign may display a small red plus sign. The extra words may not appear in the exported PDF, so it must be corrected before submission.</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Do not assume all wording is present merely because it exists inside the editing file.</a:t>
            </a:r>
            <a:endParaRPr lang="en-US" sz="18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ILLUSTRATION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Fix hidden text before exporting</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 red plus sign is a warning, not a decorative symbol.</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18</a:t>
            </a:r>
            <a:endParaRPr lang="en-US" sz="1000" dirty="0"/>
          </a:p>
        </p:txBody>
      </p:sp>
      <p:sp>
        <p:nvSpPr>
          <p:cNvPr id="11" name="Shape 9"/>
          <p:cNvSpPr/>
          <p:nvPr/>
        </p:nvSpPr>
        <p:spPr>
          <a:xfrm>
            <a:off x="521208" y="1865376"/>
            <a:ext cx="6702552" cy="4178808"/>
          </a:xfrm>
          <a:prstGeom prst="roundRect">
            <a:avLst>
              <a:gd name="adj" fmla="val 3063"/>
            </a:avLst>
          </a:prstGeom>
          <a:solidFill>
            <a:srgbClr val="FFFFFF"/>
          </a:solidFill>
          <a:ln w="12700">
            <a:solidFill>
              <a:srgbClr val="D3E3E9"/>
            </a:solidFill>
            <a:prstDash val="solid"/>
          </a:ln>
        </p:spPr>
        <p:txBody>
          <a:bodyPr/>
          <a:p/>
        </p:txBody>
      </p:sp>
      <p:pic>
        <p:nvPicPr>
          <p:cNvPr id="12" name="Image 0" descr="/mnt/data/ITT06105_Condensed_L08_Package/resources/Fig03_Overset_Before_After.png">    </p:cNvPr>
          <p:cNvPicPr>
            <a:picLocks noChangeAspect="1"/>
          </p:cNvPicPr>
          <p:nvPr/>
        </p:nvPicPr>
        <p:blipFill>
          <a:blip r:embed="rId1"/>
          <a:stretch>
            <a:fillRect/>
          </a:stretch>
        </p:blipFill>
        <p:spPr>
          <a:xfrm>
            <a:off x="640080" y="2205076"/>
            <a:ext cx="6446520" cy="3481121"/>
          </a:xfrm>
          <a:prstGeom prst="rect">
            <a:avLst/>
          </a:prstGeom>
        </p:spPr>
      </p:pic>
      <p:sp>
        <p:nvSpPr>
          <p:cNvPr id="13" name="Shape 10"/>
          <p:cNvSpPr/>
          <p:nvPr/>
        </p:nvSpPr>
        <p:spPr>
          <a:xfrm>
            <a:off x="7370064" y="1865376"/>
            <a:ext cx="4251960" cy="4178808"/>
          </a:xfrm>
          <a:prstGeom prst="roundRect">
            <a:avLst>
              <a:gd name="adj" fmla="val 3063"/>
            </a:avLst>
          </a:prstGeom>
          <a:solidFill>
            <a:srgbClr val="FFFFFF"/>
          </a:solidFill>
          <a:ln w="12700">
            <a:solidFill>
              <a:srgbClr val="D3E3E9"/>
            </a:solidFill>
            <a:prstDash val="solid"/>
          </a:ln>
        </p:spPr>
        <p:txBody>
          <a:bodyPr/>
          <a:p/>
        </p:txBody>
      </p:sp>
      <p:sp>
        <p:nvSpPr>
          <p:cNvPr id="14" name="Shape 11"/>
          <p:cNvSpPr/>
          <p:nvPr/>
        </p:nvSpPr>
        <p:spPr>
          <a:xfrm>
            <a:off x="7370064" y="1865376"/>
            <a:ext cx="82296" cy="4178808"/>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84832"/>
            <a:ext cx="374904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Correct the frame</a:t>
            </a:r>
            <a:endParaRPr lang="en-US" sz="2000" dirty="0"/>
          </a:p>
        </p:txBody>
      </p:sp>
      <p:sp>
        <p:nvSpPr>
          <p:cNvPr id="16" name="Text 13"/>
          <p:cNvSpPr/>
          <p:nvPr/>
        </p:nvSpPr>
        <p:spPr>
          <a:xfrm>
            <a:off x="7598664" y="2624328"/>
            <a:ext cx="3767328" cy="3246120"/>
          </a:xfrm>
          <a:prstGeom prst="rect">
            <a:avLst/>
          </a:prstGeom>
          <a:noFill/>
          <a:ln/>
        </p:spPr>
        <p:txBody>
          <a:bodyPr wrap="square" lIns="0" tIns="0" rIns="0" bIns="0" rtlCol="0" anchor="t">
            <a:normAutofit/>
          </a:bodyPr>
          <a:lstStyle/>
          <a:p>
            <a:pPr indent="0" marL="0">
              <a:buNone/>
            </a:pPr>
            <a:r>
              <a:rPr lang="en-US" sz="1750" dirty="0">
                <a:solidFill>
                  <a:srgbClr val="173552"/>
                </a:solidFill>
                <a:latin typeface="Aptos" pitchFamily="34" charset="0"/>
                <a:ea typeface="Aptos" pitchFamily="34" charset="-122"/>
                <a:cs typeface="Aptos" pitchFamily="34" charset="-120"/>
              </a:rPr>
              <a:t>Enlarge or reposition the text frame, shorten unnecessary wording or adjust paragraph spacing. Avoid solving the problem by shrinking text until it becomes difficult to read.</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TROUBLESHOOTING</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Correcting overset text</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 simple diagnostic and correction sequence.</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19</a:t>
            </a:r>
            <a:endParaRPr lang="en-US" sz="1000" dirty="0"/>
          </a:p>
        </p:txBody>
      </p:sp>
      <p:sp>
        <p:nvSpPr>
          <p:cNvPr id="11" name="Shape 9"/>
          <p:cNvSpPr/>
          <p:nvPr/>
        </p:nvSpPr>
        <p:spPr>
          <a:xfrm>
            <a:off x="612648" y="1874520"/>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12" name="Shape 10"/>
          <p:cNvSpPr/>
          <p:nvPr/>
        </p:nvSpPr>
        <p:spPr>
          <a:xfrm>
            <a:off x="795528" y="2029968"/>
            <a:ext cx="594360" cy="642366"/>
          </a:xfrm>
          <a:prstGeom prst="roundRect">
            <a:avLst>
              <a:gd name="adj" fmla="val 21538"/>
            </a:avLst>
          </a:prstGeom>
          <a:solidFill>
            <a:srgbClr val="078A91"/>
          </a:solidFill>
          <a:ln w="12700">
            <a:solidFill>
              <a:srgbClr val="078A91"/>
            </a:solidFill>
            <a:prstDash val="solid"/>
          </a:ln>
        </p:spPr>
        <p:txBody>
          <a:bodyPr/>
          <a:p/>
        </p:txBody>
      </p:sp>
      <p:sp>
        <p:nvSpPr>
          <p:cNvPr id="13" name="Text 11"/>
          <p:cNvSpPr/>
          <p:nvPr/>
        </p:nvSpPr>
        <p:spPr>
          <a:xfrm>
            <a:off x="987552" y="2057400"/>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63624" y="2002536"/>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Identify</a:t>
            </a:r>
            <a:endParaRPr lang="en-US" sz="1880" dirty="0"/>
          </a:p>
        </p:txBody>
      </p:sp>
      <p:sp>
        <p:nvSpPr>
          <p:cNvPr id="15" name="Text 13"/>
          <p:cNvSpPr/>
          <p:nvPr/>
        </p:nvSpPr>
        <p:spPr>
          <a:xfrm>
            <a:off x="4517136" y="2002536"/>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Select the frame with the overset warning.</a:t>
            </a:r>
            <a:endParaRPr lang="en-US" sz="1760" dirty="0"/>
          </a:p>
        </p:txBody>
      </p:sp>
      <p:sp>
        <p:nvSpPr>
          <p:cNvPr id="16" name="Shape 14"/>
          <p:cNvSpPr/>
          <p:nvPr/>
        </p:nvSpPr>
        <p:spPr>
          <a:xfrm>
            <a:off x="612648" y="2946654"/>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17" name="Shape 15"/>
          <p:cNvSpPr/>
          <p:nvPr/>
        </p:nvSpPr>
        <p:spPr>
          <a:xfrm>
            <a:off x="795528" y="3102102"/>
            <a:ext cx="594360" cy="642366"/>
          </a:xfrm>
          <a:prstGeom prst="roundRect">
            <a:avLst>
              <a:gd name="adj" fmla="val 21538"/>
            </a:avLst>
          </a:prstGeom>
          <a:solidFill>
            <a:srgbClr val="173552"/>
          </a:solidFill>
          <a:ln w="12700">
            <a:solidFill>
              <a:srgbClr val="173552"/>
            </a:solidFill>
            <a:prstDash val="solid"/>
          </a:ln>
        </p:spPr>
        <p:txBody>
          <a:bodyPr/>
          <a:p/>
        </p:txBody>
      </p:sp>
      <p:sp>
        <p:nvSpPr>
          <p:cNvPr id="18" name="Text 16"/>
          <p:cNvSpPr/>
          <p:nvPr/>
        </p:nvSpPr>
        <p:spPr>
          <a:xfrm>
            <a:off x="987552" y="3129534"/>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63624" y="3074670"/>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Inspect</a:t>
            </a:r>
            <a:endParaRPr lang="en-US" sz="1880" dirty="0"/>
          </a:p>
        </p:txBody>
      </p:sp>
      <p:sp>
        <p:nvSpPr>
          <p:cNvPr id="20" name="Text 18"/>
          <p:cNvSpPr/>
          <p:nvPr/>
        </p:nvSpPr>
        <p:spPr>
          <a:xfrm>
            <a:off x="4517136" y="3074670"/>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Read the text and check which part is hidden.</a:t>
            </a:r>
            <a:endParaRPr lang="en-US" sz="1760" dirty="0"/>
          </a:p>
        </p:txBody>
      </p:sp>
      <p:sp>
        <p:nvSpPr>
          <p:cNvPr id="21" name="Shape 19"/>
          <p:cNvSpPr/>
          <p:nvPr/>
        </p:nvSpPr>
        <p:spPr>
          <a:xfrm>
            <a:off x="612648" y="4018788"/>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22" name="Shape 20"/>
          <p:cNvSpPr/>
          <p:nvPr/>
        </p:nvSpPr>
        <p:spPr>
          <a:xfrm>
            <a:off x="795528" y="4174236"/>
            <a:ext cx="594360" cy="642366"/>
          </a:xfrm>
          <a:prstGeom prst="roundRect">
            <a:avLst>
              <a:gd name="adj" fmla="val 21538"/>
            </a:avLst>
          </a:prstGeom>
          <a:solidFill>
            <a:srgbClr val="078A91"/>
          </a:solidFill>
          <a:ln w="12700">
            <a:solidFill>
              <a:srgbClr val="078A91"/>
            </a:solidFill>
            <a:prstDash val="solid"/>
          </a:ln>
        </p:spPr>
        <p:txBody>
          <a:bodyPr/>
          <a:p/>
        </p:txBody>
      </p:sp>
      <p:sp>
        <p:nvSpPr>
          <p:cNvPr id="23" name="Text 21"/>
          <p:cNvSpPr/>
          <p:nvPr/>
        </p:nvSpPr>
        <p:spPr>
          <a:xfrm>
            <a:off x="987552" y="4201668"/>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63624" y="4146804"/>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Correct</a:t>
            </a:r>
            <a:endParaRPr lang="en-US" sz="1880" dirty="0"/>
          </a:p>
        </p:txBody>
      </p:sp>
      <p:sp>
        <p:nvSpPr>
          <p:cNvPr id="25" name="Text 23"/>
          <p:cNvSpPr/>
          <p:nvPr/>
        </p:nvSpPr>
        <p:spPr>
          <a:xfrm>
            <a:off x="4517136" y="4146804"/>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Enlarge frame, improve text flow or shorten wording.</a:t>
            </a:r>
            <a:endParaRPr lang="en-US" sz="1760" dirty="0"/>
          </a:p>
        </p:txBody>
      </p:sp>
      <p:sp>
        <p:nvSpPr>
          <p:cNvPr id="26" name="Shape 24"/>
          <p:cNvSpPr/>
          <p:nvPr/>
        </p:nvSpPr>
        <p:spPr>
          <a:xfrm>
            <a:off x="612648" y="5090922"/>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27" name="Shape 25"/>
          <p:cNvSpPr/>
          <p:nvPr/>
        </p:nvSpPr>
        <p:spPr>
          <a:xfrm>
            <a:off x="795528" y="5246370"/>
            <a:ext cx="594360" cy="642366"/>
          </a:xfrm>
          <a:prstGeom prst="roundRect">
            <a:avLst>
              <a:gd name="adj" fmla="val 21538"/>
            </a:avLst>
          </a:prstGeom>
          <a:solidFill>
            <a:srgbClr val="173552"/>
          </a:solidFill>
          <a:ln w="12700">
            <a:solidFill>
              <a:srgbClr val="173552"/>
            </a:solidFill>
            <a:prstDash val="solid"/>
          </a:ln>
        </p:spPr>
        <p:txBody>
          <a:bodyPr/>
          <a:p/>
        </p:txBody>
      </p:sp>
      <p:sp>
        <p:nvSpPr>
          <p:cNvPr id="28" name="Text 26"/>
          <p:cNvSpPr/>
          <p:nvPr/>
        </p:nvSpPr>
        <p:spPr>
          <a:xfrm>
            <a:off x="987552" y="5273802"/>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63624" y="5218938"/>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Verify</a:t>
            </a:r>
            <a:endParaRPr lang="en-US" sz="1880" dirty="0"/>
          </a:p>
        </p:txBody>
      </p:sp>
      <p:sp>
        <p:nvSpPr>
          <p:cNvPr id="30" name="Text 28"/>
          <p:cNvSpPr/>
          <p:nvPr/>
        </p:nvSpPr>
        <p:spPr>
          <a:xfrm>
            <a:off x="4517136" y="5218938"/>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Check the complete text on the page and exported PDF.</a:t>
            </a:r>
            <a:endParaRPr lang="en-US" sz="17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IMAGE QUALITY</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Images should retain their proportions</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Do not stretch one dimension independently.</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20</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Preserve aspect ratio</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When the width and height of an image are changed by different proportions, familiar objects look unnatural. Resize or fit the picture proportionally and crop the visible area within the image frame when necessary.</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Our hand-out needs one relevant, clear image; it does not need several competing photographs.</a:t>
            </a:r>
            <a:endParaRPr lang="en-US" sz="18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EXPLAIN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Working with linked assets</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Placed graphics may remain separate from the INDD document.</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21</a:t>
            </a:r>
            <a:endParaRPr lang="en-US" sz="1000" dirty="0"/>
          </a:p>
        </p:txBody>
      </p:sp>
      <p:sp>
        <p:nvSpPr>
          <p:cNvPr id="11" name="Shape 9"/>
          <p:cNvSpPr/>
          <p:nvPr/>
        </p:nvSpPr>
        <p:spPr>
          <a:xfrm>
            <a:off x="539496" y="1874520"/>
            <a:ext cx="5458968" cy="4160520"/>
          </a:xfrm>
          <a:prstGeom prst="roundRect">
            <a:avLst>
              <a:gd name="adj" fmla="val 3077"/>
            </a:avLst>
          </a:prstGeom>
          <a:solidFill>
            <a:srgbClr val="FFFFFF"/>
          </a:solidFill>
          <a:ln w="12700">
            <a:solidFill>
              <a:srgbClr val="D3E3E9"/>
            </a:solidFill>
            <a:prstDash val="solid"/>
          </a:ln>
        </p:spPr>
        <p:txBody>
          <a:bodyPr/>
          <a:p/>
        </p:txBody>
      </p:sp>
      <p:sp>
        <p:nvSpPr>
          <p:cNvPr id="12" name="Shape 10"/>
          <p:cNvSpPr/>
          <p:nvPr/>
        </p:nvSpPr>
        <p:spPr>
          <a:xfrm>
            <a:off x="539496" y="1874520"/>
            <a:ext cx="82296"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68096" y="2093976"/>
            <a:ext cx="495604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When links are healthy</a:t>
            </a:r>
            <a:endParaRPr lang="en-US" sz="2000" dirty="0"/>
          </a:p>
        </p:txBody>
      </p:sp>
      <p:sp>
        <p:nvSpPr>
          <p:cNvPr id="14" name="Text 12"/>
          <p:cNvSpPr/>
          <p:nvPr/>
        </p:nvSpPr>
        <p:spPr>
          <a:xfrm>
            <a:off x="768096" y="2633472"/>
            <a:ext cx="4974336" cy="3227832"/>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InDesign locates the source picture or icon. The graphic appears as expected in the layout and in the exported proof. Keep linked resources in a clearly named project folder.</a:t>
            </a:r>
            <a:endParaRPr lang="en-US" sz="1900" dirty="0"/>
          </a:p>
        </p:txBody>
      </p:sp>
      <p:sp>
        <p:nvSpPr>
          <p:cNvPr id="15" name="Shape 13"/>
          <p:cNvSpPr/>
          <p:nvPr/>
        </p:nvSpPr>
        <p:spPr>
          <a:xfrm>
            <a:off x="6144768" y="1874520"/>
            <a:ext cx="5486400" cy="4160520"/>
          </a:xfrm>
          <a:prstGeom prst="roundRect">
            <a:avLst>
              <a:gd name="adj" fmla="val 3077"/>
            </a:avLst>
          </a:prstGeom>
          <a:solidFill>
            <a:srgbClr val="FFFFFF"/>
          </a:solidFill>
          <a:ln w="12700">
            <a:solidFill>
              <a:srgbClr val="D3E3E9"/>
            </a:solidFill>
            <a:prstDash val="solid"/>
          </a:ln>
        </p:spPr>
        <p:txBody>
          <a:bodyPr/>
          <a:p/>
        </p:txBody>
      </p:sp>
      <p:sp>
        <p:nvSpPr>
          <p:cNvPr id="16" name="Shape 14"/>
          <p:cNvSpPr/>
          <p:nvPr/>
        </p:nvSpPr>
        <p:spPr>
          <a:xfrm>
            <a:off x="6144768" y="1874520"/>
            <a:ext cx="82296"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73368" y="2093976"/>
            <a:ext cx="498348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When links are missing</a:t>
            </a:r>
            <a:endParaRPr lang="en-US" sz="2000" dirty="0"/>
          </a:p>
        </p:txBody>
      </p:sp>
      <p:sp>
        <p:nvSpPr>
          <p:cNvPr id="18" name="Text 16"/>
          <p:cNvSpPr/>
          <p:nvPr/>
        </p:nvSpPr>
        <p:spPr>
          <a:xfrm>
            <a:off x="6373368" y="2633472"/>
            <a:ext cx="5001768" cy="3227832"/>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If a source asset is moved or renamed, the Links panel may warn about it. Relink the correct file and verify the content before exporting; do not ignore the warning.</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STUDENT PRACTICE</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Diagnose a missing image</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 student moved the hand-out image to a new folder.</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22</a:t>
            </a:r>
            <a:endParaRPr lang="en-US" sz="1000" dirty="0"/>
          </a:p>
        </p:txBody>
      </p:sp>
      <p:sp>
        <p:nvSpPr>
          <p:cNvPr id="11" name="Shape 9"/>
          <p:cNvSpPr/>
          <p:nvPr/>
        </p:nvSpPr>
        <p:spPr>
          <a:xfrm>
            <a:off x="685800" y="1865376"/>
            <a:ext cx="10817352" cy="2953512"/>
          </a:xfrm>
          <a:prstGeom prst="roundRect">
            <a:avLst>
              <a:gd name="adj" fmla="val 4334"/>
            </a:avLst>
          </a:prstGeom>
          <a:solidFill>
            <a:srgbClr val="FFFFFF"/>
          </a:solidFill>
          <a:ln w="12700">
            <a:solidFill>
              <a:srgbClr val="D3E3E9"/>
            </a:solidFill>
            <a:prstDash val="solid"/>
          </a:ln>
        </p:spPr>
        <p:txBody>
          <a:bodyPr/>
          <a:p/>
        </p:txBody>
      </p:sp>
      <p:sp>
        <p:nvSpPr>
          <p:cNvPr id="12" name="Text 10"/>
          <p:cNvSpPr/>
          <p:nvPr/>
        </p:nvSpPr>
        <p:spPr>
          <a:xfrm>
            <a:off x="960120" y="2148840"/>
            <a:ext cx="324612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43200"/>
            <a:ext cx="9829800" cy="1572768"/>
          </a:xfrm>
          <a:prstGeom prst="rect">
            <a:avLst/>
          </a:prstGeom>
          <a:noFill/>
          <a:ln/>
        </p:spPr>
        <p:txBody>
          <a:bodyPr wrap="square" lIns="0" tIns="0" rIns="0" bIns="0" rtlCol="0" anchor="t">
            <a:normAutofit/>
          </a:bodyPr>
          <a:lstStyle/>
          <a:p>
            <a:pPr indent="0" marL="0">
              <a:buNone/>
            </a:pPr>
            <a:r>
              <a:rPr lang="en-US" sz="2400" b="1" dirty="0">
                <a:solidFill>
                  <a:srgbClr val="173552"/>
                </a:solidFill>
                <a:latin typeface="Aptos" pitchFamily="34" charset="0"/>
                <a:ea typeface="Aptos" pitchFamily="34" charset="-122"/>
                <a:cs typeface="Aptos" pitchFamily="34" charset="-120"/>
              </a:rPr>
              <a:t>The layout now shows a missing-link warning. What should the student check and do before exporting the final PDF?</a:t>
            </a:r>
            <a:endParaRPr lang="en-US" sz="2400" dirty="0"/>
          </a:p>
        </p:txBody>
      </p:sp>
      <p:sp>
        <p:nvSpPr>
          <p:cNvPr id="14" name="Shape 12"/>
          <p:cNvSpPr/>
          <p:nvPr/>
        </p:nvSpPr>
        <p:spPr>
          <a:xfrm>
            <a:off x="685800" y="5038344"/>
            <a:ext cx="10817352" cy="1014984"/>
          </a:xfrm>
          <a:prstGeom prst="roundRect">
            <a:avLst>
              <a:gd name="adj" fmla="val 12613"/>
            </a:avLst>
          </a:prstGeom>
          <a:solidFill>
            <a:srgbClr val="EAF3F5"/>
          </a:solidFill>
          <a:ln w="12700">
            <a:solidFill>
              <a:srgbClr val="EAF3F5"/>
            </a:solidFill>
            <a:prstDash val="solid"/>
          </a:ln>
        </p:spPr>
        <p:txBody>
          <a:bodyPr/>
          <a:p/>
        </p:txBody>
      </p:sp>
      <p:sp>
        <p:nvSpPr>
          <p:cNvPr id="15" name="Text 13"/>
          <p:cNvSpPr/>
          <p:nvPr/>
        </p:nvSpPr>
        <p:spPr>
          <a:xfrm>
            <a:off x="932688" y="5266944"/>
            <a:ext cx="10058400" cy="594360"/>
          </a:xfrm>
          <a:prstGeom prst="rect">
            <a:avLst/>
          </a:prstGeom>
          <a:noFill/>
          <a:ln/>
        </p:spPr>
        <p:txBody>
          <a:bodyPr wrap="square" lIns="0" tIns="0" rIns="0" bIns="0" rtlCol="0" anchor="ctr">
            <a:normAutofit/>
          </a:bodyPr>
          <a:lstStyle/>
          <a:p>
            <a:pPr indent="0" marL="0">
              <a:buNone/>
            </a:pPr>
            <a:r>
              <a:rPr lang="en-US" sz="1740" dirty="0">
                <a:solidFill>
                  <a:srgbClr val="5F788A"/>
                </a:solidFill>
                <a:latin typeface="Aptos" pitchFamily="34" charset="0"/>
                <a:ea typeface="Aptos" pitchFamily="34" charset="-122"/>
                <a:cs typeface="Aptos" pitchFamily="34" charset="-120"/>
              </a:rPr>
              <a:t>Look for the original asset, restore or relink it, then export and inspect the corrected proof.</a:t>
            </a:r>
            <a:endParaRPr lang="en-US" sz="17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KEY DEFINITION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Proofreading and proofing</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Review what the reader will actually receive.</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23</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Proofing</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Proofing is the systematic inspection of a nearly completed publication for content, appearance and technical errors. It includes reading the wording, inspecting layout and ensuring the PDF matches the intended source design.</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The editing view is not the final test; open the exported PDF separately and read it from top to bottom.</a:t>
            </a:r>
            <a:endParaRPr lang="en-US" sz="18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PROCESS</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A five-stage finalisation workflow</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Use the same sequence for posters, brochures and hand-outs.</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24</a:t>
            </a:r>
            <a:endParaRPr lang="en-US" sz="1000" dirty="0"/>
          </a:p>
        </p:txBody>
      </p:sp>
      <p:sp>
        <p:nvSpPr>
          <p:cNvPr id="11" name="Shape 9"/>
          <p:cNvSpPr/>
          <p:nvPr/>
        </p:nvSpPr>
        <p:spPr>
          <a:xfrm>
            <a:off x="521208" y="1865376"/>
            <a:ext cx="6702552" cy="4178808"/>
          </a:xfrm>
          <a:prstGeom prst="roundRect">
            <a:avLst>
              <a:gd name="adj" fmla="val 3063"/>
            </a:avLst>
          </a:prstGeom>
          <a:solidFill>
            <a:srgbClr val="FFFFFF"/>
          </a:solidFill>
          <a:ln w="12700">
            <a:solidFill>
              <a:srgbClr val="D3E3E9"/>
            </a:solidFill>
            <a:prstDash val="solid"/>
          </a:ln>
        </p:spPr>
        <p:txBody>
          <a:bodyPr/>
          <a:p/>
        </p:txBody>
      </p:sp>
      <p:pic>
        <p:nvPicPr>
          <p:cNvPr id="12" name="Image 0" descr="/mnt/data/ITT06105_Condensed_L08_Package/resources/Fig05_Finalisation_Workflow.png">    </p:cNvPr>
          <p:cNvPicPr>
            <a:picLocks noChangeAspect="1"/>
          </p:cNvPicPr>
          <p:nvPr/>
        </p:nvPicPr>
        <p:blipFill>
          <a:blip r:embed="rId1"/>
          <a:stretch>
            <a:fillRect/>
          </a:stretch>
        </p:blipFill>
        <p:spPr>
          <a:xfrm>
            <a:off x="640080" y="2535460"/>
            <a:ext cx="6446520" cy="2820352"/>
          </a:xfrm>
          <a:prstGeom prst="rect">
            <a:avLst/>
          </a:prstGeom>
        </p:spPr>
      </p:pic>
      <p:sp>
        <p:nvSpPr>
          <p:cNvPr id="13" name="Shape 10"/>
          <p:cNvSpPr/>
          <p:nvPr/>
        </p:nvSpPr>
        <p:spPr>
          <a:xfrm>
            <a:off x="7370064" y="1865376"/>
            <a:ext cx="4251960" cy="4178808"/>
          </a:xfrm>
          <a:prstGeom prst="roundRect">
            <a:avLst>
              <a:gd name="adj" fmla="val 3063"/>
            </a:avLst>
          </a:prstGeom>
          <a:solidFill>
            <a:srgbClr val="FFFFFF"/>
          </a:solidFill>
          <a:ln w="12700">
            <a:solidFill>
              <a:srgbClr val="D3E3E9"/>
            </a:solidFill>
            <a:prstDash val="solid"/>
          </a:ln>
        </p:spPr>
        <p:txBody>
          <a:bodyPr/>
          <a:p/>
        </p:txBody>
      </p:sp>
      <p:sp>
        <p:nvSpPr>
          <p:cNvPr id="14" name="Shape 11"/>
          <p:cNvSpPr/>
          <p:nvPr/>
        </p:nvSpPr>
        <p:spPr>
          <a:xfrm>
            <a:off x="7370064" y="1865376"/>
            <a:ext cx="82296" cy="4178808"/>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84832"/>
            <a:ext cx="374904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Repeat when necessary</a:t>
            </a:r>
            <a:endParaRPr lang="en-US" sz="2000" dirty="0"/>
          </a:p>
        </p:txBody>
      </p:sp>
      <p:sp>
        <p:nvSpPr>
          <p:cNvPr id="16" name="Text 13"/>
          <p:cNvSpPr/>
          <p:nvPr/>
        </p:nvSpPr>
        <p:spPr>
          <a:xfrm>
            <a:off x="7598664" y="2624328"/>
            <a:ext cx="3767328" cy="3246120"/>
          </a:xfrm>
          <a:prstGeom prst="rect">
            <a:avLst/>
          </a:prstGeom>
          <a:noFill/>
          <a:ln/>
        </p:spPr>
        <p:txBody>
          <a:bodyPr wrap="square" lIns="0" tIns="0" rIns="0" bIns="0" rtlCol="0" anchor="t">
            <a:normAutofit/>
          </a:bodyPr>
          <a:lstStyle/>
          <a:p>
            <a:pPr indent="0" marL="0">
              <a:buNone/>
            </a:pPr>
            <a:r>
              <a:rPr lang="en-US" sz="1750" dirty="0">
                <a:solidFill>
                  <a:srgbClr val="173552"/>
                </a:solidFill>
                <a:latin typeface="Aptos" pitchFamily="34" charset="0"/>
                <a:ea typeface="Aptos" pitchFamily="34" charset="-122"/>
                <a:cs typeface="Aptos" pitchFamily="34" charset="-120"/>
              </a:rPr>
              <a:t>Review the words, refine the layout, check graphics and links, export the document, and inspect the proof. If a problem remains, correct the source and export again.</a:t>
            </a:r>
            <a:endParaRPr lang="en-US" sz="1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QUALITY CONTROL</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The five checks before submission</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 brief checklist prevents avoidable errors.</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25</a:t>
            </a:r>
            <a:endParaRPr lang="en-US" sz="1000" dirty="0"/>
          </a:p>
        </p:txBody>
      </p:sp>
      <p:sp>
        <p:nvSpPr>
          <p:cNvPr id="11" name="Shape 9"/>
          <p:cNvSpPr/>
          <p:nvPr/>
        </p:nvSpPr>
        <p:spPr>
          <a:xfrm>
            <a:off x="521208" y="1865376"/>
            <a:ext cx="6702552" cy="4178808"/>
          </a:xfrm>
          <a:prstGeom prst="roundRect">
            <a:avLst>
              <a:gd name="adj" fmla="val 3063"/>
            </a:avLst>
          </a:prstGeom>
          <a:solidFill>
            <a:srgbClr val="FFFFFF"/>
          </a:solidFill>
          <a:ln w="12700">
            <a:solidFill>
              <a:srgbClr val="D3E3E9"/>
            </a:solidFill>
            <a:prstDash val="solid"/>
          </a:ln>
        </p:spPr>
        <p:txBody>
          <a:bodyPr/>
          <a:p/>
        </p:txBody>
      </p:sp>
      <p:pic>
        <p:nvPicPr>
          <p:cNvPr id="12" name="Image 0" descr="/mnt/data/ITT06105_Condensed_L08_Package/resources/Fig06_Proofreading_Checklist.png">    </p:cNvPr>
          <p:cNvPicPr>
            <a:picLocks noChangeAspect="1"/>
          </p:cNvPicPr>
          <p:nvPr/>
        </p:nvPicPr>
        <p:blipFill>
          <a:blip r:embed="rId1"/>
          <a:stretch>
            <a:fillRect/>
          </a:stretch>
        </p:blipFill>
        <p:spPr>
          <a:xfrm>
            <a:off x="640080" y="2233279"/>
            <a:ext cx="6446520" cy="3424714"/>
          </a:xfrm>
          <a:prstGeom prst="rect">
            <a:avLst/>
          </a:prstGeom>
        </p:spPr>
      </p:pic>
      <p:sp>
        <p:nvSpPr>
          <p:cNvPr id="13" name="Shape 10"/>
          <p:cNvSpPr/>
          <p:nvPr/>
        </p:nvSpPr>
        <p:spPr>
          <a:xfrm>
            <a:off x="7370064" y="1865376"/>
            <a:ext cx="4251960" cy="4178808"/>
          </a:xfrm>
          <a:prstGeom prst="roundRect">
            <a:avLst>
              <a:gd name="adj" fmla="val 3063"/>
            </a:avLst>
          </a:prstGeom>
          <a:solidFill>
            <a:srgbClr val="FFFFFF"/>
          </a:solidFill>
          <a:ln w="12700">
            <a:solidFill>
              <a:srgbClr val="D3E3E9"/>
            </a:solidFill>
            <a:prstDash val="solid"/>
          </a:ln>
        </p:spPr>
        <p:txBody>
          <a:bodyPr/>
          <a:p/>
        </p:txBody>
      </p:sp>
      <p:sp>
        <p:nvSpPr>
          <p:cNvPr id="14" name="Shape 11"/>
          <p:cNvSpPr/>
          <p:nvPr/>
        </p:nvSpPr>
        <p:spPr>
          <a:xfrm>
            <a:off x="7370064" y="1865376"/>
            <a:ext cx="82296" cy="4178808"/>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84832"/>
            <a:ext cx="374904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Keep the checklist simple</a:t>
            </a:r>
            <a:endParaRPr lang="en-US" sz="2000" dirty="0"/>
          </a:p>
        </p:txBody>
      </p:sp>
      <p:sp>
        <p:nvSpPr>
          <p:cNvPr id="16" name="Text 13"/>
          <p:cNvSpPr/>
          <p:nvPr/>
        </p:nvSpPr>
        <p:spPr>
          <a:xfrm>
            <a:off x="7598664" y="2624328"/>
            <a:ext cx="3767328" cy="3246120"/>
          </a:xfrm>
          <a:prstGeom prst="rect">
            <a:avLst/>
          </a:prstGeom>
          <a:noFill/>
          <a:ln/>
        </p:spPr>
        <p:txBody>
          <a:bodyPr wrap="square" lIns="0" tIns="0" rIns="0" bIns="0" rtlCol="0" anchor="t">
            <a:normAutofit/>
          </a:bodyPr>
          <a:lstStyle/>
          <a:p>
            <a:pPr indent="0" marL="0">
              <a:buNone/>
            </a:pPr>
            <a:r>
              <a:rPr lang="en-US" sz="1750" dirty="0">
                <a:solidFill>
                  <a:srgbClr val="173552"/>
                </a:solidFill>
                <a:latin typeface="Aptos" pitchFamily="34" charset="0"/>
                <a:ea typeface="Aptos" pitchFamily="34" charset="-122"/>
                <a:cs typeface="Aptos" pitchFamily="34" charset="-120"/>
              </a:rPr>
              <a:t>Check words, layout, images, source files and PDF export. Record the result, and correct issues before marking the work as finished.</a:t>
            </a:r>
            <a:endParaRPr lang="en-US" sz="1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EXPLAIN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Editable source file and exported proof</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Both files matter, but for different reasons.</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26</a:t>
            </a:r>
            <a:endParaRPr lang="en-US" sz="1000" dirty="0"/>
          </a:p>
        </p:txBody>
      </p:sp>
      <p:sp>
        <p:nvSpPr>
          <p:cNvPr id="11" name="Shape 9"/>
          <p:cNvSpPr/>
          <p:nvPr/>
        </p:nvSpPr>
        <p:spPr>
          <a:xfrm>
            <a:off x="539496" y="1874520"/>
            <a:ext cx="5458968" cy="4160520"/>
          </a:xfrm>
          <a:prstGeom prst="roundRect">
            <a:avLst>
              <a:gd name="adj" fmla="val 3077"/>
            </a:avLst>
          </a:prstGeom>
          <a:solidFill>
            <a:srgbClr val="FFFFFF"/>
          </a:solidFill>
          <a:ln w="12700">
            <a:solidFill>
              <a:srgbClr val="D3E3E9"/>
            </a:solidFill>
            <a:prstDash val="solid"/>
          </a:ln>
        </p:spPr>
        <p:txBody>
          <a:bodyPr/>
          <a:p/>
        </p:txBody>
      </p:sp>
      <p:sp>
        <p:nvSpPr>
          <p:cNvPr id="12" name="Shape 10"/>
          <p:cNvSpPr/>
          <p:nvPr/>
        </p:nvSpPr>
        <p:spPr>
          <a:xfrm>
            <a:off x="539496" y="1874520"/>
            <a:ext cx="82296"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68096" y="2093976"/>
            <a:ext cx="4956048"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INDD — the working document</a:t>
            </a:r>
            <a:endParaRPr lang="en-US" sz="2000" dirty="0"/>
          </a:p>
        </p:txBody>
      </p:sp>
      <p:sp>
        <p:nvSpPr>
          <p:cNvPr id="14" name="Text 12"/>
          <p:cNvSpPr/>
          <p:nvPr/>
        </p:nvSpPr>
        <p:spPr>
          <a:xfrm>
            <a:off x="768096" y="2633472"/>
            <a:ext cx="4974336" cy="3227832"/>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The .indd file preserves editable text, frames and document structure. Changes to wording, position or images should normally be made here. Retain the source for future corrections.</a:t>
            </a:r>
            <a:endParaRPr lang="en-US" sz="1900" dirty="0"/>
          </a:p>
        </p:txBody>
      </p:sp>
      <p:sp>
        <p:nvSpPr>
          <p:cNvPr id="15" name="Shape 13"/>
          <p:cNvSpPr/>
          <p:nvPr/>
        </p:nvSpPr>
        <p:spPr>
          <a:xfrm>
            <a:off x="6144768" y="1874520"/>
            <a:ext cx="5486400" cy="4160520"/>
          </a:xfrm>
          <a:prstGeom prst="roundRect">
            <a:avLst>
              <a:gd name="adj" fmla="val 3077"/>
            </a:avLst>
          </a:prstGeom>
          <a:solidFill>
            <a:srgbClr val="FFFFFF"/>
          </a:solidFill>
          <a:ln w="12700">
            <a:solidFill>
              <a:srgbClr val="D3E3E9"/>
            </a:solidFill>
            <a:prstDash val="solid"/>
          </a:ln>
        </p:spPr>
        <p:txBody>
          <a:bodyPr/>
          <a:p/>
        </p:txBody>
      </p:sp>
      <p:sp>
        <p:nvSpPr>
          <p:cNvPr id="16" name="Shape 14"/>
          <p:cNvSpPr/>
          <p:nvPr/>
        </p:nvSpPr>
        <p:spPr>
          <a:xfrm>
            <a:off x="6144768" y="1874520"/>
            <a:ext cx="82296"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73368" y="2093976"/>
            <a:ext cx="498348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PDF — the document to inspect</a:t>
            </a:r>
            <a:endParaRPr lang="en-US" sz="2000" dirty="0"/>
          </a:p>
        </p:txBody>
      </p:sp>
      <p:sp>
        <p:nvSpPr>
          <p:cNvPr id="18" name="Text 16"/>
          <p:cNvSpPr/>
          <p:nvPr/>
        </p:nvSpPr>
        <p:spPr>
          <a:xfrm>
            <a:off x="6373368" y="2633472"/>
            <a:ext cx="5001768" cy="3227832"/>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The PDF shows the publication in a shareable form. Open it independently to check visible text, alignment, page dimensions and image appearance. Export a new PDF after significant corrections.</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GUIDED PRACTICAL</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Practical 1: open and assess your draft</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Start from the hand-out created in Lecture 7.</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27</a:t>
            </a:r>
            <a:endParaRPr lang="en-US" sz="1000" dirty="0"/>
          </a:p>
        </p:txBody>
      </p:sp>
      <p:sp>
        <p:nvSpPr>
          <p:cNvPr id="11" name="Shape 9"/>
          <p:cNvSpPr/>
          <p:nvPr/>
        </p:nvSpPr>
        <p:spPr>
          <a:xfrm>
            <a:off x="612648" y="1874520"/>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12" name="Shape 10"/>
          <p:cNvSpPr/>
          <p:nvPr/>
        </p:nvSpPr>
        <p:spPr>
          <a:xfrm>
            <a:off x="795528" y="2029968"/>
            <a:ext cx="594360" cy="642366"/>
          </a:xfrm>
          <a:prstGeom prst="roundRect">
            <a:avLst>
              <a:gd name="adj" fmla="val 21538"/>
            </a:avLst>
          </a:prstGeom>
          <a:solidFill>
            <a:srgbClr val="078A91"/>
          </a:solidFill>
          <a:ln w="12700">
            <a:solidFill>
              <a:srgbClr val="078A91"/>
            </a:solidFill>
            <a:prstDash val="solid"/>
          </a:ln>
        </p:spPr>
        <p:txBody>
          <a:bodyPr/>
          <a:p/>
        </p:txBody>
      </p:sp>
      <p:sp>
        <p:nvSpPr>
          <p:cNvPr id="13" name="Text 11"/>
          <p:cNvSpPr/>
          <p:nvPr/>
        </p:nvSpPr>
        <p:spPr>
          <a:xfrm>
            <a:off x="987552" y="2057400"/>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63624" y="2002536"/>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Open</a:t>
            </a:r>
            <a:endParaRPr lang="en-US" sz="1880" dirty="0"/>
          </a:p>
        </p:txBody>
      </p:sp>
      <p:sp>
        <p:nvSpPr>
          <p:cNvPr id="15" name="Text 13"/>
          <p:cNvSpPr/>
          <p:nvPr/>
        </p:nvSpPr>
        <p:spPr>
          <a:xfrm>
            <a:off x="4517136" y="2002536"/>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Locate the L07 project folder and open your INDD source.</a:t>
            </a:r>
            <a:endParaRPr lang="en-US" sz="1760" dirty="0"/>
          </a:p>
        </p:txBody>
      </p:sp>
      <p:sp>
        <p:nvSpPr>
          <p:cNvPr id="16" name="Shape 14"/>
          <p:cNvSpPr/>
          <p:nvPr/>
        </p:nvSpPr>
        <p:spPr>
          <a:xfrm>
            <a:off x="612648" y="2946654"/>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17" name="Shape 15"/>
          <p:cNvSpPr/>
          <p:nvPr/>
        </p:nvSpPr>
        <p:spPr>
          <a:xfrm>
            <a:off x="795528" y="3102102"/>
            <a:ext cx="594360" cy="642366"/>
          </a:xfrm>
          <a:prstGeom prst="roundRect">
            <a:avLst>
              <a:gd name="adj" fmla="val 21538"/>
            </a:avLst>
          </a:prstGeom>
          <a:solidFill>
            <a:srgbClr val="173552"/>
          </a:solidFill>
          <a:ln w="12700">
            <a:solidFill>
              <a:srgbClr val="173552"/>
            </a:solidFill>
            <a:prstDash val="solid"/>
          </a:ln>
        </p:spPr>
        <p:txBody>
          <a:bodyPr/>
          <a:p/>
        </p:txBody>
      </p:sp>
      <p:sp>
        <p:nvSpPr>
          <p:cNvPr id="18" name="Text 16"/>
          <p:cNvSpPr/>
          <p:nvPr/>
        </p:nvSpPr>
        <p:spPr>
          <a:xfrm>
            <a:off x="987552" y="3129534"/>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63624" y="3074670"/>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Read</a:t>
            </a:r>
            <a:endParaRPr lang="en-US" sz="1880" dirty="0"/>
          </a:p>
        </p:txBody>
      </p:sp>
      <p:sp>
        <p:nvSpPr>
          <p:cNvPr id="20" name="Text 18"/>
          <p:cNvSpPr/>
          <p:nvPr/>
        </p:nvSpPr>
        <p:spPr>
          <a:xfrm>
            <a:off x="4517136" y="3074670"/>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Review the title, introduction, three tips and footer.</a:t>
            </a:r>
            <a:endParaRPr lang="en-US" sz="1760" dirty="0"/>
          </a:p>
        </p:txBody>
      </p:sp>
      <p:sp>
        <p:nvSpPr>
          <p:cNvPr id="21" name="Shape 19"/>
          <p:cNvSpPr/>
          <p:nvPr/>
        </p:nvSpPr>
        <p:spPr>
          <a:xfrm>
            <a:off x="612648" y="4018788"/>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22" name="Shape 20"/>
          <p:cNvSpPr/>
          <p:nvPr/>
        </p:nvSpPr>
        <p:spPr>
          <a:xfrm>
            <a:off x="795528" y="4174236"/>
            <a:ext cx="594360" cy="642366"/>
          </a:xfrm>
          <a:prstGeom prst="roundRect">
            <a:avLst>
              <a:gd name="adj" fmla="val 21538"/>
            </a:avLst>
          </a:prstGeom>
          <a:solidFill>
            <a:srgbClr val="078A91"/>
          </a:solidFill>
          <a:ln w="12700">
            <a:solidFill>
              <a:srgbClr val="078A91"/>
            </a:solidFill>
            <a:prstDash val="solid"/>
          </a:ln>
        </p:spPr>
        <p:txBody>
          <a:bodyPr/>
          <a:p/>
        </p:txBody>
      </p:sp>
      <p:sp>
        <p:nvSpPr>
          <p:cNvPr id="23" name="Text 21"/>
          <p:cNvSpPr/>
          <p:nvPr/>
        </p:nvSpPr>
        <p:spPr>
          <a:xfrm>
            <a:off x="987552" y="4201668"/>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63624" y="4146804"/>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Inspect</a:t>
            </a:r>
            <a:endParaRPr lang="en-US" sz="1880" dirty="0"/>
          </a:p>
        </p:txBody>
      </p:sp>
      <p:sp>
        <p:nvSpPr>
          <p:cNvPr id="25" name="Text 23"/>
          <p:cNvSpPr/>
          <p:nvPr/>
        </p:nvSpPr>
        <p:spPr>
          <a:xfrm>
            <a:off x="4517136" y="4146804"/>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Look for overset text and missing-image warnings.</a:t>
            </a:r>
            <a:endParaRPr lang="en-US" sz="1760" dirty="0"/>
          </a:p>
        </p:txBody>
      </p:sp>
      <p:sp>
        <p:nvSpPr>
          <p:cNvPr id="26" name="Shape 24"/>
          <p:cNvSpPr/>
          <p:nvPr/>
        </p:nvSpPr>
        <p:spPr>
          <a:xfrm>
            <a:off x="612648" y="5090922"/>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27" name="Shape 25"/>
          <p:cNvSpPr/>
          <p:nvPr/>
        </p:nvSpPr>
        <p:spPr>
          <a:xfrm>
            <a:off x="795528" y="5246370"/>
            <a:ext cx="594360" cy="642366"/>
          </a:xfrm>
          <a:prstGeom prst="roundRect">
            <a:avLst>
              <a:gd name="adj" fmla="val 21538"/>
            </a:avLst>
          </a:prstGeom>
          <a:solidFill>
            <a:srgbClr val="173552"/>
          </a:solidFill>
          <a:ln w="12700">
            <a:solidFill>
              <a:srgbClr val="173552"/>
            </a:solidFill>
            <a:prstDash val="solid"/>
          </a:ln>
        </p:spPr>
        <p:txBody>
          <a:bodyPr/>
          <a:p/>
        </p:txBody>
      </p:sp>
      <p:sp>
        <p:nvSpPr>
          <p:cNvPr id="28" name="Text 26"/>
          <p:cNvSpPr/>
          <p:nvPr/>
        </p:nvSpPr>
        <p:spPr>
          <a:xfrm>
            <a:off x="987552" y="5273802"/>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63624" y="5218938"/>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Record</a:t>
            </a:r>
            <a:endParaRPr lang="en-US" sz="1880" dirty="0"/>
          </a:p>
        </p:txBody>
      </p:sp>
      <p:sp>
        <p:nvSpPr>
          <p:cNvPr id="30" name="Text 28"/>
          <p:cNvSpPr/>
          <p:nvPr/>
        </p:nvSpPr>
        <p:spPr>
          <a:xfrm>
            <a:off x="4517136" y="5218938"/>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Write two improvements in the workbook before editing.</a:t>
            </a:r>
            <a:endParaRPr lang="en-US" sz="17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GUIDED PRACTICAL</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Practical 2: improve the design</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Apply only the changes that improve readability.</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28</a:t>
            </a:r>
            <a:endParaRPr lang="en-US" sz="1000" dirty="0"/>
          </a:p>
        </p:txBody>
      </p:sp>
      <p:sp>
        <p:nvSpPr>
          <p:cNvPr id="11" name="Shape 9"/>
          <p:cNvSpPr/>
          <p:nvPr/>
        </p:nvSpPr>
        <p:spPr>
          <a:xfrm>
            <a:off x="612648" y="1874520"/>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12" name="Shape 10"/>
          <p:cNvSpPr/>
          <p:nvPr/>
        </p:nvSpPr>
        <p:spPr>
          <a:xfrm>
            <a:off x="795528" y="2029968"/>
            <a:ext cx="594360" cy="642366"/>
          </a:xfrm>
          <a:prstGeom prst="roundRect">
            <a:avLst>
              <a:gd name="adj" fmla="val 21538"/>
            </a:avLst>
          </a:prstGeom>
          <a:solidFill>
            <a:srgbClr val="078A91"/>
          </a:solidFill>
          <a:ln w="12700">
            <a:solidFill>
              <a:srgbClr val="078A91"/>
            </a:solidFill>
            <a:prstDash val="solid"/>
          </a:ln>
        </p:spPr>
        <p:txBody>
          <a:bodyPr/>
          <a:p/>
        </p:txBody>
      </p:sp>
      <p:sp>
        <p:nvSpPr>
          <p:cNvPr id="13" name="Text 11"/>
          <p:cNvSpPr/>
          <p:nvPr/>
        </p:nvSpPr>
        <p:spPr>
          <a:xfrm>
            <a:off x="987552" y="2057400"/>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63624" y="2002536"/>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Format</a:t>
            </a:r>
            <a:endParaRPr lang="en-US" sz="1880" dirty="0"/>
          </a:p>
        </p:txBody>
      </p:sp>
      <p:sp>
        <p:nvSpPr>
          <p:cNvPr id="15" name="Text 13"/>
          <p:cNvSpPr/>
          <p:nvPr/>
        </p:nvSpPr>
        <p:spPr>
          <a:xfrm>
            <a:off x="4517136" y="2002536"/>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Use a clear headline and one consistent body text style.</a:t>
            </a:r>
            <a:endParaRPr lang="en-US" sz="1760" dirty="0"/>
          </a:p>
        </p:txBody>
      </p:sp>
      <p:sp>
        <p:nvSpPr>
          <p:cNvPr id="16" name="Shape 14"/>
          <p:cNvSpPr/>
          <p:nvPr/>
        </p:nvSpPr>
        <p:spPr>
          <a:xfrm>
            <a:off x="612648" y="2946654"/>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17" name="Shape 15"/>
          <p:cNvSpPr/>
          <p:nvPr/>
        </p:nvSpPr>
        <p:spPr>
          <a:xfrm>
            <a:off x="795528" y="3102102"/>
            <a:ext cx="594360" cy="642366"/>
          </a:xfrm>
          <a:prstGeom prst="roundRect">
            <a:avLst>
              <a:gd name="adj" fmla="val 21538"/>
            </a:avLst>
          </a:prstGeom>
          <a:solidFill>
            <a:srgbClr val="173552"/>
          </a:solidFill>
          <a:ln w="12700">
            <a:solidFill>
              <a:srgbClr val="173552"/>
            </a:solidFill>
            <a:prstDash val="solid"/>
          </a:ln>
        </p:spPr>
        <p:txBody>
          <a:bodyPr/>
          <a:p/>
        </p:txBody>
      </p:sp>
      <p:sp>
        <p:nvSpPr>
          <p:cNvPr id="18" name="Text 16"/>
          <p:cNvSpPr/>
          <p:nvPr/>
        </p:nvSpPr>
        <p:spPr>
          <a:xfrm>
            <a:off x="987552" y="3129534"/>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63624" y="3074670"/>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Align</a:t>
            </a:r>
            <a:endParaRPr lang="en-US" sz="1880" dirty="0"/>
          </a:p>
        </p:txBody>
      </p:sp>
      <p:sp>
        <p:nvSpPr>
          <p:cNvPr id="20" name="Text 18"/>
          <p:cNvSpPr/>
          <p:nvPr/>
        </p:nvSpPr>
        <p:spPr>
          <a:xfrm>
            <a:off x="4517136" y="3074670"/>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Position related frames on common edges.</a:t>
            </a:r>
            <a:endParaRPr lang="en-US" sz="1760" dirty="0"/>
          </a:p>
        </p:txBody>
      </p:sp>
      <p:sp>
        <p:nvSpPr>
          <p:cNvPr id="21" name="Shape 19"/>
          <p:cNvSpPr/>
          <p:nvPr/>
        </p:nvSpPr>
        <p:spPr>
          <a:xfrm>
            <a:off x="612648" y="4018788"/>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22" name="Shape 20"/>
          <p:cNvSpPr/>
          <p:nvPr/>
        </p:nvSpPr>
        <p:spPr>
          <a:xfrm>
            <a:off x="795528" y="4174236"/>
            <a:ext cx="594360" cy="642366"/>
          </a:xfrm>
          <a:prstGeom prst="roundRect">
            <a:avLst>
              <a:gd name="adj" fmla="val 21538"/>
            </a:avLst>
          </a:prstGeom>
          <a:solidFill>
            <a:srgbClr val="078A91"/>
          </a:solidFill>
          <a:ln w="12700">
            <a:solidFill>
              <a:srgbClr val="078A91"/>
            </a:solidFill>
            <a:prstDash val="solid"/>
          </a:ln>
        </p:spPr>
        <p:txBody>
          <a:bodyPr/>
          <a:p/>
        </p:txBody>
      </p:sp>
      <p:sp>
        <p:nvSpPr>
          <p:cNvPr id="23" name="Text 21"/>
          <p:cNvSpPr/>
          <p:nvPr/>
        </p:nvSpPr>
        <p:spPr>
          <a:xfrm>
            <a:off x="987552" y="4201668"/>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63624" y="4146804"/>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Space</a:t>
            </a:r>
            <a:endParaRPr lang="en-US" sz="1880" dirty="0"/>
          </a:p>
        </p:txBody>
      </p:sp>
      <p:sp>
        <p:nvSpPr>
          <p:cNvPr id="25" name="Text 23"/>
          <p:cNvSpPr/>
          <p:nvPr/>
        </p:nvSpPr>
        <p:spPr>
          <a:xfrm>
            <a:off x="4517136" y="4146804"/>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Leave breathing room between image, tips and footer.</a:t>
            </a:r>
            <a:endParaRPr lang="en-US" sz="1760" dirty="0"/>
          </a:p>
        </p:txBody>
      </p:sp>
      <p:sp>
        <p:nvSpPr>
          <p:cNvPr id="26" name="Shape 24"/>
          <p:cNvSpPr/>
          <p:nvPr/>
        </p:nvSpPr>
        <p:spPr>
          <a:xfrm>
            <a:off x="612648" y="5090922"/>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27" name="Shape 25"/>
          <p:cNvSpPr/>
          <p:nvPr/>
        </p:nvSpPr>
        <p:spPr>
          <a:xfrm>
            <a:off x="795528" y="5246370"/>
            <a:ext cx="594360" cy="642366"/>
          </a:xfrm>
          <a:prstGeom prst="roundRect">
            <a:avLst>
              <a:gd name="adj" fmla="val 21538"/>
            </a:avLst>
          </a:prstGeom>
          <a:solidFill>
            <a:srgbClr val="173552"/>
          </a:solidFill>
          <a:ln w="12700">
            <a:solidFill>
              <a:srgbClr val="173552"/>
            </a:solidFill>
            <a:prstDash val="solid"/>
          </a:ln>
        </p:spPr>
        <p:txBody>
          <a:bodyPr/>
          <a:p/>
        </p:txBody>
      </p:sp>
      <p:sp>
        <p:nvSpPr>
          <p:cNvPr id="28" name="Text 26"/>
          <p:cNvSpPr/>
          <p:nvPr/>
        </p:nvSpPr>
        <p:spPr>
          <a:xfrm>
            <a:off x="987552" y="5273802"/>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63624" y="5218938"/>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Correct</a:t>
            </a:r>
            <a:endParaRPr lang="en-US" sz="1880" dirty="0"/>
          </a:p>
        </p:txBody>
      </p:sp>
      <p:sp>
        <p:nvSpPr>
          <p:cNvPr id="30" name="Text 28"/>
          <p:cNvSpPr/>
          <p:nvPr/>
        </p:nvSpPr>
        <p:spPr>
          <a:xfrm>
            <a:off x="4517136" y="5218938"/>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Keep images proportional; fix hidden text and links.</a:t>
            </a:r>
            <a:endParaRPr lang="en-US" sz="17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GUIDED PRACTICAL</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Practical 3: save and export</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Do not lose the editable project.</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29</a:t>
            </a:r>
            <a:endParaRPr lang="en-US" sz="1000" dirty="0"/>
          </a:p>
        </p:txBody>
      </p:sp>
      <p:sp>
        <p:nvSpPr>
          <p:cNvPr id="11" name="Shape 9"/>
          <p:cNvSpPr/>
          <p:nvPr/>
        </p:nvSpPr>
        <p:spPr>
          <a:xfrm>
            <a:off x="612648" y="1874520"/>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12" name="Shape 10"/>
          <p:cNvSpPr/>
          <p:nvPr/>
        </p:nvSpPr>
        <p:spPr>
          <a:xfrm>
            <a:off x="795528" y="2029968"/>
            <a:ext cx="594360" cy="642366"/>
          </a:xfrm>
          <a:prstGeom prst="roundRect">
            <a:avLst>
              <a:gd name="adj" fmla="val 21538"/>
            </a:avLst>
          </a:prstGeom>
          <a:solidFill>
            <a:srgbClr val="078A91"/>
          </a:solidFill>
          <a:ln w="12700">
            <a:solidFill>
              <a:srgbClr val="078A91"/>
            </a:solidFill>
            <a:prstDash val="solid"/>
          </a:ln>
        </p:spPr>
        <p:txBody>
          <a:bodyPr/>
          <a:p/>
        </p:txBody>
      </p:sp>
      <p:sp>
        <p:nvSpPr>
          <p:cNvPr id="13" name="Text 11"/>
          <p:cNvSpPr/>
          <p:nvPr/>
        </p:nvSpPr>
        <p:spPr>
          <a:xfrm>
            <a:off x="987552" y="2057400"/>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63624" y="2002536"/>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Save source</a:t>
            </a:r>
            <a:endParaRPr lang="en-US" sz="1880" dirty="0"/>
          </a:p>
        </p:txBody>
      </p:sp>
      <p:sp>
        <p:nvSpPr>
          <p:cNvPr id="15" name="Text 13"/>
          <p:cNvSpPr/>
          <p:nvPr/>
        </p:nvSpPr>
        <p:spPr>
          <a:xfrm>
            <a:off x="4517136" y="2002536"/>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Save as Tumaini_Handout_Final.indd.</a:t>
            </a:r>
            <a:endParaRPr lang="en-US" sz="1760" dirty="0"/>
          </a:p>
        </p:txBody>
      </p:sp>
      <p:sp>
        <p:nvSpPr>
          <p:cNvPr id="16" name="Shape 14"/>
          <p:cNvSpPr/>
          <p:nvPr/>
        </p:nvSpPr>
        <p:spPr>
          <a:xfrm>
            <a:off x="612648" y="2946654"/>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17" name="Shape 15"/>
          <p:cNvSpPr/>
          <p:nvPr/>
        </p:nvSpPr>
        <p:spPr>
          <a:xfrm>
            <a:off x="795528" y="3102102"/>
            <a:ext cx="594360" cy="642366"/>
          </a:xfrm>
          <a:prstGeom prst="roundRect">
            <a:avLst>
              <a:gd name="adj" fmla="val 21538"/>
            </a:avLst>
          </a:prstGeom>
          <a:solidFill>
            <a:srgbClr val="173552"/>
          </a:solidFill>
          <a:ln w="12700">
            <a:solidFill>
              <a:srgbClr val="173552"/>
            </a:solidFill>
            <a:prstDash val="solid"/>
          </a:ln>
        </p:spPr>
        <p:txBody>
          <a:bodyPr/>
          <a:p/>
        </p:txBody>
      </p:sp>
      <p:sp>
        <p:nvSpPr>
          <p:cNvPr id="18" name="Text 16"/>
          <p:cNvSpPr/>
          <p:nvPr/>
        </p:nvSpPr>
        <p:spPr>
          <a:xfrm>
            <a:off x="987552" y="3129534"/>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63624" y="3074670"/>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Export PDF</a:t>
            </a:r>
            <a:endParaRPr lang="en-US" sz="1880" dirty="0"/>
          </a:p>
        </p:txBody>
      </p:sp>
      <p:sp>
        <p:nvSpPr>
          <p:cNvPr id="20" name="Text 18"/>
          <p:cNvSpPr/>
          <p:nvPr/>
        </p:nvSpPr>
        <p:spPr>
          <a:xfrm>
            <a:off x="4517136" y="3074670"/>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Export as Tumaini_Handout_Final.pdf.</a:t>
            </a:r>
            <a:endParaRPr lang="en-US" sz="1760" dirty="0"/>
          </a:p>
        </p:txBody>
      </p:sp>
      <p:sp>
        <p:nvSpPr>
          <p:cNvPr id="21" name="Shape 19"/>
          <p:cNvSpPr/>
          <p:nvPr/>
        </p:nvSpPr>
        <p:spPr>
          <a:xfrm>
            <a:off x="612648" y="4018788"/>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22" name="Shape 20"/>
          <p:cNvSpPr/>
          <p:nvPr/>
        </p:nvSpPr>
        <p:spPr>
          <a:xfrm>
            <a:off x="795528" y="4174236"/>
            <a:ext cx="594360" cy="642366"/>
          </a:xfrm>
          <a:prstGeom prst="roundRect">
            <a:avLst>
              <a:gd name="adj" fmla="val 21538"/>
            </a:avLst>
          </a:prstGeom>
          <a:solidFill>
            <a:srgbClr val="078A91"/>
          </a:solidFill>
          <a:ln w="12700">
            <a:solidFill>
              <a:srgbClr val="078A91"/>
            </a:solidFill>
            <a:prstDash val="solid"/>
          </a:ln>
        </p:spPr>
        <p:txBody>
          <a:bodyPr/>
          <a:p/>
        </p:txBody>
      </p:sp>
      <p:sp>
        <p:nvSpPr>
          <p:cNvPr id="23" name="Text 21"/>
          <p:cNvSpPr/>
          <p:nvPr/>
        </p:nvSpPr>
        <p:spPr>
          <a:xfrm>
            <a:off x="987552" y="4201668"/>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63624" y="4146804"/>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Open proof</a:t>
            </a:r>
            <a:endParaRPr lang="en-US" sz="1880" dirty="0"/>
          </a:p>
        </p:txBody>
      </p:sp>
      <p:sp>
        <p:nvSpPr>
          <p:cNvPr id="25" name="Text 23"/>
          <p:cNvSpPr/>
          <p:nvPr/>
        </p:nvSpPr>
        <p:spPr>
          <a:xfrm>
            <a:off x="4517136" y="4146804"/>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Review the exported PDF outside the editing application.</a:t>
            </a:r>
            <a:endParaRPr lang="en-US" sz="1760" dirty="0"/>
          </a:p>
        </p:txBody>
      </p:sp>
      <p:sp>
        <p:nvSpPr>
          <p:cNvPr id="26" name="Shape 24"/>
          <p:cNvSpPr/>
          <p:nvPr/>
        </p:nvSpPr>
        <p:spPr>
          <a:xfrm>
            <a:off x="612648" y="5090922"/>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27" name="Shape 25"/>
          <p:cNvSpPr/>
          <p:nvPr/>
        </p:nvSpPr>
        <p:spPr>
          <a:xfrm>
            <a:off x="795528" y="5246370"/>
            <a:ext cx="594360" cy="642366"/>
          </a:xfrm>
          <a:prstGeom prst="roundRect">
            <a:avLst>
              <a:gd name="adj" fmla="val 21538"/>
            </a:avLst>
          </a:prstGeom>
          <a:solidFill>
            <a:srgbClr val="173552"/>
          </a:solidFill>
          <a:ln w="12700">
            <a:solidFill>
              <a:srgbClr val="173552"/>
            </a:solidFill>
            <a:prstDash val="solid"/>
          </a:ln>
        </p:spPr>
        <p:txBody>
          <a:bodyPr/>
          <a:p/>
        </p:txBody>
      </p:sp>
      <p:sp>
        <p:nvSpPr>
          <p:cNvPr id="28" name="Text 26"/>
          <p:cNvSpPr/>
          <p:nvPr/>
        </p:nvSpPr>
        <p:spPr>
          <a:xfrm>
            <a:off x="987552" y="5273802"/>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63624" y="5218938"/>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Repeat</a:t>
            </a:r>
            <a:endParaRPr lang="en-US" sz="1880" dirty="0"/>
          </a:p>
        </p:txBody>
      </p:sp>
      <p:sp>
        <p:nvSpPr>
          <p:cNvPr id="30" name="Text 28"/>
          <p:cNvSpPr/>
          <p:nvPr/>
        </p:nvSpPr>
        <p:spPr>
          <a:xfrm>
            <a:off x="4517136" y="5218938"/>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If anything is wrong, fix the INDD and export again.</a:t>
            </a:r>
            <a:endParaRPr lang="en-US" sz="176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MODEL OUTPUT</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Model outcome: a finished educational hand-out</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A simple publication can still look professional and communicate clearly.</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30</a:t>
            </a:r>
            <a:endParaRPr lang="en-US" sz="1000" dirty="0"/>
          </a:p>
        </p:txBody>
      </p:sp>
      <p:sp>
        <p:nvSpPr>
          <p:cNvPr id="11" name="Shape 9"/>
          <p:cNvSpPr/>
          <p:nvPr/>
        </p:nvSpPr>
        <p:spPr>
          <a:xfrm>
            <a:off x="521208" y="1865376"/>
            <a:ext cx="6702552" cy="4178808"/>
          </a:xfrm>
          <a:prstGeom prst="roundRect">
            <a:avLst>
              <a:gd name="adj" fmla="val 3063"/>
            </a:avLst>
          </a:prstGeom>
          <a:solidFill>
            <a:srgbClr val="FFFFFF"/>
          </a:solidFill>
          <a:ln w="12700">
            <a:solidFill>
              <a:srgbClr val="D3E3E9"/>
            </a:solidFill>
            <a:prstDash val="solid"/>
          </a:ln>
        </p:spPr>
        <p:txBody>
          <a:bodyPr/>
          <a:p/>
        </p:txBody>
      </p:sp>
      <p:pic>
        <p:nvPicPr>
          <p:cNvPr id="12" name="Image 0" descr="/mnt/data/ITT06105_Condensed_L08_Package/resources/Tumaini_A4_Final_Handout_Visual_Model.png">    </p:cNvPr>
          <p:cNvPicPr>
            <a:picLocks noChangeAspect="1"/>
          </p:cNvPicPr>
          <p:nvPr/>
        </p:nvPicPr>
        <p:blipFill>
          <a:blip r:embed="rId1"/>
          <a:stretch>
            <a:fillRect/>
          </a:stretch>
        </p:blipFill>
        <p:spPr>
          <a:xfrm>
            <a:off x="2476726" y="1984248"/>
            <a:ext cx="2773228" cy="3922776"/>
          </a:xfrm>
          <a:prstGeom prst="rect">
            <a:avLst/>
          </a:prstGeom>
        </p:spPr>
      </p:pic>
      <p:sp>
        <p:nvSpPr>
          <p:cNvPr id="13" name="Shape 10"/>
          <p:cNvSpPr/>
          <p:nvPr/>
        </p:nvSpPr>
        <p:spPr>
          <a:xfrm>
            <a:off x="7370064" y="1865376"/>
            <a:ext cx="4251960" cy="4178808"/>
          </a:xfrm>
          <a:prstGeom prst="roundRect">
            <a:avLst>
              <a:gd name="adj" fmla="val 3063"/>
            </a:avLst>
          </a:prstGeom>
          <a:solidFill>
            <a:srgbClr val="FFFFFF"/>
          </a:solidFill>
          <a:ln w="12700">
            <a:solidFill>
              <a:srgbClr val="D3E3E9"/>
            </a:solidFill>
            <a:prstDash val="solid"/>
          </a:ln>
        </p:spPr>
        <p:txBody>
          <a:bodyPr/>
          <a:p/>
        </p:txBody>
      </p:sp>
      <p:sp>
        <p:nvSpPr>
          <p:cNvPr id="14" name="Shape 11"/>
          <p:cNvSpPr/>
          <p:nvPr/>
        </p:nvSpPr>
        <p:spPr>
          <a:xfrm>
            <a:off x="7370064" y="1865376"/>
            <a:ext cx="82296" cy="4178808"/>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84832"/>
            <a:ext cx="3749040" cy="329184"/>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The quality standard</a:t>
            </a:r>
            <a:endParaRPr lang="en-US" sz="2000" dirty="0"/>
          </a:p>
        </p:txBody>
      </p:sp>
      <p:sp>
        <p:nvSpPr>
          <p:cNvPr id="16" name="Text 13"/>
          <p:cNvSpPr/>
          <p:nvPr/>
        </p:nvSpPr>
        <p:spPr>
          <a:xfrm>
            <a:off x="7598664" y="2624328"/>
            <a:ext cx="3767328" cy="3246120"/>
          </a:xfrm>
          <a:prstGeom prst="rect">
            <a:avLst/>
          </a:prstGeom>
          <a:noFill/>
          <a:ln/>
        </p:spPr>
        <p:txBody>
          <a:bodyPr wrap="square" lIns="0" tIns="0" rIns="0" bIns="0" rtlCol="0" anchor="t">
            <a:normAutofit/>
          </a:bodyPr>
          <a:lstStyle/>
          <a:p>
            <a:pPr indent="0" marL="0">
              <a:buNone/>
            </a:pPr>
            <a:r>
              <a:rPr lang="en-US" sz="1680" dirty="0">
                <a:solidFill>
                  <a:srgbClr val="173552"/>
                </a:solidFill>
                <a:latin typeface="Aptos" pitchFamily="34" charset="0"/>
                <a:ea typeface="Aptos" pitchFamily="34" charset="-122"/>
                <a:cs typeface="Aptos" pitchFamily="34" charset="-120"/>
              </a:rPr>
              <a:t>A readable title, helpful illustration, three complete tips, organised spacing and a consistent footer. This is a model PNG, not a ready-made InDesign project.</a:t>
            </a:r>
            <a:endParaRPr lang="en-US" sz="16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STUDENT PRACTICE</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Publication inspection</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Imagine you are assessing a classmate’s PDF proof.</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31</a:t>
            </a:r>
            <a:endParaRPr lang="en-US" sz="1000" dirty="0"/>
          </a:p>
        </p:txBody>
      </p:sp>
      <p:sp>
        <p:nvSpPr>
          <p:cNvPr id="11" name="Shape 9"/>
          <p:cNvSpPr/>
          <p:nvPr/>
        </p:nvSpPr>
        <p:spPr>
          <a:xfrm>
            <a:off x="685800" y="1865376"/>
            <a:ext cx="10817352" cy="2953512"/>
          </a:xfrm>
          <a:prstGeom prst="roundRect">
            <a:avLst>
              <a:gd name="adj" fmla="val 4334"/>
            </a:avLst>
          </a:prstGeom>
          <a:solidFill>
            <a:srgbClr val="FFFFFF"/>
          </a:solidFill>
          <a:ln w="12700">
            <a:solidFill>
              <a:srgbClr val="D3E3E9"/>
            </a:solidFill>
            <a:prstDash val="solid"/>
          </a:ln>
        </p:spPr>
        <p:txBody>
          <a:bodyPr/>
          <a:p/>
        </p:txBody>
      </p:sp>
      <p:sp>
        <p:nvSpPr>
          <p:cNvPr id="12" name="Text 10"/>
          <p:cNvSpPr/>
          <p:nvPr/>
        </p:nvSpPr>
        <p:spPr>
          <a:xfrm>
            <a:off x="960120" y="2148840"/>
            <a:ext cx="324612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43200"/>
            <a:ext cx="9829800" cy="1572768"/>
          </a:xfrm>
          <a:prstGeom prst="rect">
            <a:avLst/>
          </a:prstGeom>
          <a:noFill/>
          <a:ln/>
        </p:spPr>
        <p:txBody>
          <a:bodyPr wrap="square" lIns="0" tIns="0" rIns="0" bIns="0" rtlCol="0" anchor="t">
            <a:normAutofit/>
          </a:bodyPr>
          <a:lstStyle/>
          <a:p>
            <a:pPr indent="0" marL="0">
              <a:buNone/>
            </a:pPr>
            <a:r>
              <a:rPr lang="en-US" sz="2400" b="1" dirty="0">
                <a:solidFill>
                  <a:srgbClr val="173552"/>
                </a:solidFill>
                <a:latin typeface="Aptos" pitchFamily="34" charset="0"/>
                <a:ea typeface="Aptos" pitchFamily="34" charset="-122"/>
                <a:cs typeface="Aptos" pitchFamily="34" charset="-120"/>
              </a:rPr>
              <a:t>The title is clear, but Tip 3 is cut off and the picture looks stretched. Which two corrections are essential before submission?</a:t>
            </a:r>
            <a:endParaRPr lang="en-US" sz="2400" dirty="0"/>
          </a:p>
        </p:txBody>
      </p:sp>
      <p:sp>
        <p:nvSpPr>
          <p:cNvPr id="14" name="Shape 12"/>
          <p:cNvSpPr/>
          <p:nvPr/>
        </p:nvSpPr>
        <p:spPr>
          <a:xfrm>
            <a:off x="685800" y="5038344"/>
            <a:ext cx="10817352" cy="1014984"/>
          </a:xfrm>
          <a:prstGeom prst="roundRect">
            <a:avLst>
              <a:gd name="adj" fmla="val 12613"/>
            </a:avLst>
          </a:prstGeom>
          <a:solidFill>
            <a:srgbClr val="EAF3F5"/>
          </a:solidFill>
          <a:ln w="12700">
            <a:solidFill>
              <a:srgbClr val="EAF3F5"/>
            </a:solidFill>
            <a:prstDash val="solid"/>
          </a:ln>
        </p:spPr>
        <p:txBody>
          <a:bodyPr/>
          <a:p/>
        </p:txBody>
      </p:sp>
      <p:sp>
        <p:nvSpPr>
          <p:cNvPr id="15" name="Text 13"/>
          <p:cNvSpPr/>
          <p:nvPr/>
        </p:nvSpPr>
        <p:spPr>
          <a:xfrm>
            <a:off x="932688" y="5266944"/>
            <a:ext cx="10058400" cy="594360"/>
          </a:xfrm>
          <a:prstGeom prst="rect">
            <a:avLst/>
          </a:prstGeom>
          <a:noFill/>
          <a:ln/>
        </p:spPr>
        <p:txBody>
          <a:bodyPr wrap="square" lIns="0" tIns="0" rIns="0" bIns="0" rtlCol="0" anchor="ctr">
            <a:normAutofit/>
          </a:bodyPr>
          <a:lstStyle/>
          <a:p>
            <a:pPr indent="0" marL="0">
              <a:buNone/>
            </a:pPr>
            <a:r>
              <a:rPr lang="en-US" sz="1740" dirty="0">
                <a:solidFill>
                  <a:srgbClr val="5F788A"/>
                </a:solidFill>
                <a:latin typeface="Aptos" pitchFamily="34" charset="0"/>
                <a:ea typeface="Aptos" pitchFamily="34" charset="-122"/>
                <a:cs typeface="Aptos" pitchFamily="34" charset="-120"/>
              </a:rPr>
              <a:t>Explain the correction inside the editable document and why a fresh PDF must be checked.</a:t>
            </a:r>
            <a:endParaRPr lang="en-US" sz="174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IMPORTANT DISTINCTION</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Classroom PDF versus commercial print</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Not every class export is a print-ready production file.</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32</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A classroom PDF proof</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For this exercise, an exported one-page A4 PDF is used to check the page and share the learning result. Commercial printing may later require confirmed bleed, colour-profile and other prepress settings. Those decisions belong to Lecture 9.</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Do not invent commercial printer requirements for this classroom hand-out.</a:t>
            </a:r>
            <a:endParaRPr lang="en-US" sz="18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PRACTICAL ALTERNATIVE</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If you have no InDesign access</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The concept can still be practised with paper and prepared examples.</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33</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Paper-based route</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Improve a labelled A4 layout on paper, showing the corrected title, image frame, three tip blocks and footer. Annotate your planned corrections and complete the editable document during an available practical session.</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A paper plan is a useful interim activity, but it does not by itself demonstrate digital export skill.</a:t>
            </a:r>
            <a:endParaRPr lang="en-US" sz="18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SUBMISSION CHECKLIST</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Final self-check</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Complete these checks before handing in your work.</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34</a:t>
            </a:r>
            <a:endParaRPr lang="en-US" sz="1000" dirty="0"/>
          </a:p>
        </p:txBody>
      </p:sp>
      <p:sp>
        <p:nvSpPr>
          <p:cNvPr id="11" name="Shape 9"/>
          <p:cNvSpPr/>
          <p:nvPr/>
        </p:nvSpPr>
        <p:spPr>
          <a:xfrm>
            <a:off x="612648" y="1874520"/>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12" name="Shape 10"/>
          <p:cNvSpPr/>
          <p:nvPr/>
        </p:nvSpPr>
        <p:spPr>
          <a:xfrm>
            <a:off x="795528" y="2029968"/>
            <a:ext cx="594360" cy="642366"/>
          </a:xfrm>
          <a:prstGeom prst="roundRect">
            <a:avLst>
              <a:gd name="adj" fmla="val 21538"/>
            </a:avLst>
          </a:prstGeom>
          <a:solidFill>
            <a:srgbClr val="078A91"/>
          </a:solidFill>
          <a:ln w="12700">
            <a:solidFill>
              <a:srgbClr val="078A91"/>
            </a:solidFill>
            <a:prstDash val="solid"/>
          </a:ln>
        </p:spPr>
        <p:txBody>
          <a:bodyPr/>
          <a:p/>
        </p:txBody>
      </p:sp>
      <p:sp>
        <p:nvSpPr>
          <p:cNvPr id="13" name="Text 11"/>
          <p:cNvSpPr/>
          <p:nvPr/>
        </p:nvSpPr>
        <p:spPr>
          <a:xfrm>
            <a:off x="987552" y="2057400"/>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2"/>
          <p:cNvSpPr/>
          <p:nvPr/>
        </p:nvSpPr>
        <p:spPr>
          <a:xfrm>
            <a:off x="1563624" y="2002536"/>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Words</a:t>
            </a:r>
            <a:endParaRPr lang="en-US" sz="1880" dirty="0"/>
          </a:p>
        </p:txBody>
      </p:sp>
      <p:sp>
        <p:nvSpPr>
          <p:cNvPr id="15" name="Text 13"/>
          <p:cNvSpPr/>
          <p:nvPr/>
        </p:nvSpPr>
        <p:spPr>
          <a:xfrm>
            <a:off x="4517136" y="2002536"/>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All text is correct and visible.</a:t>
            </a:r>
            <a:endParaRPr lang="en-US" sz="1760" dirty="0"/>
          </a:p>
        </p:txBody>
      </p:sp>
      <p:sp>
        <p:nvSpPr>
          <p:cNvPr id="16" name="Shape 14"/>
          <p:cNvSpPr/>
          <p:nvPr/>
        </p:nvSpPr>
        <p:spPr>
          <a:xfrm>
            <a:off x="612648" y="2946654"/>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17" name="Shape 15"/>
          <p:cNvSpPr/>
          <p:nvPr/>
        </p:nvSpPr>
        <p:spPr>
          <a:xfrm>
            <a:off x="795528" y="3102102"/>
            <a:ext cx="594360" cy="642366"/>
          </a:xfrm>
          <a:prstGeom prst="roundRect">
            <a:avLst>
              <a:gd name="adj" fmla="val 21538"/>
            </a:avLst>
          </a:prstGeom>
          <a:solidFill>
            <a:srgbClr val="173552"/>
          </a:solidFill>
          <a:ln w="12700">
            <a:solidFill>
              <a:srgbClr val="173552"/>
            </a:solidFill>
            <a:prstDash val="solid"/>
          </a:ln>
        </p:spPr>
        <p:txBody>
          <a:bodyPr/>
          <a:p/>
        </p:txBody>
      </p:sp>
      <p:sp>
        <p:nvSpPr>
          <p:cNvPr id="18" name="Text 16"/>
          <p:cNvSpPr/>
          <p:nvPr/>
        </p:nvSpPr>
        <p:spPr>
          <a:xfrm>
            <a:off x="987552" y="3129534"/>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9" name="Text 17"/>
          <p:cNvSpPr/>
          <p:nvPr/>
        </p:nvSpPr>
        <p:spPr>
          <a:xfrm>
            <a:off x="1563624" y="3074670"/>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Layout</a:t>
            </a:r>
            <a:endParaRPr lang="en-US" sz="1880" dirty="0"/>
          </a:p>
        </p:txBody>
      </p:sp>
      <p:sp>
        <p:nvSpPr>
          <p:cNvPr id="20" name="Text 18"/>
          <p:cNvSpPr/>
          <p:nvPr/>
        </p:nvSpPr>
        <p:spPr>
          <a:xfrm>
            <a:off x="4517136" y="3074670"/>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Heading, image and tips are aligned and readable.</a:t>
            </a:r>
            <a:endParaRPr lang="en-US" sz="1760" dirty="0"/>
          </a:p>
        </p:txBody>
      </p:sp>
      <p:sp>
        <p:nvSpPr>
          <p:cNvPr id="21" name="Shape 19"/>
          <p:cNvSpPr/>
          <p:nvPr/>
        </p:nvSpPr>
        <p:spPr>
          <a:xfrm>
            <a:off x="612648" y="4018788"/>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22" name="Shape 20"/>
          <p:cNvSpPr/>
          <p:nvPr/>
        </p:nvSpPr>
        <p:spPr>
          <a:xfrm>
            <a:off x="795528" y="4174236"/>
            <a:ext cx="594360" cy="642366"/>
          </a:xfrm>
          <a:prstGeom prst="roundRect">
            <a:avLst>
              <a:gd name="adj" fmla="val 21538"/>
            </a:avLst>
          </a:prstGeom>
          <a:solidFill>
            <a:srgbClr val="078A91"/>
          </a:solidFill>
          <a:ln w="12700">
            <a:solidFill>
              <a:srgbClr val="078A91"/>
            </a:solidFill>
            <a:prstDash val="solid"/>
          </a:ln>
        </p:spPr>
        <p:txBody>
          <a:bodyPr/>
          <a:p/>
        </p:txBody>
      </p:sp>
      <p:sp>
        <p:nvSpPr>
          <p:cNvPr id="23" name="Text 21"/>
          <p:cNvSpPr/>
          <p:nvPr/>
        </p:nvSpPr>
        <p:spPr>
          <a:xfrm>
            <a:off x="987552" y="4201668"/>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4" name="Text 22"/>
          <p:cNvSpPr/>
          <p:nvPr/>
        </p:nvSpPr>
        <p:spPr>
          <a:xfrm>
            <a:off x="1563624" y="4146804"/>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Assets</a:t>
            </a:r>
            <a:endParaRPr lang="en-US" sz="1880" dirty="0"/>
          </a:p>
        </p:txBody>
      </p:sp>
      <p:sp>
        <p:nvSpPr>
          <p:cNvPr id="25" name="Text 23"/>
          <p:cNvSpPr/>
          <p:nvPr/>
        </p:nvSpPr>
        <p:spPr>
          <a:xfrm>
            <a:off x="4517136" y="4146804"/>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No distorted picture or unresolved missing link.</a:t>
            </a:r>
            <a:endParaRPr lang="en-US" sz="1760" dirty="0"/>
          </a:p>
        </p:txBody>
      </p:sp>
      <p:sp>
        <p:nvSpPr>
          <p:cNvPr id="26" name="Shape 24"/>
          <p:cNvSpPr/>
          <p:nvPr/>
        </p:nvSpPr>
        <p:spPr>
          <a:xfrm>
            <a:off x="612648" y="5090922"/>
            <a:ext cx="10972800" cy="953262"/>
          </a:xfrm>
          <a:prstGeom prst="roundRect">
            <a:avLst>
              <a:gd name="adj" fmla="val 13429"/>
            </a:avLst>
          </a:prstGeom>
          <a:solidFill>
            <a:srgbClr val="FFFFFF"/>
          </a:solidFill>
          <a:ln w="12700">
            <a:solidFill>
              <a:srgbClr val="D3E3E9"/>
            </a:solidFill>
            <a:prstDash val="solid"/>
          </a:ln>
        </p:spPr>
        <p:txBody>
          <a:bodyPr/>
          <a:p/>
        </p:txBody>
      </p:sp>
      <p:sp>
        <p:nvSpPr>
          <p:cNvPr id="27" name="Shape 25"/>
          <p:cNvSpPr/>
          <p:nvPr/>
        </p:nvSpPr>
        <p:spPr>
          <a:xfrm>
            <a:off x="795528" y="5246370"/>
            <a:ext cx="594360" cy="642366"/>
          </a:xfrm>
          <a:prstGeom prst="roundRect">
            <a:avLst>
              <a:gd name="adj" fmla="val 21538"/>
            </a:avLst>
          </a:prstGeom>
          <a:solidFill>
            <a:srgbClr val="173552"/>
          </a:solidFill>
          <a:ln w="12700">
            <a:solidFill>
              <a:srgbClr val="173552"/>
            </a:solidFill>
            <a:prstDash val="solid"/>
          </a:ln>
        </p:spPr>
        <p:txBody>
          <a:bodyPr/>
          <a:p/>
        </p:txBody>
      </p:sp>
      <p:sp>
        <p:nvSpPr>
          <p:cNvPr id="28" name="Text 26"/>
          <p:cNvSpPr/>
          <p:nvPr/>
        </p:nvSpPr>
        <p:spPr>
          <a:xfrm>
            <a:off x="987552" y="5273802"/>
            <a:ext cx="182880" cy="59664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9" name="Text 27"/>
          <p:cNvSpPr/>
          <p:nvPr/>
        </p:nvSpPr>
        <p:spPr>
          <a:xfrm>
            <a:off x="1563624" y="5218938"/>
            <a:ext cx="2862072" cy="706374"/>
          </a:xfrm>
          <a:prstGeom prst="rect">
            <a:avLst/>
          </a:prstGeom>
          <a:noFill/>
          <a:ln/>
        </p:spPr>
        <p:txBody>
          <a:bodyPr wrap="square" lIns="0" tIns="0" rIns="0" bIns="0" rtlCol="0" anchor="ctr">
            <a:normAutofit/>
          </a:bodyPr>
          <a:lstStyle/>
          <a:p>
            <a:pPr indent="0" marL="0">
              <a:buNone/>
            </a:pPr>
            <a:r>
              <a:rPr lang="en-US" sz="1880" b="1" dirty="0">
                <a:solidFill>
                  <a:srgbClr val="173552"/>
                </a:solidFill>
                <a:latin typeface="Aptos" pitchFamily="34" charset="0"/>
                <a:ea typeface="Aptos" pitchFamily="34" charset="-122"/>
                <a:cs typeface="Aptos" pitchFamily="34" charset="-120"/>
              </a:rPr>
              <a:t>Output</a:t>
            </a:r>
            <a:endParaRPr lang="en-US" sz="1880" dirty="0"/>
          </a:p>
        </p:txBody>
      </p:sp>
      <p:sp>
        <p:nvSpPr>
          <p:cNvPr id="30" name="Text 28"/>
          <p:cNvSpPr/>
          <p:nvPr/>
        </p:nvSpPr>
        <p:spPr>
          <a:xfrm>
            <a:off x="4517136" y="5218938"/>
            <a:ext cx="6592824" cy="706374"/>
          </a:xfrm>
          <a:prstGeom prst="rect">
            <a:avLst/>
          </a:prstGeom>
          <a:noFill/>
          <a:ln/>
        </p:spPr>
        <p:txBody>
          <a:bodyPr wrap="square" lIns="0" tIns="0" rIns="0" bIns="0" rtlCol="0" anchor="ctr">
            <a:normAutofit/>
          </a:bodyPr>
          <a:lstStyle/>
          <a:p>
            <a:pPr indent="0" marL="0">
              <a:buNone/>
            </a:pPr>
            <a:r>
              <a:rPr lang="en-US" sz="1760" dirty="0">
                <a:solidFill>
                  <a:srgbClr val="173552"/>
                </a:solidFill>
                <a:latin typeface="Aptos" pitchFamily="34" charset="0"/>
                <a:ea typeface="Aptos" pitchFamily="34" charset="-122"/>
                <a:cs typeface="Aptos" pitchFamily="34" charset="-120"/>
              </a:rPr>
              <a:t>INDD and PDF are saved, and the PDF has been opened.</a:t>
            </a:r>
            <a:endParaRPr lang="en-US" sz="176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STUDENT PRACTICE</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Short review question</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Connect the technical and communication sides of DTP.</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35</a:t>
            </a:r>
            <a:endParaRPr lang="en-US" sz="1000" dirty="0"/>
          </a:p>
        </p:txBody>
      </p:sp>
      <p:sp>
        <p:nvSpPr>
          <p:cNvPr id="11" name="Shape 9"/>
          <p:cNvSpPr/>
          <p:nvPr/>
        </p:nvSpPr>
        <p:spPr>
          <a:xfrm>
            <a:off x="685800" y="1865376"/>
            <a:ext cx="10817352" cy="2953512"/>
          </a:xfrm>
          <a:prstGeom prst="roundRect">
            <a:avLst>
              <a:gd name="adj" fmla="val 4334"/>
            </a:avLst>
          </a:prstGeom>
          <a:solidFill>
            <a:srgbClr val="FFFFFF"/>
          </a:solidFill>
          <a:ln w="12700">
            <a:solidFill>
              <a:srgbClr val="D3E3E9"/>
            </a:solidFill>
            <a:prstDash val="solid"/>
          </a:ln>
        </p:spPr>
        <p:txBody>
          <a:bodyPr/>
          <a:p/>
        </p:txBody>
      </p:sp>
      <p:sp>
        <p:nvSpPr>
          <p:cNvPr id="12" name="Text 10"/>
          <p:cNvSpPr/>
          <p:nvPr/>
        </p:nvSpPr>
        <p:spPr>
          <a:xfrm>
            <a:off x="960120" y="2148840"/>
            <a:ext cx="324612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43200"/>
            <a:ext cx="9829800" cy="1572768"/>
          </a:xfrm>
          <a:prstGeom prst="rect">
            <a:avLst/>
          </a:prstGeom>
          <a:noFill/>
          <a:ln/>
        </p:spPr>
        <p:txBody>
          <a:bodyPr wrap="square" lIns="0" tIns="0" rIns="0" bIns="0" rtlCol="0" anchor="t">
            <a:normAutofit/>
          </a:bodyPr>
          <a:lstStyle/>
          <a:p>
            <a:pPr indent="0" marL="0">
              <a:buNone/>
            </a:pPr>
            <a:r>
              <a:rPr lang="en-US" sz="2400" b="1" dirty="0">
                <a:solidFill>
                  <a:srgbClr val="173552"/>
                </a:solidFill>
                <a:latin typeface="Aptos" pitchFamily="34" charset="0"/>
                <a:ea typeface="Aptos" pitchFamily="34" charset="-122"/>
                <a:cs typeface="Aptos" pitchFamily="34" charset="-120"/>
              </a:rPr>
              <a:t>Why might a hand-out look attractive on the editing screen but still be unsuitable for distribution?</a:t>
            </a:r>
            <a:endParaRPr lang="en-US" sz="2400" dirty="0"/>
          </a:p>
        </p:txBody>
      </p:sp>
      <p:sp>
        <p:nvSpPr>
          <p:cNvPr id="14" name="Shape 12"/>
          <p:cNvSpPr/>
          <p:nvPr/>
        </p:nvSpPr>
        <p:spPr>
          <a:xfrm>
            <a:off x="685800" y="5038344"/>
            <a:ext cx="10817352" cy="1014984"/>
          </a:xfrm>
          <a:prstGeom prst="roundRect">
            <a:avLst>
              <a:gd name="adj" fmla="val 12613"/>
            </a:avLst>
          </a:prstGeom>
          <a:solidFill>
            <a:srgbClr val="EAF3F5"/>
          </a:solidFill>
          <a:ln w="12700">
            <a:solidFill>
              <a:srgbClr val="EAF3F5"/>
            </a:solidFill>
            <a:prstDash val="solid"/>
          </a:ln>
        </p:spPr>
        <p:txBody>
          <a:bodyPr/>
          <a:p/>
        </p:txBody>
      </p:sp>
      <p:sp>
        <p:nvSpPr>
          <p:cNvPr id="15" name="Text 13"/>
          <p:cNvSpPr/>
          <p:nvPr/>
        </p:nvSpPr>
        <p:spPr>
          <a:xfrm>
            <a:off x="932688" y="5266944"/>
            <a:ext cx="10058400" cy="594360"/>
          </a:xfrm>
          <a:prstGeom prst="rect">
            <a:avLst/>
          </a:prstGeom>
          <a:noFill/>
          <a:ln/>
        </p:spPr>
        <p:txBody>
          <a:bodyPr wrap="square" lIns="0" tIns="0" rIns="0" bIns="0" rtlCol="0" anchor="ctr">
            <a:normAutofit/>
          </a:bodyPr>
          <a:lstStyle/>
          <a:p>
            <a:pPr indent="0" marL="0">
              <a:buNone/>
            </a:pPr>
            <a:r>
              <a:rPr lang="en-US" sz="1740" dirty="0">
                <a:solidFill>
                  <a:srgbClr val="5F788A"/>
                </a:solidFill>
                <a:latin typeface="Aptos" pitchFamily="34" charset="0"/>
                <a:ea typeface="Aptos" pitchFamily="34" charset="-122"/>
                <a:cs typeface="Aptos" pitchFamily="34" charset="-120"/>
              </a:rPr>
              <a:t>Think about hidden text, spelling, inaccurate wording, image links and unchecked export.</a:t>
            </a:r>
            <a:endParaRPr lang="en-US" sz="174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LECTURE RECAP</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Key ideas to remember</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Good publishing work is checked, not just created.</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36</a:t>
            </a:r>
            <a:endParaRPr lang="en-US" sz="1000" dirty="0"/>
          </a:p>
        </p:txBody>
      </p:sp>
      <p:sp>
        <p:nvSpPr>
          <p:cNvPr id="11" name="Shape 9"/>
          <p:cNvSpPr/>
          <p:nvPr/>
        </p:nvSpPr>
        <p:spPr>
          <a:xfrm>
            <a:off x="594360" y="1856232"/>
            <a:ext cx="10972800" cy="2377440"/>
          </a:xfrm>
          <a:prstGeom prst="roundRect">
            <a:avLst>
              <a:gd name="adj" fmla="val 5385"/>
            </a:avLst>
          </a:prstGeom>
          <a:solidFill>
            <a:srgbClr val="FFFFFF"/>
          </a:solidFill>
          <a:ln w="12700">
            <a:solidFill>
              <a:srgbClr val="D3E3E9"/>
            </a:solidFill>
            <a:prstDash val="solid"/>
          </a:ln>
        </p:spPr>
        <p:txBody>
          <a:bodyPr/>
          <a:p/>
        </p:txBody>
      </p:sp>
      <p:sp>
        <p:nvSpPr>
          <p:cNvPr id="12" name="Text 10"/>
          <p:cNvSpPr/>
          <p:nvPr/>
        </p:nvSpPr>
        <p:spPr>
          <a:xfrm>
            <a:off x="905256" y="2121408"/>
            <a:ext cx="10241280" cy="347472"/>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The five essentials</a:t>
            </a:r>
            <a:endParaRPr lang="en-US" sz="2200" dirty="0"/>
          </a:p>
        </p:txBody>
      </p:sp>
      <p:sp>
        <p:nvSpPr>
          <p:cNvPr id="13" name="Text 11"/>
          <p:cNvSpPr/>
          <p:nvPr/>
        </p:nvSpPr>
        <p:spPr>
          <a:xfrm>
            <a:off x="896112" y="2706624"/>
            <a:ext cx="10168128" cy="1234440"/>
          </a:xfrm>
          <a:prstGeom prst="rect">
            <a:avLst/>
          </a:prstGeom>
          <a:noFill/>
          <a:ln/>
        </p:spPr>
        <p:txBody>
          <a:bodyPr wrap="square" lIns="0" tIns="0" rIns="0" bIns="0" rtlCol="0" anchor="t">
            <a:normAutofit/>
          </a:bodyPr>
          <a:lstStyle/>
          <a:p>
            <a:pPr indent="0" marL="0">
              <a:buNone/>
            </a:pPr>
            <a:r>
              <a:rPr lang="en-US" sz="1920" dirty="0">
                <a:solidFill>
                  <a:srgbClr val="173552"/>
                </a:solidFill>
                <a:latin typeface="Aptos" pitchFamily="34" charset="0"/>
                <a:ea typeface="Aptos" pitchFamily="34" charset="-122"/>
                <a:cs typeface="Aptos" pitchFamily="34" charset="-120"/>
              </a:rPr>
              <a:t>Revise the wording. Establish a clear reading order. Keep margins, alignment and spacing consistent. Correct hidden text and image problems. Save the editable project and inspect a freshly exported PDF.</a:t>
            </a:r>
            <a:endParaRPr lang="en-US" sz="1920" dirty="0"/>
          </a:p>
        </p:txBody>
      </p:sp>
      <p:sp>
        <p:nvSpPr>
          <p:cNvPr id="14" name="Shape 12"/>
          <p:cNvSpPr/>
          <p:nvPr/>
        </p:nvSpPr>
        <p:spPr>
          <a:xfrm>
            <a:off x="594360" y="4462272"/>
            <a:ext cx="10972800" cy="1417320"/>
          </a:xfrm>
          <a:prstGeom prst="roundRect">
            <a:avLst>
              <a:gd name="adj" fmla="val 9032"/>
            </a:avLst>
          </a:prstGeom>
          <a:solidFill>
            <a:srgbClr val="EAF3F5"/>
          </a:solidFill>
          <a:ln w="12700">
            <a:solidFill>
              <a:srgbClr val="EAF3F5"/>
            </a:solidFill>
            <a:prstDash val="solid"/>
          </a:ln>
        </p:spPr>
        <p:txBody>
          <a:bodyPr/>
          <a:p/>
        </p:txBody>
      </p:sp>
      <p:sp>
        <p:nvSpPr>
          <p:cNvPr id="15" name="Text 13"/>
          <p:cNvSpPr/>
          <p:nvPr/>
        </p:nvSpPr>
        <p:spPr>
          <a:xfrm>
            <a:off x="905256" y="4736592"/>
            <a:ext cx="10351008" cy="813816"/>
          </a:xfrm>
          <a:prstGeom prst="rect">
            <a:avLst/>
          </a:prstGeom>
          <a:noFill/>
          <a:ln/>
        </p:spPr>
        <p:txBody>
          <a:bodyPr wrap="square" lIns="0" tIns="0" rIns="0" bIns="0" rtlCol="0" anchor="ctr">
            <a:normAutofit/>
          </a:bodyPr>
          <a:lstStyle/>
          <a:p>
            <a:pPr indent="0" marL="0">
              <a:buNone/>
            </a:pPr>
            <a:r>
              <a:rPr lang="en-US" sz="1880" dirty="0">
                <a:solidFill>
                  <a:srgbClr val="173552"/>
                </a:solidFill>
                <a:latin typeface="Aptos" pitchFamily="34" charset="0"/>
                <a:ea typeface="Aptos" pitchFamily="34" charset="-122"/>
                <a:cs typeface="Aptos" pitchFamily="34" charset="-120"/>
              </a:rPr>
              <a:t>Our next lecture will introduce printing choices, resolution and practical print-quality checks.</a:t>
            </a:r>
            <a:endParaRPr lang="en-US" sz="18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prstGeom>
          <a:solidFill>
            <a:srgbClr val="078A91"/>
          </a:solidFill>
          <a:ln w="12700">
            <a:solidFill>
              <a:srgbClr val="078A91"/>
            </a:solidFill>
            <a:prstDash val="solid"/>
          </a:ln>
        </p:spPr>
        <p:txBody>
          <a:bodyPr/>
          <a:p/>
        </p:txBody>
      </p:sp>
      <p:sp>
        <p:nvSpPr>
          <p:cNvPr id="3" name="Text 1"/>
          <p:cNvSpPr/>
          <p:nvPr/>
        </p:nvSpPr>
        <p:spPr>
          <a:xfrm>
            <a:off x="475488" y="283464"/>
            <a:ext cx="6400800" cy="192024"/>
          </a:xfrm>
          <a:prstGeom prst="rect">
            <a:avLst/>
          </a:prstGeom>
          <a:noFill/>
          <a:ln/>
        </p:spPr>
        <p:txBody>
          <a:bodyPr wrap="square" lIns="0" tIns="0" rIns="0" bIns="0" rtlCol="0" anchor="ctr">
            <a:normAutofit/>
          </a:bodyPr>
          <a:lstStyle/>
          <a:p>
            <a:pPr indent="0" marL="0">
              <a:buNone/>
            </a:pPr>
            <a:r>
              <a:rPr lang="en-US" sz="1050" b="1" dirty="0">
                <a:solidFill>
                  <a:srgbClr val="5F78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345168" y="173736"/>
            <a:ext cx="2450592" cy="356616"/>
          </a:xfrm>
          <a:prstGeom prst="roundRect">
            <a:avLst>
              <a:gd name="adj" fmla="val 35897"/>
            </a:avLst>
          </a:prstGeom>
          <a:solidFill>
            <a:srgbClr val="EAF3F5"/>
          </a:solidFill>
          <a:ln w="12700">
            <a:solidFill>
              <a:srgbClr val="EAF3F5"/>
            </a:solidFill>
            <a:prstDash val="solid"/>
          </a:ln>
        </p:spPr>
        <p:txBody>
          <a:bodyPr/>
          <a:p/>
        </p:txBody>
      </p:sp>
      <p:sp>
        <p:nvSpPr>
          <p:cNvPr id="5" name="Text 3"/>
          <p:cNvSpPr/>
          <p:nvPr/>
        </p:nvSpPr>
        <p:spPr>
          <a:xfrm>
            <a:off x="9509760" y="242316"/>
            <a:ext cx="2130552" cy="155448"/>
          </a:xfrm>
          <a:prstGeom prst="rect">
            <a:avLst/>
          </a:prstGeom>
          <a:noFill/>
          <a:ln/>
        </p:spPr>
        <p:txBody>
          <a:bodyPr wrap="square" lIns="0" tIns="0" rIns="0" bIns="0" rtlCol="0" anchor="ctr">
            <a:normAutofit/>
          </a:bodyPr>
          <a:lstStyle/>
          <a:p>
            <a:pPr algn="ctr" indent="0" marL="0">
              <a:buNone/>
            </a:pPr>
            <a:r>
              <a:rPr lang="en-US" sz="940" b="1" dirty="0">
                <a:solidFill>
                  <a:srgbClr val="078A91"/>
                </a:solidFill>
                <a:latin typeface="Aptos" pitchFamily="34" charset="0"/>
                <a:ea typeface="Aptos" pitchFamily="34" charset="-122"/>
                <a:cs typeface="Aptos" pitchFamily="34" charset="-120"/>
              </a:rPr>
              <a:t>After proofing a PDF, choose appropriate printing settings and check the output.</a:t>
            </a:r>
            <a:endParaRPr lang="en-US" sz="940" dirty="0"/>
          </a:p>
        </p:txBody>
      </p:sp>
      <p:sp>
        <p:nvSpPr>
          <p:cNvPr id="6" name="Text 4"/>
          <p:cNvSpPr/>
          <p:nvPr/>
        </p:nvSpPr>
        <p:spPr>
          <a:xfrm>
            <a:off x="530352" y="777240"/>
            <a:ext cx="11128248" cy="521208"/>
          </a:xfrm>
          <a:prstGeom prst="rect">
            <a:avLst/>
          </a:prstGeom>
          <a:noFill/>
          <a:ln/>
        </p:spPr>
        <p:txBody>
          <a:bodyPr wrap="square" lIns="0" tIns="0" rIns="0" bIns="0" rtlCol="0" anchor="ctr">
            <a:normAutofit/>
          </a:bodyPr>
          <a:lstStyle/>
          <a:p>
            <a:pPr indent="0" marL="0">
              <a:buNone/>
            </a:pPr>
            <a:r>
              <a:rPr lang="en-US" sz="2900" b="1" dirty="0">
                <a:solidFill>
                  <a:srgbClr val="173552"/>
                </a:solidFill>
                <a:latin typeface="Aptos" pitchFamily="34" charset="0"/>
                <a:ea typeface="Aptos" pitchFamily="34" charset="-122"/>
                <a:cs typeface="Aptos" pitchFamily="34" charset="-120"/>
              </a:rPr>
              <a:t>Next: printing and production quality</a:t>
            </a:r>
            <a:endParaRPr lang="en-US" sz="2900" dirty="0"/>
          </a:p>
        </p:txBody>
      </p:sp>
      <p:sp>
        <p:nvSpPr>
          <p:cNvPr id="7" name="Text 5"/>
          <p:cNvSpPr/>
          <p:nvPr/>
        </p:nvSpPr>
        <p:spPr>
          <a:xfrm>
            <a:off x="539496" y="1344168"/>
            <a:ext cx="10972800" cy="411480"/>
          </a:xfrm>
          <a:prstGeom prst="rect">
            <a:avLst/>
          </a:prstGeom>
          <a:noFill/>
          <a:ln/>
        </p:spPr>
        <p:txBody>
          <a:bodyPr wrap="square" lIns="0" tIns="0" rIns="0" bIns="0" rtlCol="0" anchor="ctr">
            <a:normAutofit/>
          </a:bodyPr>
          <a:lstStyle/>
          <a:p>
            <a:pPr indent="0" marL="0">
              <a:buNone/>
            </a:pPr>
            <a:r>
              <a:rPr lang="en-US" sz="1700" dirty="0">
                <a:solidFill>
                  <a:srgbClr val="5F788A"/>
                </a:solidFill>
                <a:latin typeface="Aptos" pitchFamily="34" charset="0"/>
                <a:ea typeface="Aptos" pitchFamily="34" charset="-122"/>
                <a:cs typeface="Aptos" pitchFamily="34" charset="-120"/>
              </a:rPr>
              <a:t>NEXT LESSON</a:t>
            </a:r>
            <a:endParaRPr lang="en-US" sz="1700" dirty="0"/>
          </a:p>
        </p:txBody>
      </p:sp>
      <p:sp>
        <p:nvSpPr>
          <p:cNvPr id="8" name="Shape 6"/>
          <p:cNvSpPr/>
          <p:nvPr/>
        </p:nvSpPr>
        <p:spPr>
          <a:xfrm>
            <a:off x="502920" y="6547104"/>
            <a:ext cx="11201400" cy="0"/>
          </a:xfrm>
          <a:prstGeom prst="line">
            <a:avLst/>
          </a:prstGeom>
          <a:noFill/>
          <a:ln w="12700">
            <a:solidFill>
              <a:srgbClr val="D3E3E9"/>
            </a:solidFill>
            <a:prstDash val="solid"/>
          </a:ln>
        </p:spPr>
        <p:txBody>
          <a:bodyPr/>
          <a:p/>
        </p:txBody>
      </p:sp>
      <p:sp>
        <p:nvSpPr>
          <p:cNvPr id="9" name="Text 7"/>
          <p:cNvSpPr/>
          <p:nvPr/>
        </p:nvSpPr>
        <p:spPr>
          <a:xfrm>
            <a:off x="502920" y="6592824"/>
            <a:ext cx="8915400" cy="155448"/>
          </a:xfrm>
          <a:prstGeom prst="rect">
            <a:avLst/>
          </a:prstGeom>
          <a:noFill/>
          <a:ln/>
        </p:spPr>
        <p:txBody>
          <a:bodyPr wrap="square" lIns="0" tIns="0" rIns="0" bIns="0" rtlCol="0" anchor="ctr">
            <a:normAutofit/>
          </a:bodyPr>
          <a:lstStyle/>
          <a:p>
            <a:pPr indent="0" marL="0">
              <a:buNone/>
            </a:pPr>
            <a:r>
              <a:rPr lang="en-US" sz="860" b="1" dirty="0">
                <a:solidFill>
                  <a:srgbClr val="5F788A"/>
                </a:solidFill>
                <a:latin typeface="Aptos" pitchFamily="34" charset="0"/>
                <a:ea typeface="Aptos" pitchFamily="34" charset="-122"/>
                <a:cs typeface="Aptos" pitchFamily="34" charset="-120"/>
              </a:rPr>
              <a:t>DESKTOP PUBLISHING  •  FINALISING A PUBLICATION  •  2026/2027</a:t>
            </a:r>
            <a:endParaRPr lang="en-US" sz="860" dirty="0"/>
          </a:p>
        </p:txBody>
      </p:sp>
      <p:sp>
        <p:nvSpPr>
          <p:cNvPr id="10" name="Text 8"/>
          <p:cNvSpPr/>
          <p:nvPr/>
        </p:nvSpPr>
        <p:spPr>
          <a:xfrm>
            <a:off x="11237976" y="6583680"/>
            <a:ext cx="438912" cy="155448"/>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37</a:t>
            </a:r>
            <a:endParaRPr lang="en-US" sz="1000" dirty="0"/>
          </a:p>
        </p:txBody>
      </p:sp>
      <p:sp>
        <p:nvSpPr>
          <p:cNvPr id="11" name="Shape 9"/>
          <p:cNvSpPr/>
          <p:nvPr/>
        </p:nvSpPr>
        <p:spPr>
          <a:xfrm>
            <a:off x="822960" y="2039112"/>
            <a:ext cx="10515600" cy="3410712"/>
          </a:xfrm>
          <a:prstGeom prst="roundRect">
            <a:avLst>
              <a:gd name="adj" fmla="val 3753"/>
            </a:avLst>
          </a:prstGeom>
          <a:solidFill>
            <a:srgbClr val="FFFFFF"/>
          </a:solidFill>
          <a:ln w="12700">
            <a:solidFill>
              <a:srgbClr val="D3E3E9"/>
            </a:solidFill>
            <a:prstDash val="solid"/>
          </a:ln>
        </p:spPr>
        <p:txBody>
          <a:bodyPr/>
          <a:p/>
        </p:txBody>
      </p:sp>
      <p:sp>
        <p:nvSpPr>
          <p:cNvPr id="12" name="Text 10"/>
          <p:cNvSpPr/>
          <p:nvPr/>
        </p:nvSpPr>
        <p:spPr>
          <a:xfrm>
            <a:off x="1097280" y="2395728"/>
            <a:ext cx="4572000" cy="365760"/>
          </a:xfrm>
          <a:prstGeom prst="rect">
            <a:avLst/>
          </a:prstGeom>
          <a:noFill/>
          <a:ln/>
        </p:spPr>
        <p:txBody>
          <a:bodyPr wrap="square" lIns="0" tIns="0" rIns="0" bIns="0" rtlCol="0" anchor="ctr">
            <a:normAutofit/>
          </a:bodyPr>
          <a:lstStyle/>
          <a:p>
            <a:pPr indent="0" marL="0">
              <a:buNone/>
            </a:pPr>
            <a:r>
              <a:rPr lang="en-US" sz="2000" b="1" dirty="0">
                <a:solidFill>
                  <a:srgbClr val="078A91"/>
                </a:solidFill>
                <a:latin typeface="Aptos" pitchFamily="34" charset="0"/>
                <a:ea typeface="Aptos" pitchFamily="34" charset="-122"/>
                <a:cs typeface="Aptos" pitchFamily="34" charset="-120"/>
              </a:rPr>
              <a:t>COMING NEXT</a:t>
            </a:r>
            <a:endParaRPr lang="en-US" sz="2000" dirty="0"/>
          </a:p>
        </p:txBody>
      </p:sp>
      <p:sp>
        <p:nvSpPr>
          <p:cNvPr id="13" name="Text 11"/>
          <p:cNvSpPr/>
          <p:nvPr/>
        </p:nvSpPr>
        <p:spPr>
          <a:xfrm>
            <a:off x="1097280" y="3017520"/>
            <a:ext cx="9784080" cy="1261872"/>
          </a:xfrm>
          <a:prstGeom prst="rect">
            <a:avLst/>
          </a:prstGeom>
          <a:noFill/>
          <a:ln/>
        </p:spPr>
        <p:txBody>
          <a:bodyPr wrap="square" lIns="0" tIns="0" rIns="0" bIns="0" rtlCol="0" anchor="t">
            <a:normAutofit/>
          </a:bodyPr>
          <a:lstStyle/>
          <a:p>
            <a:pPr indent="0" marL="0">
              <a:buNone/>
            </a:pPr>
            <a:r>
              <a:rPr lang="en-US" sz="2600" b="1" dirty="0">
                <a:solidFill>
                  <a:srgbClr val="173552"/>
                </a:solidFill>
                <a:latin typeface="Aptos" pitchFamily="34" charset="0"/>
                <a:ea typeface="Aptos" pitchFamily="34" charset="-122"/>
                <a:cs typeface="Aptos" pitchFamily="34" charset="-120"/>
              </a:rPr>
              <a:t>Printing formats, page settings, resolution, colour and common printing faults.</a:t>
            </a:r>
            <a:endParaRPr lang="en-US" sz="2600" dirty="0"/>
          </a:p>
        </p:txBody>
      </p:sp>
      <p:sp>
        <p:nvSpPr>
          <p:cNvPr id="14" name="Text 12"/>
          <p:cNvSpPr/>
          <p:nvPr/>
        </p:nvSpPr>
        <p:spPr>
          <a:xfrm>
            <a:off x="1097280" y="4800600"/>
            <a:ext cx="9692640" cy="365760"/>
          </a:xfrm>
          <a:prstGeom prst="rect">
            <a:avLst/>
          </a:prstGeom>
          <a:noFill/>
          <a:ln/>
        </p:spPr>
        <p:txBody>
          <a:bodyPr wrap="square" lIns="0" tIns="0" rIns="0" bIns="0" rtlCol="0" anchor="ctr">
            <a:normAutofit/>
          </a:bodyPr>
          <a:lstStyle/>
          <a:p>
            <a:pPr indent="0" marL="0">
              <a:buNone/>
            </a:pPr>
            <a:r>
              <a:rPr lang="en-US" sz="1800" dirty="0">
                <a:solidFill>
                  <a:srgbClr val="5F788A"/>
                </a:solidFill>
                <a:latin typeface="Aptos" pitchFamily="34" charset="0"/>
                <a:ea typeface="Aptos" pitchFamily="34" charset="-122"/>
                <a:cs typeface="Aptos" pitchFamily="34" charset="-120"/>
              </a:rPr>
              <a:t>Keep your final PDF proof: we will use it when discussing print preparation.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and Finalising a Simple Publication</dc:title>
  <dc:subject>Condensed Lecture 8</dc:subject>
  <dc:creator>ITT06105 Desktop Publishing</dc:creator>
  <cp:lastModifiedBy>ITT06105 Desktop Publishing</cp:lastModifiedBy>
  <cp:revision>1</cp:revision>
  <dcterms:created xsi:type="dcterms:W3CDTF">2026-10-22T10:43:46Z</dcterms:created>
  <dcterms:modified xsi:type="dcterms:W3CDTF">2026-10-22T10:43:46Z</dcterms:modified>
</cp:coreProperties>
</file>