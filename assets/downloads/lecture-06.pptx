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F4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087F89"/>
          </a:solidFill>
          <a:ln w="12700">
            <a:solidFill>
              <a:srgbClr val="087F89"/>
            </a:solidFill>
            <a:prstDash val="solid"/>
          </a:ln>
        </p:spPr>
        <p:txBody>
          <a:bodyPr/>
          <a:p/>
        </p:txBody>
      </p:sp>
      <p:sp>
        <p:nvSpPr>
          <p:cNvPr id="3" name="Text 1"/>
          <p:cNvSpPr/>
          <p:nvPr/>
        </p:nvSpPr>
        <p:spPr>
          <a:xfrm>
            <a:off x="694944" y="685800"/>
            <a:ext cx="6400800" cy="301752"/>
          </a:xfrm>
          <a:prstGeom prst="rect">
            <a:avLst/>
          </a:prstGeom>
          <a:noFill/>
          <a:ln/>
        </p:spPr>
        <p:txBody>
          <a:bodyPr wrap="square" lIns="0" tIns="0" rIns="0" bIns="0" rtlCol="0" anchor="ctr">
            <a:normAutofit/>
          </a:bodyPr>
          <a:lstStyle/>
          <a:p>
            <a:pPr algn="l" indent="0" marL="0">
              <a:buNone/>
            </a:pPr>
            <a:r>
              <a:rPr lang="en-US" sz="1600" b="1" dirty="0">
                <a:solidFill>
                  <a:srgbClr val="ABD8DD"/>
                </a:solidFill>
                <a:latin typeface="Aptos" pitchFamily="34" charset="0"/>
                <a:ea typeface="Aptos" pitchFamily="34" charset="-122"/>
                <a:cs typeface="Aptos" pitchFamily="34" charset="-120"/>
              </a:rPr>
              <a:t>ESSENTIAL LECTURE 06</a:t>
            </a:r>
            <a:endParaRPr lang="en-US" sz="1600" dirty="0"/>
          </a:p>
        </p:txBody>
      </p:sp>
      <p:sp>
        <p:nvSpPr>
          <p:cNvPr id="4" name="Text 2"/>
          <p:cNvSpPr/>
          <p:nvPr/>
        </p:nvSpPr>
        <p:spPr>
          <a:xfrm>
            <a:off x="694944" y="1298448"/>
            <a:ext cx="7388352" cy="1600200"/>
          </a:xfrm>
          <a:prstGeom prst="rect">
            <a:avLst/>
          </a:prstGeom>
          <a:noFill/>
          <a:ln/>
        </p:spPr>
        <p:txBody>
          <a:bodyPr wrap="square" lIns="0" tIns="0" rIns="0" bIns="0" rtlCol="0" anchor="ctr">
            <a:normAutofit/>
          </a:bodyPr>
          <a:lstStyle/>
          <a:p>
            <a:pPr algn="l" indent="0" marL="0">
              <a:buNone/>
            </a:pPr>
            <a:r>
              <a:rPr lang="en-US" sz="4100" b="1" dirty="0">
                <a:solidFill>
                  <a:srgbClr val="FFFFFF"/>
                </a:solidFill>
                <a:latin typeface="Aptos" pitchFamily="34" charset="0"/>
                <a:ea typeface="Aptos" pitchFamily="34" charset="-122"/>
                <a:cs typeface="Aptos" pitchFamily="34" charset="-120"/>
              </a:rPr>
              <a:t>Introduction to</a:t>
            </a:r>
            <a:endParaRPr lang="en-US" sz="4100" dirty="0"/>
          </a:p>
          <a:p>
            <a:pPr algn="l" indent="0" marL="0">
              <a:buNone/>
            </a:pPr>
            <a:r>
              <a:rPr lang="en-US" sz="4100" b="1" dirty="0">
                <a:solidFill>
                  <a:srgbClr val="FFFFFF"/>
                </a:solidFill>
                <a:latin typeface="Aptos" pitchFamily="34" charset="0"/>
                <a:ea typeface="Aptos" pitchFamily="34" charset="-122"/>
                <a:cs typeface="Aptos" pitchFamily="34" charset="-120"/>
              </a:rPr>
              <a:t>Vector Graphics</a:t>
            </a:r>
            <a:endParaRPr lang="en-US" sz="4100" dirty="0"/>
          </a:p>
        </p:txBody>
      </p:sp>
      <p:sp>
        <p:nvSpPr>
          <p:cNvPr id="5" name="Text 3"/>
          <p:cNvSpPr/>
          <p:nvPr/>
        </p:nvSpPr>
        <p:spPr>
          <a:xfrm>
            <a:off x="722376" y="3319272"/>
            <a:ext cx="7379208" cy="603504"/>
          </a:xfrm>
          <a:prstGeom prst="rect">
            <a:avLst/>
          </a:prstGeom>
          <a:noFill/>
          <a:ln/>
        </p:spPr>
        <p:txBody>
          <a:bodyPr wrap="square" lIns="0" tIns="0" rIns="0" bIns="0" rtlCol="0" anchor="ctr">
            <a:normAutofit/>
          </a:bodyPr>
          <a:lstStyle/>
          <a:p>
            <a:pPr algn="l" indent="0" marL="0">
              <a:buNone/>
            </a:pPr>
            <a:r>
              <a:rPr lang="en-US" sz="2000" dirty="0">
                <a:solidFill>
                  <a:srgbClr val="DAE8EF"/>
                </a:solidFill>
                <a:latin typeface="Aptos" pitchFamily="34" charset="0"/>
                <a:ea typeface="Aptos" pitchFamily="34" charset="-122"/>
                <a:cs typeface="Aptos" pitchFamily="34" charset="-120"/>
              </a:rPr>
              <a:t>Draw, arrange and export one simple educational icon</a:t>
            </a:r>
            <a:endParaRPr lang="en-US" sz="2000" dirty="0"/>
          </a:p>
        </p:txBody>
      </p:sp>
      <p:sp>
        <p:nvSpPr>
          <p:cNvPr id="6" name="Text 4"/>
          <p:cNvSpPr/>
          <p:nvPr/>
        </p:nvSpPr>
        <p:spPr>
          <a:xfrm>
            <a:off x="722376" y="4270248"/>
            <a:ext cx="8686800" cy="484632"/>
          </a:xfrm>
          <a:prstGeom prst="rect">
            <a:avLst/>
          </a:prstGeom>
          <a:noFill/>
          <a:ln/>
        </p:spPr>
        <p:txBody>
          <a:bodyPr wrap="square" lIns="0" tIns="0" rIns="0" bIns="0" rtlCol="0" anchor="ctr">
            <a:normAutofit/>
          </a:bodyPr>
          <a:lstStyle/>
          <a:p>
            <a:pPr algn="l" indent="0" marL="0">
              <a:buNone/>
            </a:pPr>
            <a:r>
              <a:rPr lang="en-US" sz="1750" dirty="0">
                <a:solidFill>
                  <a:srgbClr val="B9DFE2"/>
                </a:solidFill>
                <a:latin typeface="Aptos" pitchFamily="34" charset="0"/>
                <a:ea typeface="Aptos" pitchFamily="34" charset="-122"/>
                <a:cs typeface="Aptos" pitchFamily="34" charset="-120"/>
              </a:rPr>
              <a:t>Shapes  •  Fill and stroke  •  Alignment  •  SVG / PNG</a:t>
            </a:r>
            <a:endParaRPr lang="en-US" sz="1750" dirty="0"/>
          </a:p>
        </p:txBody>
      </p:sp>
      <p:pic>
        <p:nvPicPr>
          <p:cNvPr id="7" name="Image 0" descr="/mnt/data/ITT06105_Condensed_L06_Package/resources/Tumaini_Three_Shape_Lightbulb_Model.png">    </p:cNvPr>
          <p:cNvPicPr>
            <a:picLocks noChangeAspect="1"/>
          </p:cNvPicPr>
          <p:nvPr/>
        </p:nvPicPr>
        <p:blipFill>
          <a:blip r:embed="rId1"/>
          <a:stretch>
            <a:fillRect/>
          </a:stretch>
        </p:blipFill>
        <p:spPr>
          <a:xfrm>
            <a:off x="8439912" y="1325880"/>
            <a:ext cx="2907792" cy="3063240"/>
          </a:xfrm>
          <a:prstGeom prst="rect">
            <a:avLst/>
          </a:prstGeom>
        </p:spPr>
      </p:pic>
      <p:sp>
        <p:nvSpPr>
          <p:cNvPr id="8" name="Text 5"/>
          <p:cNvSpPr/>
          <p:nvPr/>
        </p:nvSpPr>
        <p:spPr>
          <a:xfrm>
            <a:off x="722376" y="6263640"/>
            <a:ext cx="10058400" cy="292608"/>
          </a:xfrm>
          <a:prstGeom prst="rect">
            <a:avLst/>
          </a:prstGeom>
          <a:noFill/>
          <a:ln/>
        </p:spPr>
        <p:txBody>
          <a:bodyPr wrap="square" lIns="0" tIns="0" rIns="0" bIns="0" rtlCol="0" anchor="ctr">
            <a:normAutofit/>
          </a:bodyPr>
          <a:lstStyle/>
          <a:p>
            <a:pPr algn="l" indent="0" marL="0">
              <a:buNone/>
            </a:pPr>
            <a:r>
              <a:rPr lang="en-US" sz="1300" dirty="0">
                <a:solidFill>
                  <a:srgbClr val="B2C7D6"/>
                </a:solidFill>
                <a:latin typeface="Aptos" pitchFamily="34" charset="0"/>
                <a:ea typeface="Aptos" pitchFamily="34" charset="-122"/>
                <a:cs typeface="Aptos" pitchFamily="34" charset="-120"/>
              </a:rPr>
              <a:t>ITT06105  •  Ordinary Diploma in IT  •  2026/2027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LEARNING OUTCOMES</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What you should be able to do</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This lecture concentrates on a small number of useful vector-design skills.</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02</a:t>
            </a:r>
            <a:endParaRPr lang="en-US" sz="1100" dirty="0"/>
          </a:p>
        </p:txBody>
      </p:sp>
      <p:sp>
        <p:nvSpPr>
          <p:cNvPr id="11" name="Shape 9"/>
          <p:cNvSpPr/>
          <p:nvPr/>
        </p:nvSpPr>
        <p:spPr>
          <a:xfrm>
            <a:off x="576072"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2" name="Shape 10"/>
          <p:cNvSpPr/>
          <p:nvPr/>
        </p:nvSpPr>
        <p:spPr>
          <a:xfrm>
            <a:off x="576072" y="2093976"/>
            <a:ext cx="82296" cy="3511296"/>
          </a:xfrm>
          <a:prstGeom prst="rect">
            <a:avLst/>
          </a:prstGeom>
          <a:solidFill>
            <a:srgbClr val="087F89"/>
          </a:solidFill>
          <a:ln w="12700">
            <a:solidFill>
              <a:srgbClr val="087F89"/>
            </a:solidFill>
            <a:prstDash val="solid"/>
          </a:ln>
        </p:spPr>
        <p:txBody>
          <a:bodyPr/>
          <a:p/>
        </p:txBody>
      </p:sp>
      <p:sp>
        <p:nvSpPr>
          <p:cNvPr id="13" name="Text 11"/>
          <p:cNvSpPr/>
          <p:nvPr/>
        </p:nvSpPr>
        <p:spPr>
          <a:xfrm>
            <a:off x="777240"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EXPLAIN</a:t>
            </a:r>
            <a:endParaRPr lang="en-US" sz="1920" dirty="0"/>
          </a:p>
        </p:txBody>
      </p:sp>
      <p:sp>
        <p:nvSpPr>
          <p:cNvPr id="14" name="Text 12"/>
          <p:cNvSpPr/>
          <p:nvPr/>
        </p:nvSpPr>
        <p:spPr>
          <a:xfrm>
            <a:off x="777240"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Describe vector graphics and identify when vector artwork is more suitable than a raster image.</a:t>
            </a:r>
            <a:endParaRPr lang="en-US" sz="1700" dirty="0"/>
          </a:p>
        </p:txBody>
      </p:sp>
      <p:sp>
        <p:nvSpPr>
          <p:cNvPr id="15" name="Shape 13"/>
          <p:cNvSpPr/>
          <p:nvPr/>
        </p:nvSpPr>
        <p:spPr>
          <a:xfrm>
            <a:off x="4443984"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6" name="Shape 14"/>
          <p:cNvSpPr/>
          <p:nvPr/>
        </p:nvSpPr>
        <p:spPr>
          <a:xfrm>
            <a:off x="4443984" y="2093976"/>
            <a:ext cx="82296" cy="3511296"/>
          </a:xfrm>
          <a:prstGeom prst="rect">
            <a:avLst/>
          </a:prstGeom>
          <a:solidFill>
            <a:srgbClr val="F0AE4C"/>
          </a:solidFill>
          <a:ln w="12700">
            <a:solidFill>
              <a:srgbClr val="F0AE4C"/>
            </a:solidFill>
            <a:prstDash val="solid"/>
          </a:ln>
        </p:spPr>
        <p:txBody>
          <a:bodyPr/>
          <a:p/>
        </p:txBody>
      </p:sp>
      <p:sp>
        <p:nvSpPr>
          <p:cNvPr id="17" name="Text 15"/>
          <p:cNvSpPr/>
          <p:nvPr/>
        </p:nvSpPr>
        <p:spPr>
          <a:xfrm>
            <a:off x="4645152"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CREATE</a:t>
            </a:r>
            <a:endParaRPr lang="en-US" sz="1920" dirty="0"/>
          </a:p>
        </p:txBody>
      </p:sp>
      <p:sp>
        <p:nvSpPr>
          <p:cNvPr id="18" name="Text 16"/>
          <p:cNvSpPr/>
          <p:nvPr/>
        </p:nvSpPr>
        <p:spPr>
          <a:xfrm>
            <a:off x="4645152"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Use basic shape tools, fills, strokes and alignment to draw a simple educational icon.</a:t>
            </a:r>
            <a:endParaRPr lang="en-US" sz="1700" dirty="0"/>
          </a:p>
        </p:txBody>
      </p:sp>
      <p:sp>
        <p:nvSpPr>
          <p:cNvPr id="19" name="Shape 17"/>
          <p:cNvSpPr/>
          <p:nvPr/>
        </p:nvSpPr>
        <p:spPr>
          <a:xfrm>
            <a:off x="8311896"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20" name="Shape 18"/>
          <p:cNvSpPr/>
          <p:nvPr/>
        </p:nvSpPr>
        <p:spPr>
          <a:xfrm>
            <a:off x="8311896" y="2093976"/>
            <a:ext cx="82296" cy="3511296"/>
          </a:xfrm>
          <a:prstGeom prst="rect">
            <a:avLst/>
          </a:prstGeom>
          <a:solidFill>
            <a:srgbClr val="537891"/>
          </a:solidFill>
          <a:ln w="12700">
            <a:solidFill>
              <a:srgbClr val="537891"/>
            </a:solidFill>
            <a:prstDash val="solid"/>
          </a:ln>
        </p:spPr>
        <p:txBody>
          <a:bodyPr/>
          <a:p/>
        </p:txBody>
      </p:sp>
      <p:sp>
        <p:nvSpPr>
          <p:cNvPr id="21" name="Text 19"/>
          <p:cNvSpPr/>
          <p:nvPr/>
        </p:nvSpPr>
        <p:spPr>
          <a:xfrm>
            <a:off x="8513064"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DELIVER</a:t>
            </a:r>
            <a:endParaRPr lang="en-US" sz="1920" dirty="0"/>
          </a:p>
        </p:txBody>
      </p:sp>
      <p:sp>
        <p:nvSpPr>
          <p:cNvPr id="22" name="Text 20"/>
          <p:cNvSpPr/>
          <p:nvPr/>
        </p:nvSpPr>
        <p:spPr>
          <a:xfrm>
            <a:off x="8513064"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Save an editable source file and export a usable SVG or PNG for a publication.</a:t>
            </a:r>
            <a:endParaRPr lang="en-US" sz="1700" dirty="0"/>
          </a:p>
        </p:txBody>
      </p:sp>
      <p:sp>
        <p:nvSpPr>
          <p:cNvPr id="23" name="Shape 21"/>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4" name="Text 22"/>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One well-made, editable icon is better than several unfinished designs.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CONNECTION</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From photographs to illustrations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Think back to the images and poster developed in Lectures 4 and 5.</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03</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Raster work</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Photographs are usually raster images made from pixels. Cropping and resizing can change pixel detail, so enlargement needs care.</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Vector work</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Simple symbols are easier to make with vector paths. Their outlines can be edited and scaled without depending on a fixed pixel grid.</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Different tools solve different publishing problems.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KEY CONCEPT</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What is a vector graphic?</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A vector graphic is constructed from mathematically described shapes and paths.</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04</a:t>
            </a:r>
            <a:endParaRPr lang="en-US" sz="1100" dirty="0"/>
          </a:p>
        </p:txBody>
      </p:sp>
      <p:sp>
        <p:nvSpPr>
          <p:cNvPr id="11" name="Shape 9"/>
          <p:cNvSpPr/>
          <p:nvPr/>
        </p:nvSpPr>
        <p:spPr>
          <a:xfrm>
            <a:off x="557784" y="2039112"/>
            <a:ext cx="6537960" cy="3639312"/>
          </a:xfrm>
          <a:prstGeom prst="roundRect">
            <a:avLst>
              <a:gd name="adj" fmla="val 2513"/>
            </a:avLst>
          </a:prstGeom>
          <a:solidFill>
            <a:srgbClr val="FFFFFF"/>
          </a:solidFill>
          <a:ln w="12700">
            <a:solidFill>
              <a:srgbClr val="CADDE7"/>
            </a:solidFill>
            <a:prstDash val="solid"/>
          </a:ln>
        </p:spPr>
        <p:txBody>
          <a:bodyPr/>
          <a:p/>
        </p:txBody>
      </p:sp>
      <p:pic>
        <p:nvPicPr>
          <p:cNvPr id="12" name="Image 0" descr="/mnt/data/ITT06105_Condensed_L06_Package/resources/Vector_Scale_Comparison.png">    </p:cNvPr>
          <p:cNvPicPr>
            <a:picLocks noChangeAspect="1"/>
          </p:cNvPicPr>
          <p:nvPr/>
        </p:nvPicPr>
        <p:blipFill>
          <a:blip r:embed="rId1"/>
          <a:stretch>
            <a:fillRect/>
          </a:stretch>
        </p:blipFill>
        <p:spPr>
          <a:xfrm>
            <a:off x="676656" y="2240280"/>
            <a:ext cx="6272784" cy="3227832"/>
          </a:xfrm>
          <a:prstGeom prst="rect">
            <a:avLst/>
          </a:prstGeom>
        </p:spPr>
      </p:pic>
      <p:sp>
        <p:nvSpPr>
          <p:cNvPr id="13" name="Shape 10"/>
          <p:cNvSpPr/>
          <p:nvPr/>
        </p:nvSpPr>
        <p:spPr>
          <a:xfrm>
            <a:off x="7306056" y="2039112"/>
            <a:ext cx="4315968" cy="1737360"/>
          </a:xfrm>
          <a:prstGeom prst="roundRect">
            <a:avLst>
              <a:gd name="adj" fmla="val 6316"/>
            </a:avLst>
          </a:prstGeom>
          <a:solidFill>
            <a:srgbClr val="FFFFFF"/>
          </a:solidFill>
          <a:ln w="10160">
            <a:solidFill>
              <a:srgbClr val="CADDE7"/>
            </a:solidFill>
            <a:prstDash val="solid"/>
          </a:ln>
        </p:spPr>
        <p:txBody>
          <a:bodyPr/>
          <a:p/>
        </p:txBody>
      </p:sp>
      <p:sp>
        <p:nvSpPr>
          <p:cNvPr id="14" name="Shape 11"/>
          <p:cNvSpPr/>
          <p:nvPr/>
        </p:nvSpPr>
        <p:spPr>
          <a:xfrm>
            <a:off x="7306056" y="2048256"/>
            <a:ext cx="82296" cy="1719072"/>
          </a:xfrm>
          <a:prstGeom prst="rect">
            <a:avLst/>
          </a:prstGeom>
          <a:solidFill>
            <a:srgbClr val="087F89"/>
          </a:solidFill>
          <a:ln w="12700">
            <a:solidFill>
              <a:srgbClr val="087F89"/>
            </a:solidFill>
            <a:prstDash val="solid"/>
          </a:ln>
        </p:spPr>
        <p:txBody>
          <a:bodyPr/>
          <a:p/>
        </p:txBody>
      </p:sp>
      <p:sp>
        <p:nvSpPr>
          <p:cNvPr id="15" name="Text 12"/>
          <p:cNvSpPr/>
          <p:nvPr/>
        </p:nvSpPr>
        <p:spPr>
          <a:xfrm>
            <a:off x="7507224" y="2194560"/>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Main advantage</a:t>
            </a:r>
            <a:endParaRPr lang="en-US" sz="1920" dirty="0"/>
          </a:p>
        </p:txBody>
      </p:sp>
      <p:sp>
        <p:nvSpPr>
          <p:cNvPr id="16" name="Text 13"/>
          <p:cNvSpPr/>
          <p:nvPr/>
        </p:nvSpPr>
        <p:spPr>
          <a:xfrm>
            <a:off x="7507224" y="2660904"/>
            <a:ext cx="3867912" cy="960120"/>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Vector shapes can be enlarged or reduced while preserving clean outlines.</a:t>
            </a:r>
            <a:endParaRPr lang="en-US" sz="1650" dirty="0"/>
          </a:p>
        </p:txBody>
      </p:sp>
      <p:sp>
        <p:nvSpPr>
          <p:cNvPr id="17" name="Shape 14"/>
          <p:cNvSpPr/>
          <p:nvPr/>
        </p:nvSpPr>
        <p:spPr>
          <a:xfrm>
            <a:off x="7306056" y="3904488"/>
            <a:ext cx="4315968" cy="1773936"/>
          </a:xfrm>
          <a:prstGeom prst="roundRect">
            <a:avLst>
              <a:gd name="adj" fmla="val 6186"/>
            </a:avLst>
          </a:prstGeom>
          <a:solidFill>
            <a:srgbClr val="FFFFFF"/>
          </a:solidFill>
          <a:ln w="10160">
            <a:solidFill>
              <a:srgbClr val="CADDE7"/>
            </a:solidFill>
            <a:prstDash val="solid"/>
          </a:ln>
        </p:spPr>
        <p:txBody>
          <a:bodyPr/>
          <a:p/>
        </p:txBody>
      </p:sp>
      <p:sp>
        <p:nvSpPr>
          <p:cNvPr id="18" name="Shape 15"/>
          <p:cNvSpPr/>
          <p:nvPr/>
        </p:nvSpPr>
        <p:spPr>
          <a:xfrm>
            <a:off x="7306056" y="3913632"/>
            <a:ext cx="82296" cy="1755648"/>
          </a:xfrm>
          <a:prstGeom prst="rect">
            <a:avLst/>
          </a:prstGeom>
          <a:solidFill>
            <a:srgbClr val="F0AE4C"/>
          </a:solidFill>
          <a:ln w="12700">
            <a:solidFill>
              <a:srgbClr val="F0AE4C"/>
            </a:solidFill>
            <a:prstDash val="solid"/>
          </a:ln>
        </p:spPr>
        <p:txBody>
          <a:bodyPr/>
          <a:p/>
        </p:txBody>
      </p:sp>
      <p:sp>
        <p:nvSpPr>
          <p:cNvPr id="19" name="Text 16"/>
          <p:cNvSpPr/>
          <p:nvPr/>
        </p:nvSpPr>
        <p:spPr>
          <a:xfrm>
            <a:off x="7507224" y="4059936"/>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Where useful</a:t>
            </a:r>
            <a:endParaRPr lang="en-US" sz="1920" dirty="0"/>
          </a:p>
        </p:txBody>
      </p:sp>
      <p:sp>
        <p:nvSpPr>
          <p:cNvPr id="20" name="Text 17"/>
          <p:cNvSpPr/>
          <p:nvPr/>
        </p:nvSpPr>
        <p:spPr>
          <a:xfrm>
            <a:off x="7507224" y="4526280"/>
            <a:ext cx="3867912" cy="996696"/>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Icons, logos, diagrams, signs and other illustrations built from simple shapes.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COMPARISON</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Vectors and pixels are not the same</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Both formats are useful; choose according to the material being produced.</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05</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Raster graphic</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Contains a grid of pixels. It suits photographs and detailed textures. Enlarging a small raster picture can expose pixelation.</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Vector graphic</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Contains paths, shapes, fills and strokes. It suits icons and line illustrations that must remain crisp at different sizes.</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For a portrait photo, keep the raster image; for a simple icon, consider vector artwork.</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WHY IT MATTERS</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Why use vector graphics in publishing?</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Students will encounter the same symbol on documents of different sizes.</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06</a:t>
            </a:r>
            <a:endParaRPr lang="en-US" sz="1100" dirty="0"/>
          </a:p>
        </p:txBody>
      </p:sp>
      <p:sp>
        <p:nvSpPr>
          <p:cNvPr id="11" name="Shape 9"/>
          <p:cNvSpPr/>
          <p:nvPr/>
        </p:nvSpPr>
        <p:spPr>
          <a:xfrm>
            <a:off x="576072"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2" name="Shape 10"/>
          <p:cNvSpPr/>
          <p:nvPr/>
        </p:nvSpPr>
        <p:spPr>
          <a:xfrm>
            <a:off x="576072" y="2093976"/>
            <a:ext cx="82296" cy="3511296"/>
          </a:xfrm>
          <a:prstGeom prst="rect">
            <a:avLst/>
          </a:prstGeom>
          <a:solidFill>
            <a:srgbClr val="087F89"/>
          </a:solidFill>
          <a:ln w="12700">
            <a:solidFill>
              <a:srgbClr val="087F89"/>
            </a:solidFill>
            <a:prstDash val="solid"/>
          </a:ln>
        </p:spPr>
        <p:txBody>
          <a:bodyPr/>
          <a:p/>
        </p:txBody>
      </p:sp>
      <p:sp>
        <p:nvSpPr>
          <p:cNvPr id="13" name="Text 11"/>
          <p:cNvSpPr/>
          <p:nvPr/>
        </p:nvSpPr>
        <p:spPr>
          <a:xfrm>
            <a:off x="777240"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Scale</a:t>
            </a:r>
            <a:endParaRPr lang="en-US" sz="1920" dirty="0"/>
          </a:p>
        </p:txBody>
      </p:sp>
      <p:sp>
        <p:nvSpPr>
          <p:cNvPr id="14" name="Text 12"/>
          <p:cNvSpPr/>
          <p:nvPr/>
        </p:nvSpPr>
        <p:spPr>
          <a:xfrm>
            <a:off x="777240"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The same artwork can appear as a small worksheet icon or a large classroom poster without rebuilding its shapes.</a:t>
            </a:r>
            <a:endParaRPr lang="en-US" sz="1700" dirty="0"/>
          </a:p>
        </p:txBody>
      </p:sp>
      <p:sp>
        <p:nvSpPr>
          <p:cNvPr id="15" name="Shape 13"/>
          <p:cNvSpPr/>
          <p:nvPr/>
        </p:nvSpPr>
        <p:spPr>
          <a:xfrm>
            <a:off x="4443984"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6" name="Shape 14"/>
          <p:cNvSpPr/>
          <p:nvPr/>
        </p:nvSpPr>
        <p:spPr>
          <a:xfrm>
            <a:off x="4443984" y="2093976"/>
            <a:ext cx="82296" cy="3511296"/>
          </a:xfrm>
          <a:prstGeom prst="rect">
            <a:avLst/>
          </a:prstGeom>
          <a:solidFill>
            <a:srgbClr val="F0AE4C"/>
          </a:solidFill>
          <a:ln w="12700">
            <a:solidFill>
              <a:srgbClr val="F0AE4C"/>
            </a:solidFill>
            <a:prstDash val="solid"/>
          </a:ln>
        </p:spPr>
        <p:txBody>
          <a:bodyPr/>
          <a:p/>
        </p:txBody>
      </p:sp>
      <p:sp>
        <p:nvSpPr>
          <p:cNvPr id="17" name="Text 15"/>
          <p:cNvSpPr/>
          <p:nvPr/>
        </p:nvSpPr>
        <p:spPr>
          <a:xfrm>
            <a:off x="4645152"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Edit</a:t>
            </a:r>
            <a:endParaRPr lang="en-US" sz="1920" dirty="0"/>
          </a:p>
        </p:txBody>
      </p:sp>
      <p:sp>
        <p:nvSpPr>
          <p:cNvPr id="18" name="Text 16"/>
          <p:cNvSpPr/>
          <p:nvPr/>
        </p:nvSpPr>
        <p:spPr>
          <a:xfrm>
            <a:off x="4645152"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Individual objects, colours and outlines can be changed independently.</a:t>
            </a:r>
            <a:endParaRPr lang="en-US" sz="1700" dirty="0"/>
          </a:p>
        </p:txBody>
      </p:sp>
      <p:sp>
        <p:nvSpPr>
          <p:cNvPr id="19" name="Shape 17"/>
          <p:cNvSpPr/>
          <p:nvPr/>
        </p:nvSpPr>
        <p:spPr>
          <a:xfrm>
            <a:off x="8311896"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20" name="Shape 18"/>
          <p:cNvSpPr/>
          <p:nvPr/>
        </p:nvSpPr>
        <p:spPr>
          <a:xfrm>
            <a:off x="8311896" y="2093976"/>
            <a:ext cx="82296" cy="3511296"/>
          </a:xfrm>
          <a:prstGeom prst="rect">
            <a:avLst/>
          </a:prstGeom>
          <a:solidFill>
            <a:srgbClr val="537891"/>
          </a:solidFill>
          <a:ln w="12700">
            <a:solidFill>
              <a:srgbClr val="537891"/>
            </a:solidFill>
            <a:prstDash val="solid"/>
          </a:ln>
        </p:spPr>
        <p:txBody>
          <a:bodyPr/>
          <a:p/>
        </p:txBody>
      </p:sp>
      <p:sp>
        <p:nvSpPr>
          <p:cNvPr id="21" name="Text 19"/>
          <p:cNvSpPr/>
          <p:nvPr/>
        </p:nvSpPr>
        <p:spPr>
          <a:xfrm>
            <a:off x="8513064"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Reuse</a:t>
            </a:r>
            <a:endParaRPr lang="en-US" sz="1920" dirty="0"/>
          </a:p>
        </p:txBody>
      </p:sp>
      <p:sp>
        <p:nvSpPr>
          <p:cNvPr id="22" name="Text 20"/>
          <p:cNvSpPr/>
          <p:nvPr/>
        </p:nvSpPr>
        <p:spPr>
          <a:xfrm>
            <a:off x="8513064"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The symbol can be placed in brochures, hand-outs, slides and online announcements.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SOFTWARE</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What do Illustrator and Inkscape do?</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Both applications allow objects to be edited as vector artwork.</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07</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Adobe Illustrator</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A commercial vector-design program used to create and edit logos, diagrams and illustrations. In this lesson we need only its shape, fill, alignment and export tools.</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Inkscape</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A free vector-editing alternative. Its buttons and menus differ, but the essential ideas of objects, fills, strokes, grouping and export are similar.</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Learn the design ideas first; the particular software version may vary.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WORKSPACE</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Understanding the vector-editing workspace</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This is a conceptual diagram, not a screenshot of a specific application version.</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08</a:t>
            </a:r>
            <a:endParaRPr lang="en-US" sz="1100" dirty="0"/>
          </a:p>
        </p:txBody>
      </p:sp>
      <p:sp>
        <p:nvSpPr>
          <p:cNvPr id="11" name="Shape 9"/>
          <p:cNvSpPr/>
          <p:nvPr/>
        </p:nvSpPr>
        <p:spPr>
          <a:xfrm>
            <a:off x="557784" y="2039112"/>
            <a:ext cx="6537960" cy="3639312"/>
          </a:xfrm>
          <a:prstGeom prst="roundRect">
            <a:avLst>
              <a:gd name="adj" fmla="val 2513"/>
            </a:avLst>
          </a:prstGeom>
          <a:solidFill>
            <a:srgbClr val="FFFFFF"/>
          </a:solidFill>
          <a:ln w="12700">
            <a:solidFill>
              <a:srgbClr val="CADDE7"/>
            </a:solidFill>
            <a:prstDash val="solid"/>
          </a:ln>
        </p:spPr>
        <p:txBody>
          <a:bodyPr/>
          <a:p/>
        </p:txBody>
      </p:sp>
      <p:pic>
        <p:nvPicPr>
          <p:cNvPr id="12" name="Image 0" descr="/mnt/data/ITT06105_Condensed_L06_Package/resources/Vector_Editor_Workspace_Explainer.png">    </p:cNvPr>
          <p:cNvPicPr>
            <a:picLocks noChangeAspect="1"/>
          </p:cNvPicPr>
          <p:nvPr/>
        </p:nvPicPr>
        <p:blipFill>
          <a:blip r:embed="rId1"/>
          <a:stretch>
            <a:fillRect/>
          </a:stretch>
        </p:blipFill>
        <p:spPr>
          <a:xfrm>
            <a:off x="676656" y="2240280"/>
            <a:ext cx="6272784" cy="3227832"/>
          </a:xfrm>
          <a:prstGeom prst="rect">
            <a:avLst/>
          </a:prstGeom>
        </p:spPr>
      </p:pic>
      <p:sp>
        <p:nvSpPr>
          <p:cNvPr id="13" name="Shape 10"/>
          <p:cNvSpPr/>
          <p:nvPr/>
        </p:nvSpPr>
        <p:spPr>
          <a:xfrm>
            <a:off x="7306056" y="2039112"/>
            <a:ext cx="4315968" cy="1737360"/>
          </a:xfrm>
          <a:prstGeom prst="roundRect">
            <a:avLst>
              <a:gd name="adj" fmla="val 6316"/>
            </a:avLst>
          </a:prstGeom>
          <a:solidFill>
            <a:srgbClr val="FFFFFF"/>
          </a:solidFill>
          <a:ln w="10160">
            <a:solidFill>
              <a:srgbClr val="CADDE7"/>
            </a:solidFill>
            <a:prstDash val="solid"/>
          </a:ln>
        </p:spPr>
        <p:txBody>
          <a:bodyPr/>
          <a:p/>
        </p:txBody>
      </p:sp>
      <p:sp>
        <p:nvSpPr>
          <p:cNvPr id="14" name="Shape 11"/>
          <p:cNvSpPr/>
          <p:nvPr/>
        </p:nvSpPr>
        <p:spPr>
          <a:xfrm>
            <a:off x="7306056" y="2048256"/>
            <a:ext cx="82296" cy="1719072"/>
          </a:xfrm>
          <a:prstGeom prst="rect">
            <a:avLst/>
          </a:prstGeom>
          <a:solidFill>
            <a:srgbClr val="087F89"/>
          </a:solidFill>
          <a:ln w="12700">
            <a:solidFill>
              <a:srgbClr val="087F89"/>
            </a:solidFill>
            <a:prstDash val="solid"/>
          </a:ln>
        </p:spPr>
        <p:txBody>
          <a:bodyPr/>
          <a:p/>
        </p:txBody>
      </p:sp>
      <p:sp>
        <p:nvSpPr>
          <p:cNvPr id="15" name="Text 12"/>
          <p:cNvSpPr/>
          <p:nvPr/>
        </p:nvSpPr>
        <p:spPr>
          <a:xfrm>
            <a:off x="7507224" y="2194560"/>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Tools &amp; artboard</a:t>
            </a:r>
            <a:endParaRPr lang="en-US" sz="1920" dirty="0"/>
          </a:p>
        </p:txBody>
      </p:sp>
      <p:sp>
        <p:nvSpPr>
          <p:cNvPr id="16" name="Text 13"/>
          <p:cNvSpPr/>
          <p:nvPr/>
        </p:nvSpPr>
        <p:spPr>
          <a:xfrm>
            <a:off x="7507224" y="2660904"/>
            <a:ext cx="3867912" cy="960120"/>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The shape tools create objects. The artboard is the page or area prepared for export.</a:t>
            </a:r>
            <a:endParaRPr lang="en-US" sz="1650" dirty="0"/>
          </a:p>
        </p:txBody>
      </p:sp>
      <p:sp>
        <p:nvSpPr>
          <p:cNvPr id="17" name="Shape 14"/>
          <p:cNvSpPr/>
          <p:nvPr/>
        </p:nvSpPr>
        <p:spPr>
          <a:xfrm>
            <a:off x="7306056" y="3904488"/>
            <a:ext cx="4315968" cy="1773936"/>
          </a:xfrm>
          <a:prstGeom prst="roundRect">
            <a:avLst>
              <a:gd name="adj" fmla="val 6186"/>
            </a:avLst>
          </a:prstGeom>
          <a:solidFill>
            <a:srgbClr val="FFFFFF"/>
          </a:solidFill>
          <a:ln w="10160">
            <a:solidFill>
              <a:srgbClr val="CADDE7"/>
            </a:solidFill>
            <a:prstDash val="solid"/>
          </a:ln>
        </p:spPr>
        <p:txBody>
          <a:bodyPr/>
          <a:p/>
        </p:txBody>
      </p:sp>
      <p:sp>
        <p:nvSpPr>
          <p:cNvPr id="18" name="Shape 15"/>
          <p:cNvSpPr/>
          <p:nvPr/>
        </p:nvSpPr>
        <p:spPr>
          <a:xfrm>
            <a:off x="7306056" y="3913632"/>
            <a:ext cx="82296" cy="1755648"/>
          </a:xfrm>
          <a:prstGeom prst="rect">
            <a:avLst/>
          </a:prstGeom>
          <a:solidFill>
            <a:srgbClr val="F0AE4C"/>
          </a:solidFill>
          <a:ln w="12700">
            <a:solidFill>
              <a:srgbClr val="F0AE4C"/>
            </a:solidFill>
            <a:prstDash val="solid"/>
          </a:ln>
        </p:spPr>
        <p:txBody>
          <a:bodyPr/>
          <a:p/>
        </p:txBody>
      </p:sp>
      <p:sp>
        <p:nvSpPr>
          <p:cNvPr id="19" name="Text 16"/>
          <p:cNvSpPr/>
          <p:nvPr/>
        </p:nvSpPr>
        <p:spPr>
          <a:xfrm>
            <a:off x="7507224" y="4059936"/>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Properties</a:t>
            </a:r>
            <a:endParaRPr lang="en-US" sz="1920" dirty="0"/>
          </a:p>
        </p:txBody>
      </p:sp>
      <p:sp>
        <p:nvSpPr>
          <p:cNvPr id="20" name="Text 17"/>
          <p:cNvSpPr/>
          <p:nvPr/>
        </p:nvSpPr>
        <p:spPr>
          <a:xfrm>
            <a:off x="7507224" y="4526280"/>
            <a:ext cx="3867912" cy="996696"/>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Fill, stroke and object size can usually be changed through toolbars or panels.</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DOCUMENT SETUP</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What is an artboard?</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The artboard defines the intended output area, not the mathematical sharpness of a vector path.</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09</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Example setup</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For practice, create an 800 × 800 unit square artboard. In Illustrator, choose File &gt; New and enter the dimensions. Set a clear document name.</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Important distinction</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A vector object is resolution-independent while kept as a vector. When exported as a PNG, it becomes a pixel image with a selected width and height.</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Keep the original vector file even after producing PNG copies.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TOOLS</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Three basic shape tools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You need very few tools to build the required icon.</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10</a:t>
            </a:r>
            <a:endParaRPr lang="en-US" sz="1100" dirty="0"/>
          </a:p>
        </p:txBody>
      </p:sp>
      <p:sp>
        <p:nvSpPr>
          <p:cNvPr id="11" name="Shape 9"/>
          <p:cNvSpPr/>
          <p:nvPr/>
        </p:nvSpPr>
        <p:spPr>
          <a:xfrm>
            <a:off x="576072"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2" name="Shape 10"/>
          <p:cNvSpPr/>
          <p:nvPr/>
        </p:nvSpPr>
        <p:spPr>
          <a:xfrm>
            <a:off x="576072" y="2093976"/>
            <a:ext cx="82296" cy="3511296"/>
          </a:xfrm>
          <a:prstGeom prst="rect">
            <a:avLst/>
          </a:prstGeom>
          <a:solidFill>
            <a:srgbClr val="087F89"/>
          </a:solidFill>
          <a:ln w="12700">
            <a:solidFill>
              <a:srgbClr val="087F89"/>
            </a:solidFill>
            <a:prstDash val="solid"/>
          </a:ln>
        </p:spPr>
        <p:txBody>
          <a:bodyPr/>
          <a:p/>
        </p:txBody>
      </p:sp>
      <p:sp>
        <p:nvSpPr>
          <p:cNvPr id="13" name="Text 11"/>
          <p:cNvSpPr/>
          <p:nvPr/>
        </p:nvSpPr>
        <p:spPr>
          <a:xfrm>
            <a:off x="777240"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Ellipse Tool</a:t>
            </a:r>
            <a:endParaRPr lang="en-US" sz="1920" dirty="0"/>
          </a:p>
        </p:txBody>
      </p:sp>
      <p:sp>
        <p:nvSpPr>
          <p:cNvPr id="14" name="Text 12"/>
          <p:cNvSpPr/>
          <p:nvPr/>
        </p:nvSpPr>
        <p:spPr>
          <a:xfrm>
            <a:off x="777240"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Creates circles and ovals. Hold the appropriate modifier key to constrain proportions if your software supports it.</a:t>
            </a:r>
            <a:endParaRPr lang="en-US" sz="1700" dirty="0"/>
          </a:p>
        </p:txBody>
      </p:sp>
      <p:sp>
        <p:nvSpPr>
          <p:cNvPr id="15" name="Shape 13"/>
          <p:cNvSpPr/>
          <p:nvPr/>
        </p:nvSpPr>
        <p:spPr>
          <a:xfrm>
            <a:off x="4443984"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6" name="Shape 14"/>
          <p:cNvSpPr/>
          <p:nvPr/>
        </p:nvSpPr>
        <p:spPr>
          <a:xfrm>
            <a:off x="4443984" y="2093976"/>
            <a:ext cx="82296" cy="3511296"/>
          </a:xfrm>
          <a:prstGeom prst="rect">
            <a:avLst/>
          </a:prstGeom>
          <a:solidFill>
            <a:srgbClr val="F0AE4C"/>
          </a:solidFill>
          <a:ln w="12700">
            <a:solidFill>
              <a:srgbClr val="F0AE4C"/>
            </a:solidFill>
            <a:prstDash val="solid"/>
          </a:ln>
        </p:spPr>
        <p:txBody>
          <a:bodyPr/>
          <a:p/>
        </p:txBody>
      </p:sp>
      <p:sp>
        <p:nvSpPr>
          <p:cNvPr id="17" name="Text 15"/>
          <p:cNvSpPr/>
          <p:nvPr/>
        </p:nvSpPr>
        <p:spPr>
          <a:xfrm>
            <a:off x="4645152"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Rectangle Tool</a:t>
            </a:r>
            <a:endParaRPr lang="en-US" sz="1920" dirty="0"/>
          </a:p>
        </p:txBody>
      </p:sp>
      <p:sp>
        <p:nvSpPr>
          <p:cNvPr id="18" name="Text 16"/>
          <p:cNvSpPr/>
          <p:nvPr/>
        </p:nvSpPr>
        <p:spPr>
          <a:xfrm>
            <a:off x="4645152"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Creates rectangular elements, such as banners, simple pages and icon bases.</a:t>
            </a:r>
            <a:endParaRPr lang="en-US" sz="1700" dirty="0"/>
          </a:p>
        </p:txBody>
      </p:sp>
      <p:sp>
        <p:nvSpPr>
          <p:cNvPr id="19" name="Shape 17"/>
          <p:cNvSpPr/>
          <p:nvPr/>
        </p:nvSpPr>
        <p:spPr>
          <a:xfrm>
            <a:off x="8311896"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20" name="Shape 18"/>
          <p:cNvSpPr/>
          <p:nvPr/>
        </p:nvSpPr>
        <p:spPr>
          <a:xfrm>
            <a:off x="8311896" y="2093976"/>
            <a:ext cx="82296" cy="3511296"/>
          </a:xfrm>
          <a:prstGeom prst="rect">
            <a:avLst/>
          </a:prstGeom>
          <a:solidFill>
            <a:srgbClr val="537891"/>
          </a:solidFill>
          <a:ln w="12700">
            <a:solidFill>
              <a:srgbClr val="537891"/>
            </a:solidFill>
            <a:prstDash val="solid"/>
          </a:ln>
        </p:spPr>
        <p:txBody>
          <a:bodyPr/>
          <a:p/>
        </p:txBody>
      </p:sp>
      <p:sp>
        <p:nvSpPr>
          <p:cNvPr id="21" name="Text 19"/>
          <p:cNvSpPr/>
          <p:nvPr/>
        </p:nvSpPr>
        <p:spPr>
          <a:xfrm>
            <a:off x="8513064"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Selection Tool</a:t>
            </a:r>
            <a:endParaRPr lang="en-US" sz="1920" dirty="0"/>
          </a:p>
        </p:txBody>
      </p:sp>
      <p:sp>
        <p:nvSpPr>
          <p:cNvPr id="22" name="Text 20"/>
          <p:cNvSpPr/>
          <p:nvPr/>
        </p:nvSpPr>
        <p:spPr>
          <a:xfrm>
            <a:off x="8513064"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Moves, scales and selects the shapes already drawn. Use it before changing the objects’ positions.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ILLUSTRATION</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Our three-shape learning icon</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A recognisable symbol can be built without complicated path drawing.</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11</a:t>
            </a:r>
            <a:endParaRPr lang="en-US" sz="1100" dirty="0"/>
          </a:p>
        </p:txBody>
      </p:sp>
      <p:sp>
        <p:nvSpPr>
          <p:cNvPr id="11" name="Shape 9"/>
          <p:cNvSpPr/>
          <p:nvPr/>
        </p:nvSpPr>
        <p:spPr>
          <a:xfrm>
            <a:off x="548640" y="2029968"/>
            <a:ext cx="11018520" cy="3538728"/>
          </a:xfrm>
          <a:prstGeom prst="roundRect">
            <a:avLst>
              <a:gd name="adj" fmla="val 2842"/>
            </a:avLst>
          </a:prstGeom>
          <a:solidFill>
            <a:srgbClr val="FFFFFF"/>
          </a:solidFill>
          <a:ln w="12700">
            <a:solidFill>
              <a:srgbClr val="CADDE7"/>
            </a:solidFill>
            <a:prstDash val="solid"/>
          </a:ln>
        </p:spPr>
        <p:txBody>
          <a:bodyPr/>
          <a:p/>
        </p:txBody>
      </p:sp>
      <p:pic>
        <p:nvPicPr>
          <p:cNvPr id="12" name="Image 0" descr="/mnt/data/ITT06105_Condensed_L06_Package/resources/Three_Shapes_Explained.png">    </p:cNvPr>
          <p:cNvPicPr>
            <a:picLocks noChangeAspect="1"/>
          </p:cNvPicPr>
          <p:nvPr/>
        </p:nvPicPr>
        <p:blipFill>
          <a:blip r:embed="rId1"/>
          <a:stretch>
            <a:fillRect/>
          </a:stretch>
        </p:blipFill>
        <p:spPr>
          <a:xfrm>
            <a:off x="822960" y="2194560"/>
            <a:ext cx="10488168" cy="3017520"/>
          </a:xfrm>
          <a:prstGeom prst="rect">
            <a:avLst/>
          </a:prstGeom>
        </p:spPr>
      </p:pic>
      <p:sp>
        <p:nvSpPr>
          <p:cNvPr id="13" name="Shape 10"/>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14" name="Text 11"/>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Create each part as a separate object first; then align and group them.</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FILL &amp; STROKE</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Two properties give shapes their appearance</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Fill and stroke are separate controls in a vector editor.</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12</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Fill</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The fill is the interior colour of a shape. In our model icon, a warm gold fill identifies the main bulb. A shape can also be set to no fill.</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Stroke</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The stroke is the line along the shape’s boundary. A dark outline can improve the symbol’s definition, especially when used against a pale page.</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Use only a small number of colours and keep the outlines consistent.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FILL &amp; STROKE</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Fill and stroke: practical decisions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Avoid choosing colours just because they are available.</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13</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Use colour with a purpose</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The bulb can be gold to suggest an idea; the base can be teal to fit the Tumaini project. A limited palette makes the symbol look intentional.</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Check readability</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A very thin outline may disappear at small sizes. If the icon looks cluttered, simplify its details rather than adding more colour.</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A strong simple icon still works when it is reduced in size.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WORKED EXAMPLE</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Construct the lightbulb from three shapes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Start by drawing each object at approximately the correct size.</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14</a:t>
            </a:r>
            <a:endParaRPr lang="en-US" sz="1100" dirty="0"/>
          </a:p>
        </p:txBody>
      </p:sp>
      <p:sp>
        <p:nvSpPr>
          <p:cNvPr id="11" name="Shape 9"/>
          <p:cNvSpPr/>
          <p:nvPr/>
        </p:nvSpPr>
        <p:spPr>
          <a:xfrm>
            <a:off x="557784" y="2039112"/>
            <a:ext cx="6537960" cy="3639312"/>
          </a:xfrm>
          <a:prstGeom prst="roundRect">
            <a:avLst>
              <a:gd name="adj" fmla="val 2513"/>
            </a:avLst>
          </a:prstGeom>
          <a:solidFill>
            <a:srgbClr val="FFFFFF"/>
          </a:solidFill>
          <a:ln w="12700">
            <a:solidFill>
              <a:srgbClr val="CADDE7"/>
            </a:solidFill>
            <a:prstDash val="solid"/>
          </a:ln>
        </p:spPr>
        <p:txBody>
          <a:bodyPr/>
          <a:p/>
        </p:txBody>
      </p:sp>
      <p:pic>
        <p:nvPicPr>
          <p:cNvPr id="12" name="Image 0" descr="/mnt/data/ITT06105_Condensed_L06_Package/resources/Tumaini_Three_Shape_Starter.png">    </p:cNvPr>
          <p:cNvPicPr>
            <a:picLocks noChangeAspect="1"/>
          </p:cNvPicPr>
          <p:nvPr/>
        </p:nvPicPr>
        <p:blipFill>
          <a:blip r:embed="rId1"/>
          <a:stretch>
            <a:fillRect/>
          </a:stretch>
        </p:blipFill>
        <p:spPr>
          <a:xfrm>
            <a:off x="676656" y="2240280"/>
            <a:ext cx="6272784" cy="3227832"/>
          </a:xfrm>
          <a:prstGeom prst="rect">
            <a:avLst/>
          </a:prstGeom>
        </p:spPr>
      </p:pic>
      <p:sp>
        <p:nvSpPr>
          <p:cNvPr id="13" name="Shape 10"/>
          <p:cNvSpPr/>
          <p:nvPr/>
        </p:nvSpPr>
        <p:spPr>
          <a:xfrm>
            <a:off x="7306056" y="2039112"/>
            <a:ext cx="4315968" cy="1737360"/>
          </a:xfrm>
          <a:prstGeom prst="roundRect">
            <a:avLst>
              <a:gd name="adj" fmla="val 6316"/>
            </a:avLst>
          </a:prstGeom>
          <a:solidFill>
            <a:srgbClr val="FFFFFF"/>
          </a:solidFill>
          <a:ln w="10160">
            <a:solidFill>
              <a:srgbClr val="CADDE7"/>
            </a:solidFill>
            <a:prstDash val="solid"/>
          </a:ln>
        </p:spPr>
        <p:txBody>
          <a:bodyPr/>
          <a:p/>
        </p:txBody>
      </p:sp>
      <p:sp>
        <p:nvSpPr>
          <p:cNvPr id="14" name="Shape 11"/>
          <p:cNvSpPr/>
          <p:nvPr/>
        </p:nvSpPr>
        <p:spPr>
          <a:xfrm>
            <a:off x="7306056" y="2048256"/>
            <a:ext cx="82296" cy="1719072"/>
          </a:xfrm>
          <a:prstGeom prst="rect">
            <a:avLst/>
          </a:prstGeom>
          <a:solidFill>
            <a:srgbClr val="087F89"/>
          </a:solidFill>
          <a:ln w="12700">
            <a:solidFill>
              <a:srgbClr val="087F89"/>
            </a:solidFill>
            <a:prstDash val="solid"/>
          </a:ln>
        </p:spPr>
        <p:txBody>
          <a:bodyPr/>
          <a:p/>
        </p:txBody>
      </p:sp>
      <p:sp>
        <p:nvSpPr>
          <p:cNvPr id="15" name="Text 12"/>
          <p:cNvSpPr/>
          <p:nvPr/>
        </p:nvSpPr>
        <p:spPr>
          <a:xfrm>
            <a:off x="7507224" y="2194560"/>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1 — Bulb</a:t>
            </a:r>
            <a:endParaRPr lang="en-US" sz="1920" dirty="0"/>
          </a:p>
        </p:txBody>
      </p:sp>
      <p:sp>
        <p:nvSpPr>
          <p:cNvPr id="16" name="Text 13"/>
          <p:cNvSpPr/>
          <p:nvPr/>
        </p:nvSpPr>
        <p:spPr>
          <a:xfrm>
            <a:off x="7507224" y="2660904"/>
            <a:ext cx="3867912" cy="960120"/>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Draw an ellipse at the upper centre of the artboard.</a:t>
            </a:r>
            <a:endParaRPr lang="en-US" sz="1650" dirty="0"/>
          </a:p>
        </p:txBody>
      </p:sp>
      <p:sp>
        <p:nvSpPr>
          <p:cNvPr id="17" name="Shape 14"/>
          <p:cNvSpPr/>
          <p:nvPr/>
        </p:nvSpPr>
        <p:spPr>
          <a:xfrm>
            <a:off x="7306056" y="3904488"/>
            <a:ext cx="4315968" cy="1773936"/>
          </a:xfrm>
          <a:prstGeom prst="roundRect">
            <a:avLst>
              <a:gd name="adj" fmla="val 6186"/>
            </a:avLst>
          </a:prstGeom>
          <a:solidFill>
            <a:srgbClr val="FFFFFF"/>
          </a:solidFill>
          <a:ln w="10160">
            <a:solidFill>
              <a:srgbClr val="CADDE7"/>
            </a:solidFill>
            <a:prstDash val="solid"/>
          </a:ln>
        </p:spPr>
        <p:txBody>
          <a:bodyPr/>
          <a:p/>
        </p:txBody>
      </p:sp>
      <p:sp>
        <p:nvSpPr>
          <p:cNvPr id="18" name="Shape 15"/>
          <p:cNvSpPr/>
          <p:nvPr/>
        </p:nvSpPr>
        <p:spPr>
          <a:xfrm>
            <a:off x="7306056" y="3913632"/>
            <a:ext cx="82296" cy="1755648"/>
          </a:xfrm>
          <a:prstGeom prst="rect">
            <a:avLst/>
          </a:prstGeom>
          <a:solidFill>
            <a:srgbClr val="F0AE4C"/>
          </a:solidFill>
          <a:ln w="12700">
            <a:solidFill>
              <a:srgbClr val="F0AE4C"/>
            </a:solidFill>
            <a:prstDash val="solid"/>
          </a:ln>
        </p:spPr>
        <p:txBody>
          <a:bodyPr/>
          <a:p/>
        </p:txBody>
      </p:sp>
      <p:sp>
        <p:nvSpPr>
          <p:cNvPr id="19" name="Text 16"/>
          <p:cNvSpPr/>
          <p:nvPr/>
        </p:nvSpPr>
        <p:spPr>
          <a:xfrm>
            <a:off x="7507224" y="4059936"/>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2 and 3 — Neck/base</a:t>
            </a:r>
            <a:endParaRPr lang="en-US" sz="1920" dirty="0"/>
          </a:p>
        </p:txBody>
      </p:sp>
      <p:sp>
        <p:nvSpPr>
          <p:cNvPr id="20" name="Text 17"/>
          <p:cNvSpPr/>
          <p:nvPr/>
        </p:nvSpPr>
        <p:spPr>
          <a:xfrm>
            <a:off x="7507224" y="4526280"/>
            <a:ext cx="3867912" cy="996696"/>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Draw two rounded rectangles beneath it; position them using the same vertical centre.</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OBJECTS</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Layer order and shape overlap</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The position of objects on top of one another can affect the finished icon.</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15</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In front / behind</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A new shape may cover part of an older one. Use Arrange or the object-order controls to bring an element forward or send it behind.</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Our icon</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The narrow neck should meet the ellipse cleanly, and the base should connect beneath it. Small overlaps are acceptable if no unwanted lines remain visible.</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Check overlap at normal size rather than only while zoomed in closely.</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ALIGNMENT</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Align shapes to a shared centre</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Good alignment makes a simple icon look deliberate.</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16</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Before alignment</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A bulb, neck and base may be slightly off-centre when drawn with the mouse. The error can make the icon appear unstable.</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After alignment</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Select the objects and use horizontal-centre alignment. If your application aligns to the whole selection, check whether the result matches the intended visual centre.</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Do not rely only on guesswork; use alignment tools and then inspect visually.</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SELECTION</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Select, move and resize objects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These are everyday operations in vector design.</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17</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Selection</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Use the Selection Tool to click one shape or select several objects. The bounding box shows which objects are active.</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Resizing</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Drag a handle while preserving proportions when needed. If the bulb becomes too narrow or too wide, the icon may lose its intended meaning.</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Deselect and examine the full composition after every major adjustment.</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GROUPING</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Why group related objects?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Grouping makes it easier to move a finished icon without losing its construction.</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18</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Before grouping</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Each part is independent. Moving only the bulb could leave the neck and base behind.</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After grouping</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Select all three shapes and choose Group (commonly Ctrl+G). They can now move together while remaining editable when you enter or ungroup the set.</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Save a grouped version for reuse, but keep the vector objects editable.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QUALITY</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Three tests for a useful icon</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Apply these checks before you export the design.</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19</a:t>
            </a:r>
            <a:endParaRPr lang="en-US" sz="1100" dirty="0"/>
          </a:p>
        </p:txBody>
      </p:sp>
      <p:sp>
        <p:nvSpPr>
          <p:cNvPr id="11" name="Shape 9"/>
          <p:cNvSpPr/>
          <p:nvPr/>
        </p:nvSpPr>
        <p:spPr>
          <a:xfrm>
            <a:off x="576072"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2" name="Shape 10"/>
          <p:cNvSpPr/>
          <p:nvPr/>
        </p:nvSpPr>
        <p:spPr>
          <a:xfrm>
            <a:off x="576072" y="2093976"/>
            <a:ext cx="82296" cy="3511296"/>
          </a:xfrm>
          <a:prstGeom prst="rect">
            <a:avLst/>
          </a:prstGeom>
          <a:solidFill>
            <a:srgbClr val="087F89"/>
          </a:solidFill>
          <a:ln w="12700">
            <a:solidFill>
              <a:srgbClr val="087F89"/>
            </a:solidFill>
            <a:prstDash val="solid"/>
          </a:ln>
        </p:spPr>
        <p:txBody>
          <a:bodyPr/>
          <a:p/>
        </p:txBody>
      </p:sp>
      <p:sp>
        <p:nvSpPr>
          <p:cNvPr id="13" name="Text 11"/>
          <p:cNvSpPr/>
          <p:nvPr/>
        </p:nvSpPr>
        <p:spPr>
          <a:xfrm>
            <a:off x="777240"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Recognisable</a:t>
            </a:r>
            <a:endParaRPr lang="en-US" sz="1920" dirty="0"/>
          </a:p>
        </p:txBody>
      </p:sp>
      <p:sp>
        <p:nvSpPr>
          <p:cNvPr id="14" name="Text 12"/>
          <p:cNvSpPr/>
          <p:nvPr/>
        </p:nvSpPr>
        <p:spPr>
          <a:xfrm>
            <a:off x="777240"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Can someone identify the idea represented without an explanation? If not, simplify or adjust the proportions.</a:t>
            </a:r>
            <a:endParaRPr lang="en-US" sz="1700" dirty="0"/>
          </a:p>
        </p:txBody>
      </p:sp>
      <p:sp>
        <p:nvSpPr>
          <p:cNvPr id="15" name="Shape 13"/>
          <p:cNvSpPr/>
          <p:nvPr/>
        </p:nvSpPr>
        <p:spPr>
          <a:xfrm>
            <a:off x="4443984"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6" name="Shape 14"/>
          <p:cNvSpPr/>
          <p:nvPr/>
        </p:nvSpPr>
        <p:spPr>
          <a:xfrm>
            <a:off x="4443984" y="2093976"/>
            <a:ext cx="82296" cy="3511296"/>
          </a:xfrm>
          <a:prstGeom prst="rect">
            <a:avLst/>
          </a:prstGeom>
          <a:solidFill>
            <a:srgbClr val="F0AE4C"/>
          </a:solidFill>
          <a:ln w="12700">
            <a:solidFill>
              <a:srgbClr val="F0AE4C"/>
            </a:solidFill>
            <a:prstDash val="solid"/>
          </a:ln>
        </p:spPr>
        <p:txBody>
          <a:bodyPr/>
          <a:p/>
        </p:txBody>
      </p:sp>
      <p:sp>
        <p:nvSpPr>
          <p:cNvPr id="17" name="Text 15"/>
          <p:cNvSpPr/>
          <p:nvPr/>
        </p:nvSpPr>
        <p:spPr>
          <a:xfrm>
            <a:off x="4645152"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Consistent</a:t>
            </a:r>
            <a:endParaRPr lang="en-US" sz="1920" dirty="0"/>
          </a:p>
        </p:txBody>
      </p:sp>
      <p:sp>
        <p:nvSpPr>
          <p:cNvPr id="18" name="Text 16"/>
          <p:cNvSpPr/>
          <p:nvPr/>
        </p:nvSpPr>
        <p:spPr>
          <a:xfrm>
            <a:off x="4645152"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Are the edges, colours, alignment and shape relationships tidy?</a:t>
            </a:r>
            <a:endParaRPr lang="en-US" sz="1700" dirty="0"/>
          </a:p>
        </p:txBody>
      </p:sp>
      <p:sp>
        <p:nvSpPr>
          <p:cNvPr id="19" name="Shape 17"/>
          <p:cNvSpPr/>
          <p:nvPr/>
        </p:nvSpPr>
        <p:spPr>
          <a:xfrm>
            <a:off x="8311896"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20" name="Shape 18"/>
          <p:cNvSpPr/>
          <p:nvPr/>
        </p:nvSpPr>
        <p:spPr>
          <a:xfrm>
            <a:off x="8311896" y="2093976"/>
            <a:ext cx="82296" cy="3511296"/>
          </a:xfrm>
          <a:prstGeom prst="rect">
            <a:avLst/>
          </a:prstGeom>
          <a:solidFill>
            <a:srgbClr val="537891"/>
          </a:solidFill>
          <a:ln w="12700">
            <a:solidFill>
              <a:srgbClr val="537891"/>
            </a:solidFill>
            <a:prstDash val="solid"/>
          </a:ln>
        </p:spPr>
        <p:txBody>
          <a:bodyPr/>
          <a:p/>
        </p:txBody>
      </p:sp>
      <p:sp>
        <p:nvSpPr>
          <p:cNvPr id="21" name="Text 19"/>
          <p:cNvSpPr/>
          <p:nvPr/>
        </p:nvSpPr>
        <p:spPr>
          <a:xfrm>
            <a:off x="8513064"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Reusable</a:t>
            </a:r>
            <a:endParaRPr lang="en-US" sz="1920" dirty="0"/>
          </a:p>
        </p:txBody>
      </p:sp>
      <p:sp>
        <p:nvSpPr>
          <p:cNvPr id="22" name="Text 20"/>
          <p:cNvSpPr/>
          <p:nvPr/>
        </p:nvSpPr>
        <p:spPr>
          <a:xfrm>
            <a:off x="8513064"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Will the icon remain clear against a white or coloured background and when reduced?</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QUALITY</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Inspect the icon at more than one size</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A design that looks good when large can still fail as a small publication symbol.</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20</a:t>
            </a:r>
            <a:endParaRPr lang="en-US" sz="1100" dirty="0"/>
          </a:p>
        </p:txBody>
      </p:sp>
      <p:sp>
        <p:nvSpPr>
          <p:cNvPr id="11" name="Shape 9"/>
          <p:cNvSpPr/>
          <p:nvPr/>
        </p:nvSpPr>
        <p:spPr>
          <a:xfrm>
            <a:off x="557784" y="2039112"/>
            <a:ext cx="6537960" cy="3639312"/>
          </a:xfrm>
          <a:prstGeom prst="roundRect">
            <a:avLst>
              <a:gd name="adj" fmla="val 2513"/>
            </a:avLst>
          </a:prstGeom>
          <a:solidFill>
            <a:srgbClr val="FFFFFF"/>
          </a:solidFill>
          <a:ln w="12700">
            <a:solidFill>
              <a:srgbClr val="CADDE7"/>
            </a:solidFill>
            <a:prstDash val="solid"/>
          </a:ln>
        </p:spPr>
        <p:txBody>
          <a:bodyPr/>
          <a:p/>
        </p:txBody>
      </p:sp>
      <p:pic>
        <p:nvPicPr>
          <p:cNvPr id="12" name="Image 0" descr="/mnt/data/ITT06105_Condensed_L06_Package/resources/Vector_Scale_Comparison.png">    </p:cNvPr>
          <p:cNvPicPr>
            <a:picLocks noChangeAspect="1"/>
          </p:cNvPicPr>
          <p:nvPr/>
        </p:nvPicPr>
        <p:blipFill>
          <a:blip r:embed="rId1"/>
          <a:stretch>
            <a:fillRect/>
          </a:stretch>
        </p:blipFill>
        <p:spPr>
          <a:xfrm>
            <a:off x="676656" y="2240280"/>
            <a:ext cx="6272784" cy="3227832"/>
          </a:xfrm>
          <a:prstGeom prst="rect">
            <a:avLst/>
          </a:prstGeom>
        </p:spPr>
      </p:pic>
      <p:sp>
        <p:nvSpPr>
          <p:cNvPr id="13" name="Shape 10"/>
          <p:cNvSpPr/>
          <p:nvPr/>
        </p:nvSpPr>
        <p:spPr>
          <a:xfrm>
            <a:off x="7306056" y="2039112"/>
            <a:ext cx="4315968" cy="1737360"/>
          </a:xfrm>
          <a:prstGeom prst="roundRect">
            <a:avLst>
              <a:gd name="adj" fmla="val 6316"/>
            </a:avLst>
          </a:prstGeom>
          <a:solidFill>
            <a:srgbClr val="FFFFFF"/>
          </a:solidFill>
          <a:ln w="10160">
            <a:solidFill>
              <a:srgbClr val="CADDE7"/>
            </a:solidFill>
            <a:prstDash val="solid"/>
          </a:ln>
        </p:spPr>
        <p:txBody>
          <a:bodyPr/>
          <a:p/>
        </p:txBody>
      </p:sp>
      <p:sp>
        <p:nvSpPr>
          <p:cNvPr id="14" name="Shape 11"/>
          <p:cNvSpPr/>
          <p:nvPr/>
        </p:nvSpPr>
        <p:spPr>
          <a:xfrm>
            <a:off x="7306056" y="2048256"/>
            <a:ext cx="82296" cy="1719072"/>
          </a:xfrm>
          <a:prstGeom prst="rect">
            <a:avLst/>
          </a:prstGeom>
          <a:solidFill>
            <a:srgbClr val="087F89"/>
          </a:solidFill>
          <a:ln w="12700">
            <a:solidFill>
              <a:srgbClr val="087F89"/>
            </a:solidFill>
            <a:prstDash val="solid"/>
          </a:ln>
        </p:spPr>
        <p:txBody>
          <a:bodyPr/>
          <a:p/>
        </p:txBody>
      </p:sp>
      <p:sp>
        <p:nvSpPr>
          <p:cNvPr id="15" name="Text 12"/>
          <p:cNvSpPr/>
          <p:nvPr/>
        </p:nvSpPr>
        <p:spPr>
          <a:xfrm>
            <a:off x="7507224" y="2194560"/>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Large view</a:t>
            </a:r>
            <a:endParaRPr lang="en-US" sz="1920" dirty="0"/>
          </a:p>
        </p:txBody>
      </p:sp>
      <p:sp>
        <p:nvSpPr>
          <p:cNvPr id="16" name="Text 13"/>
          <p:cNvSpPr/>
          <p:nvPr/>
        </p:nvSpPr>
        <p:spPr>
          <a:xfrm>
            <a:off x="7507224" y="2660904"/>
            <a:ext cx="3867912" cy="960120"/>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Inspect the overall silhouette and the relative size of each shape.</a:t>
            </a:r>
            <a:endParaRPr lang="en-US" sz="1650" dirty="0"/>
          </a:p>
        </p:txBody>
      </p:sp>
      <p:sp>
        <p:nvSpPr>
          <p:cNvPr id="17" name="Shape 14"/>
          <p:cNvSpPr/>
          <p:nvPr/>
        </p:nvSpPr>
        <p:spPr>
          <a:xfrm>
            <a:off x="7306056" y="3904488"/>
            <a:ext cx="4315968" cy="1773936"/>
          </a:xfrm>
          <a:prstGeom prst="roundRect">
            <a:avLst>
              <a:gd name="adj" fmla="val 6186"/>
            </a:avLst>
          </a:prstGeom>
          <a:solidFill>
            <a:srgbClr val="FFFFFF"/>
          </a:solidFill>
          <a:ln w="10160">
            <a:solidFill>
              <a:srgbClr val="CADDE7"/>
            </a:solidFill>
            <a:prstDash val="solid"/>
          </a:ln>
        </p:spPr>
        <p:txBody>
          <a:bodyPr/>
          <a:p/>
        </p:txBody>
      </p:sp>
      <p:sp>
        <p:nvSpPr>
          <p:cNvPr id="18" name="Shape 15"/>
          <p:cNvSpPr/>
          <p:nvPr/>
        </p:nvSpPr>
        <p:spPr>
          <a:xfrm>
            <a:off x="7306056" y="3913632"/>
            <a:ext cx="82296" cy="1755648"/>
          </a:xfrm>
          <a:prstGeom prst="rect">
            <a:avLst/>
          </a:prstGeom>
          <a:solidFill>
            <a:srgbClr val="F0AE4C"/>
          </a:solidFill>
          <a:ln w="12700">
            <a:solidFill>
              <a:srgbClr val="F0AE4C"/>
            </a:solidFill>
            <a:prstDash val="solid"/>
          </a:ln>
        </p:spPr>
        <p:txBody>
          <a:bodyPr/>
          <a:p/>
        </p:txBody>
      </p:sp>
      <p:sp>
        <p:nvSpPr>
          <p:cNvPr id="19" name="Text 16"/>
          <p:cNvSpPr/>
          <p:nvPr/>
        </p:nvSpPr>
        <p:spPr>
          <a:xfrm>
            <a:off x="7507224" y="4059936"/>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Small view</a:t>
            </a:r>
            <a:endParaRPr lang="en-US" sz="1920" dirty="0"/>
          </a:p>
        </p:txBody>
      </p:sp>
      <p:sp>
        <p:nvSpPr>
          <p:cNvPr id="20" name="Text 17"/>
          <p:cNvSpPr/>
          <p:nvPr/>
        </p:nvSpPr>
        <p:spPr>
          <a:xfrm>
            <a:off x="7507224" y="4526280"/>
            <a:ext cx="3867912" cy="996696"/>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Check that the neck and base remain visible and no important detail has become too thin.</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FILE FORMATS</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The editable source and exported copy have different purposes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Do not submit only a flattened picture if the task asks for editable vector artwork.</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21</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Source file</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Illustrator normally uses .ai as its native source format. Inkscape uses SVG naturally. The source retains editable vector objects.</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Exported copy</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SVG retains vector paths for compatible uses. PNG is a raster image and can preserve transparency; its sharpness depends on its exported pixel dimensions.</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Submit a source file AND one suitable export.</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SVG OR PNG?</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When should you use SVG or PNG?</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Choose the format based on where the image will be used.</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22</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SVG</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Good for simple icons, web graphics and other situations where scalable vector content is supported. Check compatibility with the destination software.</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PNG</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Useful when an application needs a widely supported raster picture or a fixed-size image. Select sufficient pixels for the intended output.</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Neither format is automatically best for every printing or publishing workflow.</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EXPORT</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How to save the Illustrator source</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Save early and use a descriptive file name.</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23</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Illustrator route</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Choose File &gt; Save As or Save, then save an Illustrator (.ai) document to your project folder. Preserve the shapes as editable objects.</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Inkscape route</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Save the design as SVG. Open the saved file again to confirm that objects can still be selected and recoloured.</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Avoid names such as “final2newlatest” that make versions difficult to identify.</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EXPORT</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How to export the icon</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Export only after inspecting the source at normal and small size.</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24</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SVG export</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Choose a suitable SVG save/export route. Reopen the SVG to confirm that all three objects appear and the colours remain correct.</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PNG export</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Use the export controls to select the artboard or drawing, then choose the pixel dimensions. Inspect the output against a pale and a dark background.</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Exporting a picture does not replace the editable source file.</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GUIDED PRACTICE</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Practical: build the lightbulb icon</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Follow this sequence using Illustrator or Inkscape.</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25</a:t>
            </a:r>
            <a:endParaRPr lang="en-US" sz="1100" dirty="0"/>
          </a:p>
        </p:txBody>
      </p:sp>
      <p:sp>
        <p:nvSpPr>
          <p:cNvPr id="11" name="Shape 9"/>
          <p:cNvSpPr/>
          <p:nvPr/>
        </p:nvSpPr>
        <p:spPr>
          <a:xfrm>
            <a:off x="621792" y="2029968"/>
            <a:ext cx="10927080" cy="786384"/>
          </a:xfrm>
          <a:prstGeom prst="roundRect">
            <a:avLst>
              <a:gd name="adj" fmla="val 12791"/>
            </a:avLst>
          </a:prstGeom>
          <a:solidFill>
            <a:srgbClr val="FFFFFF"/>
          </a:solidFill>
          <a:ln w="12700">
            <a:solidFill>
              <a:srgbClr val="CADDE7"/>
            </a:solidFill>
            <a:prstDash val="solid"/>
          </a:ln>
        </p:spPr>
        <p:txBody>
          <a:bodyPr/>
          <a:p/>
        </p:txBody>
      </p:sp>
      <p:sp>
        <p:nvSpPr>
          <p:cNvPr id="12" name="Shape 10"/>
          <p:cNvSpPr/>
          <p:nvPr/>
        </p:nvSpPr>
        <p:spPr>
          <a:xfrm>
            <a:off x="768096" y="2167128"/>
            <a:ext cx="457200" cy="457200"/>
          </a:xfrm>
          <a:prstGeom prst="ellipse">
            <a:avLst/>
          </a:prstGeom>
          <a:solidFill>
            <a:srgbClr val="087F89"/>
          </a:solidFill>
          <a:ln w="12700">
            <a:solidFill>
              <a:srgbClr val="087F89"/>
            </a:solidFill>
            <a:prstDash val="solid"/>
          </a:ln>
        </p:spPr>
        <p:txBody>
          <a:bodyPr/>
          <a:p/>
        </p:txBody>
      </p:sp>
      <p:sp>
        <p:nvSpPr>
          <p:cNvPr id="13" name="Text 11"/>
          <p:cNvSpPr/>
          <p:nvPr/>
        </p:nvSpPr>
        <p:spPr>
          <a:xfrm>
            <a:off x="841248" y="2240280"/>
            <a:ext cx="310896"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4" name="Text 12"/>
          <p:cNvSpPr/>
          <p:nvPr/>
        </p:nvSpPr>
        <p:spPr>
          <a:xfrm>
            <a:off x="1399032" y="2139696"/>
            <a:ext cx="9857232" cy="594360"/>
          </a:xfrm>
          <a:prstGeom prst="rect">
            <a:avLst/>
          </a:prstGeom>
          <a:noFill/>
          <a:ln/>
        </p:spPr>
        <p:txBody>
          <a:bodyPr wrap="square" lIns="0" tIns="0" rIns="0" bIns="0" rtlCol="0" anchor="ctr">
            <a:normAutofit/>
          </a:bodyPr>
          <a:lstStyle/>
          <a:p>
            <a:pPr algn="l" indent="0" marL="0">
              <a:buNone/>
            </a:pPr>
            <a:r>
              <a:rPr lang="en-US" sz="1750" dirty="0">
                <a:solidFill>
                  <a:srgbClr val="1A3453"/>
                </a:solidFill>
                <a:latin typeface="Aptos" pitchFamily="34" charset="0"/>
                <a:ea typeface="Aptos" pitchFamily="34" charset="-122"/>
                <a:cs typeface="Aptos" pitchFamily="34" charset="-120"/>
              </a:rPr>
              <a:t>Create an 800 × 800 square document and give it a sensible file name.</a:t>
            </a:r>
            <a:endParaRPr lang="en-US" sz="1750" dirty="0"/>
          </a:p>
        </p:txBody>
      </p:sp>
      <p:sp>
        <p:nvSpPr>
          <p:cNvPr id="15" name="Shape 13"/>
          <p:cNvSpPr/>
          <p:nvPr/>
        </p:nvSpPr>
        <p:spPr>
          <a:xfrm>
            <a:off x="621792" y="2962656"/>
            <a:ext cx="10927080" cy="786384"/>
          </a:xfrm>
          <a:prstGeom prst="roundRect">
            <a:avLst>
              <a:gd name="adj" fmla="val 12791"/>
            </a:avLst>
          </a:prstGeom>
          <a:solidFill>
            <a:srgbClr val="FFFFFF"/>
          </a:solidFill>
          <a:ln w="12700">
            <a:solidFill>
              <a:srgbClr val="CADDE7"/>
            </a:solidFill>
            <a:prstDash val="solid"/>
          </a:ln>
        </p:spPr>
        <p:txBody>
          <a:bodyPr/>
          <a:p/>
        </p:txBody>
      </p:sp>
      <p:sp>
        <p:nvSpPr>
          <p:cNvPr id="16" name="Shape 14"/>
          <p:cNvSpPr/>
          <p:nvPr/>
        </p:nvSpPr>
        <p:spPr>
          <a:xfrm>
            <a:off x="768096" y="3099816"/>
            <a:ext cx="457200" cy="457200"/>
          </a:xfrm>
          <a:prstGeom prst="ellipse">
            <a:avLst/>
          </a:prstGeom>
          <a:solidFill>
            <a:srgbClr val="087F89"/>
          </a:solidFill>
          <a:ln w="12700">
            <a:solidFill>
              <a:srgbClr val="087F89"/>
            </a:solidFill>
            <a:prstDash val="solid"/>
          </a:ln>
        </p:spPr>
        <p:txBody>
          <a:bodyPr/>
          <a:p/>
        </p:txBody>
      </p:sp>
      <p:sp>
        <p:nvSpPr>
          <p:cNvPr id="17" name="Text 15"/>
          <p:cNvSpPr/>
          <p:nvPr/>
        </p:nvSpPr>
        <p:spPr>
          <a:xfrm>
            <a:off x="841248" y="3172968"/>
            <a:ext cx="310896"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8" name="Text 16"/>
          <p:cNvSpPr/>
          <p:nvPr/>
        </p:nvSpPr>
        <p:spPr>
          <a:xfrm>
            <a:off x="1399032" y="3072384"/>
            <a:ext cx="9857232" cy="594360"/>
          </a:xfrm>
          <a:prstGeom prst="rect">
            <a:avLst/>
          </a:prstGeom>
          <a:noFill/>
          <a:ln/>
        </p:spPr>
        <p:txBody>
          <a:bodyPr wrap="square" lIns="0" tIns="0" rIns="0" bIns="0" rtlCol="0" anchor="ctr">
            <a:normAutofit/>
          </a:bodyPr>
          <a:lstStyle/>
          <a:p>
            <a:pPr algn="l" indent="0" marL="0">
              <a:buNone/>
            </a:pPr>
            <a:r>
              <a:rPr lang="en-US" sz="1750" dirty="0">
                <a:solidFill>
                  <a:srgbClr val="1A3453"/>
                </a:solidFill>
                <a:latin typeface="Aptos" pitchFamily="34" charset="0"/>
                <a:ea typeface="Aptos" pitchFamily="34" charset="-122"/>
                <a:cs typeface="Aptos" pitchFamily="34" charset="-120"/>
              </a:rPr>
              <a:t>Draw one ellipse and two rounded rectangles using shape tools.</a:t>
            </a:r>
            <a:endParaRPr lang="en-US" sz="1750" dirty="0"/>
          </a:p>
        </p:txBody>
      </p:sp>
      <p:sp>
        <p:nvSpPr>
          <p:cNvPr id="19" name="Shape 17"/>
          <p:cNvSpPr/>
          <p:nvPr/>
        </p:nvSpPr>
        <p:spPr>
          <a:xfrm>
            <a:off x="621792" y="3895344"/>
            <a:ext cx="10927080" cy="786384"/>
          </a:xfrm>
          <a:prstGeom prst="roundRect">
            <a:avLst>
              <a:gd name="adj" fmla="val 12791"/>
            </a:avLst>
          </a:prstGeom>
          <a:solidFill>
            <a:srgbClr val="FFFFFF"/>
          </a:solidFill>
          <a:ln w="12700">
            <a:solidFill>
              <a:srgbClr val="CADDE7"/>
            </a:solidFill>
            <a:prstDash val="solid"/>
          </a:ln>
        </p:spPr>
        <p:txBody>
          <a:bodyPr/>
          <a:p/>
        </p:txBody>
      </p:sp>
      <p:sp>
        <p:nvSpPr>
          <p:cNvPr id="20" name="Shape 18"/>
          <p:cNvSpPr/>
          <p:nvPr/>
        </p:nvSpPr>
        <p:spPr>
          <a:xfrm>
            <a:off x="768096" y="4032504"/>
            <a:ext cx="457200" cy="457200"/>
          </a:xfrm>
          <a:prstGeom prst="ellipse">
            <a:avLst/>
          </a:prstGeom>
          <a:solidFill>
            <a:srgbClr val="087F89"/>
          </a:solidFill>
          <a:ln w="12700">
            <a:solidFill>
              <a:srgbClr val="087F89"/>
            </a:solidFill>
            <a:prstDash val="solid"/>
          </a:ln>
        </p:spPr>
        <p:txBody>
          <a:bodyPr/>
          <a:p/>
        </p:txBody>
      </p:sp>
      <p:sp>
        <p:nvSpPr>
          <p:cNvPr id="21" name="Text 19"/>
          <p:cNvSpPr/>
          <p:nvPr/>
        </p:nvSpPr>
        <p:spPr>
          <a:xfrm>
            <a:off x="841248" y="4105656"/>
            <a:ext cx="310896"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2" name="Text 20"/>
          <p:cNvSpPr/>
          <p:nvPr/>
        </p:nvSpPr>
        <p:spPr>
          <a:xfrm>
            <a:off x="1399032" y="4005072"/>
            <a:ext cx="9857232" cy="594360"/>
          </a:xfrm>
          <a:prstGeom prst="rect">
            <a:avLst/>
          </a:prstGeom>
          <a:noFill/>
          <a:ln/>
        </p:spPr>
        <p:txBody>
          <a:bodyPr wrap="square" lIns="0" tIns="0" rIns="0" bIns="0" rtlCol="0" anchor="ctr">
            <a:normAutofit/>
          </a:bodyPr>
          <a:lstStyle/>
          <a:p>
            <a:pPr algn="l" indent="0" marL="0">
              <a:buNone/>
            </a:pPr>
            <a:r>
              <a:rPr lang="en-US" sz="1750" dirty="0">
                <a:solidFill>
                  <a:srgbClr val="1A3453"/>
                </a:solidFill>
                <a:latin typeface="Aptos" pitchFamily="34" charset="0"/>
                <a:ea typeface="Aptos" pitchFamily="34" charset="-122"/>
                <a:cs typeface="Aptos" pitchFamily="34" charset="-120"/>
              </a:rPr>
              <a:t>Apply a small colour palette and a consistent outline.</a:t>
            </a:r>
            <a:endParaRPr lang="en-US" sz="1750" dirty="0"/>
          </a:p>
        </p:txBody>
      </p:sp>
      <p:sp>
        <p:nvSpPr>
          <p:cNvPr id="23" name="Shape 21"/>
          <p:cNvSpPr/>
          <p:nvPr/>
        </p:nvSpPr>
        <p:spPr>
          <a:xfrm>
            <a:off x="621792" y="4828032"/>
            <a:ext cx="10927080" cy="786384"/>
          </a:xfrm>
          <a:prstGeom prst="roundRect">
            <a:avLst>
              <a:gd name="adj" fmla="val 12791"/>
            </a:avLst>
          </a:prstGeom>
          <a:solidFill>
            <a:srgbClr val="FFFFFF"/>
          </a:solidFill>
          <a:ln w="12700">
            <a:solidFill>
              <a:srgbClr val="CADDE7"/>
            </a:solidFill>
            <a:prstDash val="solid"/>
          </a:ln>
        </p:spPr>
        <p:txBody>
          <a:bodyPr/>
          <a:p/>
        </p:txBody>
      </p:sp>
      <p:sp>
        <p:nvSpPr>
          <p:cNvPr id="24" name="Shape 22"/>
          <p:cNvSpPr/>
          <p:nvPr/>
        </p:nvSpPr>
        <p:spPr>
          <a:xfrm>
            <a:off x="768096" y="4965192"/>
            <a:ext cx="457200" cy="457200"/>
          </a:xfrm>
          <a:prstGeom prst="ellipse">
            <a:avLst/>
          </a:prstGeom>
          <a:solidFill>
            <a:srgbClr val="087F89"/>
          </a:solidFill>
          <a:ln w="12700">
            <a:solidFill>
              <a:srgbClr val="087F89"/>
            </a:solidFill>
            <a:prstDash val="solid"/>
          </a:ln>
        </p:spPr>
        <p:txBody>
          <a:bodyPr/>
          <a:p/>
        </p:txBody>
      </p:sp>
      <p:sp>
        <p:nvSpPr>
          <p:cNvPr id="25" name="Text 23"/>
          <p:cNvSpPr/>
          <p:nvPr/>
        </p:nvSpPr>
        <p:spPr>
          <a:xfrm>
            <a:off x="841248" y="5038344"/>
            <a:ext cx="310896"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6" name="Text 24"/>
          <p:cNvSpPr/>
          <p:nvPr/>
        </p:nvSpPr>
        <p:spPr>
          <a:xfrm>
            <a:off x="1399032" y="4937760"/>
            <a:ext cx="9857232" cy="594360"/>
          </a:xfrm>
          <a:prstGeom prst="rect">
            <a:avLst/>
          </a:prstGeom>
          <a:noFill/>
          <a:ln/>
        </p:spPr>
        <p:txBody>
          <a:bodyPr wrap="square" lIns="0" tIns="0" rIns="0" bIns="0" rtlCol="0" anchor="ctr">
            <a:normAutofit/>
          </a:bodyPr>
          <a:lstStyle/>
          <a:p>
            <a:pPr algn="l" indent="0" marL="0">
              <a:buNone/>
            </a:pPr>
            <a:r>
              <a:rPr lang="en-US" sz="1750" dirty="0">
                <a:solidFill>
                  <a:srgbClr val="1A3453"/>
                </a:solidFill>
                <a:latin typeface="Aptos" pitchFamily="34" charset="0"/>
                <a:ea typeface="Aptos" pitchFamily="34" charset="-122"/>
                <a:cs typeface="Aptos" pitchFamily="34" charset="-120"/>
              </a:rPr>
              <a:t>Centre the objects and adjust their order until the icon reads clearly.</a:t>
            </a:r>
            <a:endParaRPr lang="en-US" sz="1750" dirty="0"/>
          </a:p>
        </p:txBody>
      </p:sp>
      <p:sp>
        <p:nvSpPr>
          <p:cNvPr id="27" name="Shape 25"/>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8" name="Text 26"/>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Work at a comfortable zoom, then check the whole icon at normal size.</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GUIDED PRACTICE</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Practical: finish and submit</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Keep the final requirements modest and achievable.</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26</a:t>
            </a:r>
            <a:endParaRPr lang="en-US" sz="1100" dirty="0"/>
          </a:p>
        </p:txBody>
      </p:sp>
      <p:sp>
        <p:nvSpPr>
          <p:cNvPr id="11" name="Shape 9"/>
          <p:cNvSpPr/>
          <p:nvPr/>
        </p:nvSpPr>
        <p:spPr>
          <a:xfrm>
            <a:off x="621792" y="2029968"/>
            <a:ext cx="10927080" cy="786384"/>
          </a:xfrm>
          <a:prstGeom prst="roundRect">
            <a:avLst>
              <a:gd name="adj" fmla="val 12791"/>
            </a:avLst>
          </a:prstGeom>
          <a:solidFill>
            <a:srgbClr val="FFFFFF"/>
          </a:solidFill>
          <a:ln w="12700">
            <a:solidFill>
              <a:srgbClr val="CADDE7"/>
            </a:solidFill>
            <a:prstDash val="solid"/>
          </a:ln>
        </p:spPr>
        <p:txBody>
          <a:bodyPr/>
          <a:p/>
        </p:txBody>
      </p:sp>
      <p:sp>
        <p:nvSpPr>
          <p:cNvPr id="12" name="Shape 10"/>
          <p:cNvSpPr/>
          <p:nvPr/>
        </p:nvSpPr>
        <p:spPr>
          <a:xfrm>
            <a:off x="768096" y="2167128"/>
            <a:ext cx="457200" cy="457200"/>
          </a:xfrm>
          <a:prstGeom prst="ellipse">
            <a:avLst/>
          </a:prstGeom>
          <a:solidFill>
            <a:srgbClr val="087F89"/>
          </a:solidFill>
          <a:ln w="12700">
            <a:solidFill>
              <a:srgbClr val="087F89"/>
            </a:solidFill>
            <a:prstDash val="solid"/>
          </a:ln>
        </p:spPr>
        <p:txBody>
          <a:bodyPr/>
          <a:p/>
        </p:txBody>
      </p:sp>
      <p:sp>
        <p:nvSpPr>
          <p:cNvPr id="13" name="Text 11"/>
          <p:cNvSpPr/>
          <p:nvPr/>
        </p:nvSpPr>
        <p:spPr>
          <a:xfrm>
            <a:off x="841248" y="2240280"/>
            <a:ext cx="310896"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4" name="Text 12"/>
          <p:cNvSpPr/>
          <p:nvPr/>
        </p:nvSpPr>
        <p:spPr>
          <a:xfrm>
            <a:off x="1399032" y="2139696"/>
            <a:ext cx="9857232" cy="594360"/>
          </a:xfrm>
          <a:prstGeom prst="rect">
            <a:avLst/>
          </a:prstGeom>
          <a:noFill/>
          <a:ln/>
        </p:spPr>
        <p:txBody>
          <a:bodyPr wrap="square" lIns="0" tIns="0" rIns="0" bIns="0" rtlCol="0" anchor="ctr">
            <a:normAutofit/>
          </a:bodyPr>
          <a:lstStyle/>
          <a:p>
            <a:pPr algn="l" indent="0" marL="0">
              <a:buNone/>
            </a:pPr>
            <a:r>
              <a:rPr lang="en-US" sz="1750" dirty="0">
                <a:solidFill>
                  <a:srgbClr val="1A3453"/>
                </a:solidFill>
                <a:latin typeface="Aptos" pitchFamily="34" charset="0"/>
                <a:ea typeface="Aptos" pitchFamily="34" charset="-122"/>
                <a:cs typeface="Aptos" pitchFamily="34" charset="-120"/>
              </a:rPr>
              <a:t>Select the three objects and group them after checking their positions.</a:t>
            </a:r>
            <a:endParaRPr lang="en-US" sz="1750" dirty="0"/>
          </a:p>
        </p:txBody>
      </p:sp>
      <p:sp>
        <p:nvSpPr>
          <p:cNvPr id="15" name="Shape 13"/>
          <p:cNvSpPr/>
          <p:nvPr/>
        </p:nvSpPr>
        <p:spPr>
          <a:xfrm>
            <a:off x="621792" y="2962656"/>
            <a:ext cx="10927080" cy="786384"/>
          </a:xfrm>
          <a:prstGeom prst="roundRect">
            <a:avLst>
              <a:gd name="adj" fmla="val 12791"/>
            </a:avLst>
          </a:prstGeom>
          <a:solidFill>
            <a:srgbClr val="FFFFFF"/>
          </a:solidFill>
          <a:ln w="12700">
            <a:solidFill>
              <a:srgbClr val="CADDE7"/>
            </a:solidFill>
            <a:prstDash val="solid"/>
          </a:ln>
        </p:spPr>
        <p:txBody>
          <a:bodyPr/>
          <a:p/>
        </p:txBody>
      </p:sp>
      <p:sp>
        <p:nvSpPr>
          <p:cNvPr id="16" name="Shape 14"/>
          <p:cNvSpPr/>
          <p:nvPr/>
        </p:nvSpPr>
        <p:spPr>
          <a:xfrm>
            <a:off x="768096" y="3099816"/>
            <a:ext cx="457200" cy="457200"/>
          </a:xfrm>
          <a:prstGeom prst="ellipse">
            <a:avLst/>
          </a:prstGeom>
          <a:solidFill>
            <a:srgbClr val="087F89"/>
          </a:solidFill>
          <a:ln w="12700">
            <a:solidFill>
              <a:srgbClr val="087F89"/>
            </a:solidFill>
            <a:prstDash val="solid"/>
          </a:ln>
        </p:spPr>
        <p:txBody>
          <a:bodyPr/>
          <a:p/>
        </p:txBody>
      </p:sp>
      <p:sp>
        <p:nvSpPr>
          <p:cNvPr id="17" name="Text 15"/>
          <p:cNvSpPr/>
          <p:nvPr/>
        </p:nvSpPr>
        <p:spPr>
          <a:xfrm>
            <a:off x="841248" y="3172968"/>
            <a:ext cx="310896"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8" name="Text 16"/>
          <p:cNvSpPr/>
          <p:nvPr/>
        </p:nvSpPr>
        <p:spPr>
          <a:xfrm>
            <a:off x="1399032" y="3072384"/>
            <a:ext cx="9857232" cy="594360"/>
          </a:xfrm>
          <a:prstGeom prst="rect">
            <a:avLst/>
          </a:prstGeom>
          <a:noFill/>
          <a:ln/>
        </p:spPr>
        <p:txBody>
          <a:bodyPr wrap="square" lIns="0" tIns="0" rIns="0" bIns="0" rtlCol="0" anchor="ctr">
            <a:normAutofit/>
          </a:bodyPr>
          <a:lstStyle/>
          <a:p>
            <a:pPr algn="l" indent="0" marL="0">
              <a:buNone/>
            </a:pPr>
            <a:r>
              <a:rPr lang="en-US" sz="1750" dirty="0">
                <a:solidFill>
                  <a:srgbClr val="1A3453"/>
                </a:solidFill>
                <a:latin typeface="Aptos" pitchFamily="34" charset="0"/>
                <a:ea typeface="Aptos" pitchFamily="34" charset="-122"/>
                <a:cs typeface="Aptos" pitchFamily="34" charset="-120"/>
              </a:rPr>
              <a:t>Save the editable vector source (.ai or .svg, depending on the editor).</a:t>
            </a:r>
            <a:endParaRPr lang="en-US" sz="1750" dirty="0"/>
          </a:p>
        </p:txBody>
      </p:sp>
      <p:sp>
        <p:nvSpPr>
          <p:cNvPr id="19" name="Shape 17"/>
          <p:cNvSpPr/>
          <p:nvPr/>
        </p:nvSpPr>
        <p:spPr>
          <a:xfrm>
            <a:off x="621792" y="3895344"/>
            <a:ext cx="10927080" cy="786384"/>
          </a:xfrm>
          <a:prstGeom prst="roundRect">
            <a:avLst>
              <a:gd name="adj" fmla="val 12791"/>
            </a:avLst>
          </a:prstGeom>
          <a:solidFill>
            <a:srgbClr val="FFFFFF"/>
          </a:solidFill>
          <a:ln w="12700">
            <a:solidFill>
              <a:srgbClr val="CADDE7"/>
            </a:solidFill>
            <a:prstDash val="solid"/>
          </a:ln>
        </p:spPr>
        <p:txBody>
          <a:bodyPr/>
          <a:p/>
        </p:txBody>
      </p:sp>
      <p:sp>
        <p:nvSpPr>
          <p:cNvPr id="20" name="Shape 18"/>
          <p:cNvSpPr/>
          <p:nvPr/>
        </p:nvSpPr>
        <p:spPr>
          <a:xfrm>
            <a:off x="768096" y="4032504"/>
            <a:ext cx="457200" cy="457200"/>
          </a:xfrm>
          <a:prstGeom prst="ellipse">
            <a:avLst/>
          </a:prstGeom>
          <a:solidFill>
            <a:srgbClr val="087F89"/>
          </a:solidFill>
          <a:ln w="12700">
            <a:solidFill>
              <a:srgbClr val="087F89"/>
            </a:solidFill>
            <a:prstDash val="solid"/>
          </a:ln>
        </p:spPr>
        <p:txBody>
          <a:bodyPr/>
          <a:p/>
        </p:txBody>
      </p:sp>
      <p:sp>
        <p:nvSpPr>
          <p:cNvPr id="21" name="Text 19"/>
          <p:cNvSpPr/>
          <p:nvPr/>
        </p:nvSpPr>
        <p:spPr>
          <a:xfrm>
            <a:off x="841248" y="4105656"/>
            <a:ext cx="310896"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2" name="Text 20"/>
          <p:cNvSpPr/>
          <p:nvPr/>
        </p:nvSpPr>
        <p:spPr>
          <a:xfrm>
            <a:off x="1399032" y="4005072"/>
            <a:ext cx="9857232" cy="594360"/>
          </a:xfrm>
          <a:prstGeom prst="rect">
            <a:avLst/>
          </a:prstGeom>
          <a:noFill/>
          <a:ln/>
        </p:spPr>
        <p:txBody>
          <a:bodyPr wrap="square" lIns="0" tIns="0" rIns="0" bIns="0" rtlCol="0" anchor="ctr">
            <a:normAutofit/>
          </a:bodyPr>
          <a:lstStyle/>
          <a:p>
            <a:pPr algn="l" indent="0" marL="0">
              <a:buNone/>
            </a:pPr>
            <a:r>
              <a:rPr lang="en-US" sz="1750" dirty="0">
                <a:solidFill>
                  <a:srgbClr val="1A3453"/>
                </a:solidFill>
                <a:latin typeface="Aptos" pitchFamily="34" charset="0"/>
                <a:ea typeface="Aptos" pitchFamily="34" charset="-122"/>
                <a:cs typeface="Aptos" pitchFamily="34" charset="-120"/>
              </a:rPr>
              <a:t>Export a PNG copy and, where appropriate, an SVG copy.</a:t>
            </a:r>
            <a:endParaRPr lang="en-US" sz="1750" dirty="0"/>
          </a:p>
        </p:txBody>
      </p:sp>
      <p:sp>
        <p:nvSpPr>
          <p:cNvPr id="23" name="Shape 21"/>
          <p:cNvSpPr/>
          <p:nvPr/>
        </p:nvSpPr>
        <p:spPr>
          <a:xfrm>
            <a:off x="621792" y="4828032"/>
            <a:ext cx="10927080" cy="786384"/>
          </a:xfrm>
          <a:prstGeom prst="roundRect">
            <a:avLst>
              <a:gd name="adj" fmla="val 12791"/>
            </a:avLst>
          </a:prstGeom>
          <a:solidFill>
            <a:srgbClr val="FFFFFF"/>
          </a:solidFill>
          <a:ln w="12700">
            <a:solidFill>
              <a:srgbClr val="CADDE7"/>
            </a:solidFill>
            <a:prstDash val="solid"/>
          </a:ln>
        </p:spPr>
        <p:txBody>
          <a:bodyPr/>
          <a:p/>
        </p:txBody>
      </p:sp>
      <p:sp>
        <p:nvSpPr>
          <p:cNvPr id="24" name="Shape 22"/>
          <p:cNvSpPr/>
          <p:nvPr/>
        </p:nvSpPr>
        <p:spPr>
          <a:xfrm>
            <a:off x="768096" y="4965192"/>
            <a:ext cx="457200" cy="457200"/>
          </a:xfrm>
          <a:prstGeom prst="ellipse">
            <a:avLst/>
          </a:prstGeom>
          <a:solidFill>
            <a:srgbClr val="087F89"/>
          </a:solidFill>
          <a:ln w="12700">
            <a:solidFill>
              <a:srgbClr val="087F89"/>
            </a:solidFill>
            <a:prstDash val="solid"/>
          </a:ln>
        </p:spPr>
        <p:txBody>
          <a:bodyPr/>
          <a:p/>
        </p:txBody>
      </p:sp>
      <p:sp>
        <p:nvSpPr>
          <p:cNvPr id="25" name="Text 23"/>
          <p:cNvSpPr/>
          <p:nvPr/>
        </p:nvSpPr>
        <p:spPr>
          <a:xfrm>
            <a:off x="841248" y="5038344"/>
            <a:ext cx="310896" cy="20116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6" name="Text 24"/>
          <p:cNvSpPr/>
          <p:nvPr/>
        </p:nvSpPr>
        <p:spPr>
          <a:xfrm>
            <a:off x="1399032" y="4937760"/>
            <a:ext cx="9857232" cy="594360"/>
          </a:xfrm>
          <a:prstGeom prst="rect">
            <a:avLst/>
          </a:prstGeom>
          <a:noFill/>
          <a:ln/>
        </p:spPr>
        <p:txBody>
          <a:bodyPr wrap="square" lIns="0" tIns="0" rIns="0" bIns="0" rtlCol="0" anchor="ctr">
            <a:normAutofit/>
          </a:bodyPr>
          <a:lstStyle/>
          <a:p>
            <a:pPr algn="l" indent="0" marL="0">
              <a:buNone/>
            </a:pPr>
            <a:r>
              <a:rPr lang="en-US" sz="1750" dirty="0">
                <a:solidFill>
                  <a:srgbClr val="1A3453"/>
                </a:solidFill>
                <a:latin typeface="Aptos" pitchFamily="34" charset="0"/>
                <a:ea typeface="Aptos" pitchFamily="34" charset="-122"/>
                <a:cs typeface="Aptos" pitchFamily="34" charset="-120"/>
              </a:rPr>
              <a:t>Reopen the saved file and verify that the shapes remain editable.</a:t>
            </a:r>
            <a:endParaRPr lang="en-US" sz="1750" dirty="0"/>
          </a:p>
        </p:txBody>
      </p:sp>
      <p:sp>
        <p:nvSpPr>
          <p:cNvPr id="27" name="Shape 25"/>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8" name="Text 26"/>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The source and export should represent the same finished icon.</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APPLICATION</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Place the icon on an educational hand-out</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An icon should support a publication rather than compete with its message.</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27</a:t>
            </a:r>
            <a:endParaRPr lang="en-US" sz="1100" dirty="0"/>
          </a:p>
        </p:txBody>
      </p:sp>
      <p:sp>
        <p:nvSpPr>
          <p:cNvPr id="11" name="Shape 9"/>
          <p:cNvSpPr/>
          <p:nvPr/>
        </p:nvSpPr>
        <p:spPr>
          <a:xfrm>
            <a:off x="557784" y="2039112"/>
            <a:ext cx="6537960" cy="3639312"/>
          </a:xfrm>
          <a:prstGeom prst="roundRect">
            <a:avLst>
              <a:gd name="adj" fmla="val 2513"/>
            </a:avLst>
          </a:prstGeom>
          <a:solidFill>
            <a:srgbClr val="FFFFFF"/>
          </a:solidFill>
          <a:ln w="12700">
            <a:solidFill>
              <a:srgbClr val="CADDE7"/>
            </a:solidFill>
            <a:prstDash val="solid"/>
          </a:ln>
        </p:spPr>
        <p:txBody>
          <a:bodyPr/>
          <a:p/>
        </p:txBody>
      </p:sp>
      <p:pic>
        <p:nvPicPr>
          <p:cNvPr id="12" name="Image 0" descr="/mnt/data/ITT06105_Condensed_L06_Package/resources/Icon_in_Handout_Example.png">    </p:cNvPr>
          <p:cNvPicPr>
            <a:picLocks noChangeAspect="1"/>
          </p:cNvPicPr>
          <p:nvPr/>
        </p:nvPicPr>
        <p:blipFill>
          <a:blip r:embed="rId1"/>
          <a:stretch>
            <a:fillRect/>
          </a:stretch>
        </p:blipFill>
        <p:spPr>
          <a:xfrm>
            <a:off x="676656" y="2240280"/>
            <a:ext cx="6272784" cy="3227832"/>
          </a:xfrm>
          <a:prstGeom prst="rect">
            <a:avLst/>
          </a:prstGeom>
        </p:spPr>
      </p:pic>
      <p:sp>
        <p:nvSpPr>
          <p:cNvPr id="13" name="Shape 10"/>
          <p:cNvSpPr/>
          <p:nvPr/>
        </p:nvSpPr>
        <p:spPr>
          <a:xfrm>
            <a:off x="7306056" y="2039112"/>
            <a:ext cx="4315968" cy="1737360"/>
          </a:xfrm>
          <a:prstGeom prst="roundRect">
            <a:avLst>
              <a:gd name="adj" fmla="val 6316"/>
            </a:avLst>
          </a:prstGeom>
          <a:solidFill>
            <a:srgbClr val="FFFFFF"/>
          </a:solidFill>
          <a:ln w="10160">
            <a:solidFill>
              <a:srgbClr val="CADDE7"/>
            </a:solidFill>
            <a:prstDash val="solid"/>
          </a:ln>
        </p:spPr>
        <p:txBody>
          <a:bodyPr/>
          <a:p/>
        </p:txBody>
      </p:sp>
      <p:sp>
        <p:nvSpPr>
          <p:cNvPr id="14" name="Shape 11"/>
          <p:cNvSpPr/>
          <p:nvPr/>
        </p:nvSpPr>
        <p:spPr>
          <a:xfrm>
            <a:off x="7306056" y="2048256"/>
            <a:ext cx="82296" cy="1719072"/>
          </a:xfrm>
          <a:prstGeom prst="rect">
            <a:avLst/>
          </a:prstGeom>
          <a:solidFill>
            <a:srgbClr val="087F89"/>
          </a:solidFill>
          <a:ln w="12700">
            <a:solidFill>
              <a:srgbClr val="087F89"/>
            </a:solidFill>
            <a:prstDash val="solid"/>
          </a:ln>
        </p:spPr>
        <p:txBody>
          <a:bodyPr/>
          <a:p/>
        </p:txBody>
      </p:sp>
      <p:sp>
        <p:nvSpPr>
          <p:cNvPr id="15" name="Text 12"/>
          <p:cNvSpPr/>
          <p:nvPr/>
        </p:nvSpPr>
        <p:spPr>
          <a:xfrm>
            <a:off x="7507224" y="2194560"/>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Purpose</a:t>
            </a:r>
            <a:endParaRPr lang="en-US" sz="1920" dirty="0"/>
          </a:p>
        </p:txBody>
      </p:sp>
      <p:sp>
        <p:nvSpPr>
          <p:cNvPr id="16" name="Text 13"/>
          <p:cNvSpPr/>
          <p:nvPr/>
        </p:nvSpPr>
        <p:spPr>
          <a:xfrm>
            <a:off x="7507224" y="2660904"/>
            <a:ext cx="3867912" cy="960120"/>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A learning symbol helps readers recognise the publication’s educational theme.</a:t>
            </a:r>
            <a:endParaRPr lang="en-US" sz="1650" dirty="0"/>
          </a:p>
        </p:txBody>
      </p:sp>
      <p:sp>
        <p:nvSpPr>
          <p:cNvPr id="17" name="Shape 14"/>
          <p:cNvSpPr/>
          <p:nvPr/>
        </p:nvSpPr>
        <p:spPr>
          <a:xfrm>
            <a:off x="7306056" y="3904488"/>
            <a:ext cx="4315968" cy="1773936"/>
          </a:xfrm>
          <a:prstGeom prst="roundRect">
            <a:avLst>
              <a:gd name="adj" fmla="val 6186"/>
            </a:avLst>
          </a:prstGeom>
          <a:solidFill>
            <a:srgbClr val="FFFFFF"/>
          </a:solidFill>
          <a:ln w="10160">
            <a:solidFill>
              <a:srgbClr val="CADDE7"/>
            </a:solidFill>
            <a:prstDash val="solid"/>
          </a:ln>
        </p:spPr>
        <p:txBody>
          <a:bodyPr/>
          <a:p/>
        </p:txBody>
      </p:sp>
      <p:sp>
        <p:nvSpPr>
          <p:cNvPr id="18" name="Shape 15"/>
          <p:cNvSpPr/>
          <p:nvPr/>
        </p:nvSpPr>
        <p:spPr>
          <a:xfrm>
            <a:off x="7306056" y="3913632"/>
            <a:ext cx="82296" cy="1755648"/>
          </a:xfrm>
          <a:prstGeom prst="rect">
            <a:avLst/>
          </a:prstGeom>
          <a:solidFill>
            <a:srgbClr val="F0AE4C"/>
          </a:solidFill>
          <a:ln w="12700">
            <a:solidFill>
              <a:srgbClr val="F0AE4C"/>
            </a:solidFill>
            <a:prstDash val="solid"/>
          </a:ln>
        </p:spPr>
        <p:txBody>
          <a:bodyPr/>
          <a:p/>
        </p:txBody>
      </p:sp>
      <p:sp>
        <p:nvSpPr>
          <p:cNvPr id="19" name="Text 16"/>
          <p:cNvSpPr/>
          <p:nvPr/>
        </p:nvSpPr>
        <p:spPr>
          <a:xfrm>
            <a:off x="7507224" y="4059936"/>
            <a:ext cx="390448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Where to use it</a:t>
            </a:r>
            <a:endParaRPr lang="en-US" sz="1920" dirty="0"/>
          </a:p>
        </p:txBody>
      </p:sp>
      <p:sp>
        <p:nvSpPr>
          <p:cNvPr id="20" name="Text 17"/>
          <p:cNvSpPr/>
          <p:nvPr/>
        </p:nvSpPr>
        <p:spPr>
          <a:xfrm>
            <a:off x="7507224" y="4526280"/>
            <a:ext cx="3867912" cy="996696"/>
          </a:xfrm>
          <a:prstGeom prst="rect">
            <a:avLst/>
          </a:prstGeom>
          <a:noFill/>
          <a:ln/>
        </p:spPr>
        <p:txBody>
          <a:bodyPr wrap="square" lIns="0" tIns="0" rIns="0" bIns="0" rtlCol="0" anchor="ctr">
            <a:normAutofit/>
          </a:bodyPr>
          <a:lstStyle/>
          <a:p>
            <a:pPr algn="l" indent="0" marL="0">
              <a:buNone/>
            </a:pPr>
            <a:r>
              <a:rPr lang="en-US" sz="1650" dirty="0">
                <a:solidFill>
                  <a:srgbClr val="1A3453"/>
                </a:solidFill>
                <a:latin typeface="Aptos" pitchFamily="34" charset="0"/>
                <a:ea typeface="Aptos" pitchFamily="34" charset="-122"/>
                <a:cs typeface="Aptos" pitchFamily="34" charset="-120"/>
              </a:rPr>
              <a:t>Use a small icon beside a heading or in a clear information section, while leaving enough white space.</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QUALITY CHECK</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Common beginner mistakes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Most of these problems can be corrected without an advanced tool.</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28</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What goes wrong</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Shapes are stretched, not centred, poorly overlapped or coloured inconsistently. Sometimes the icon is exported with an unwanted background.</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What to do</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Undo and resize proportionally, align shared centres, inspect overlaps, limit colours and check export settings. Keep an editable version before making large changes.</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Always judge the appearance of the complete icon, not just individual shapes.</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EDITING</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What if the icon needs revision next week?</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Good file management saves time after the lesson.</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29</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Editable approach</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Open the saved .ai or SVG file, select the component, change the fill or dimensions and export a revised copy.</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Problematic approach</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If only a small PNG remains, changing the individual shapes will be much harder. Enlarging that PNG may introduce pixelation.</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Preserve source files with meaningful names in a clearly organised folder.</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OPTIONAL EXTENSION</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More advanced vector tools can wait</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Begin with simple shapes, strokes, alignment and grouping before trying advanced vector tools.</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30</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If you finish early</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Try one additional colour version or a monochrome version. Check whether the icon remains recognisable with only one colour.</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For later study</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Anchor points, Pen Tool, Pathfinder and complex shape construction can improve advanced artwork, but they are not required for this core practical.</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Complete the essential three-shape exercise first.</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APPLICATION</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How vector icons help different publications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Think about one symbol used in several places.</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31</a:t>
            </a:r>
            <a:endParaRPr lang="en-US" sz="1100" dirty="0"/>
          </a:p>
        </p:txBody>
      </p:sp>
      <p:sp>
        <p:nvSpPr>
          <p:cNvPr id="11" name="Shape 9"/>
          <p:cNvSpPr/>
          <p:nvPr/>
        </p:nvSpPr>
        <p:spPr>
          <a:xfrm>
            <a:off x="576072"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2" name="Shape 10"/>
          <p:cNvSpPr/>
          <p:nvPr/>
        </p:nvSpPr>
        <p:spPr>
          <a:xfrm>
            <a:off x="576072" y="2093976"/>
            <a:ext cx="82296" cy="3511296"/>
          </a:xfrm>
          <a:prstGeom prst="rect">
            <a:avLst/>
          </a:prstGeom>
          <a:solidFill>
            <a:srgbClr val="087F89"/>
          </a:solidFill>
          <a:ln w="12700">
            <a:solidFill>
              <a:srgbClr val="087F89"/>
            </a:solidFill>
            <a:prstDash val="solid"/>
          </a:ln>
        </p:spPr>
        <p:txBody>
          <a:bodyPr/>
          <a:p/>
        </p:txBody>
      </p:sp>
      <p:sp>
        <p:nvSpPr>
          <p:cNvPr id="13" name="Text 11"/>
          <p:cNvSpPr/>
          <p:nvPr/>
        </p:nvSpPr>
        <p:spPr>
          <a:xfrm>
            <a:off x="777240"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A4 hand-out</a:t>
            </a:r>
            <a:endParaRPr lang="en-US" sz="1920" dirty="0"/>
          </a:p>
        </p:txBody>
      </p:sp>
      <p:sp>
        <p:nvSpPr>
          <p:cNvPr id="14" name="Text 12"/>
          <p:cNvSpPr/>
          <p:nvPr/>
        </p:nvSpPr>
        <p:spPr>
          <a:xfrm>
            <a:off x="777240"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A modest icon can support a heading and establish a visual theme without distracting from the text.</a:t>
            </a:r>
            <a:endParaRPr lang="en-US" sz="1700" dirty="0"/>
          </a:p>
        </p:txBody>
      </p:sp>
      <p:sp>
        <p:nvSpPr>
          <p:cNvPr id="15" name="Shape 13"/>
          <p:cNvSpPr/>
          <p:nvPr/>
        </p:nvSpPr>
        <p:spPr>
          <a:xfrm>
            <a:off x="4443984"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6" name="Shape 14"/>
          <p:cNvSpPr/>
          <p:nvPr/>
        </p:nvSpPr>
        <p:spPr>
          <a:xfrm>
            <a:off x="4443984" y="2093976"/>
            <a:ext cx="82296" cy="3511296"/>
          </a:xfrm>
          <a:prstGeom prst="rect">
            <a:avLst/>
          </a:prstGeom>
          <a:solidFill>
            <a:srgbClr val="F0AE4C"/>
          </a:solidFill>
          <a:ln w="12700">
            <a:solidFill>
              <a:srgbClr val="F0AE4C"/>
            </a:solidFill>
            <a:prstDash val="solid"/>
          </a:ln>
        </p:spPr>
        <p:txBody>
          <a:bodyPr/>
          <a:p/>
        </p:txBody>
      </p:sp>
      <p:sp>
        <p:nvSpPr>
          <p:cNvPr id="17" name="Text 15"/>
          <p:cNvSpPr/>
          <p:nvPr/>
        </p:nvSpPr>
        <p:spPr>
          <a:xfrm>
            <a:off x="4645152"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Digital notice</a:t>
            </a:r>
            <a:endParaRPr lang="en-US" sz="1920" dirty="0"/>
          </a:p>
        </p:txBody>
      </p:sp>
      <p:sp>
        <p:nvSpPr>
          <p:cNvPr id="18" name="Text 16"/>
          <p:cNvSpPr/>
          <p:nvPr/>
        </p:nvSpPr>
        <p:spPr>
          <a:xfrm>
            <a:off x="4645152"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A simple symbol can be placed beside a message and scaled to fit different digital layouts.</a:t>
            </a:r>
            <a:endParaRPr lang="en-US" sz="1700" dirty="0"/>
          </a:p>
        </p:txBody>
      </p:sp>
      <p:sp>
        <p:nvSpPr>
          <p:cNvPr id="19" name="Shape 17"/>
          <p:cNvSpPr/>
          <p:nvPr/>
        </p:nvSpPr>
        <p:spPr>
          <a:xfrm>
            <a:off x="8311896"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20" name="Shape 18"/>
          <p:cNvSpPr/>
          <p:nvPr/>
        </p:nvSpPr>
        <p:spPr>
          <a:xfrm>
            <a:off x="8311896" y="2093976"/>
            <a:ext cx="82296" cy="3511296"/>
          </a:xfrm>
          <a:prstGeom prst="rect">
            <a:avLst/>
          </a:prstGeom>
          <a:solidFill>
            <a:srgbClr val="537891"/>
          </a:solidFill>
          <a:ln w="12700">
            <a:solidFill>
              <a:srgbClr val="537891"/>
            </a:solidFill>
            <a:prstDash val="solid"/>
          </a:ln>
        </p:spPr>
        <p:txBody>
          <a:bodyPr/>
          <a:p/>
        </p:txBody>
      </p:sp>
      <p:sp>
        <p:nvSpPr>
          <p:cNvPr id="21" name="Text 19"/>
          <p:cNvSpPr/>
          <p:nvPr/>
        </p:nvSpPr>
        <p:spPr>
          <a:xfrm>
            <a:off x="8513064"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Poster</a:t>
            </a:r>
            <a:endParaRPr lang="en-US" sz="1920" dirty="0"/>
          </a:p>
        </p:txBody>
      </p:sp>
      <p:sp>
        <p:nvSpPr>
          <p:cNvPr id="22" name="Text 20"/>
          <p:cNvSpPr/>
          <p:nvPr/>
        </p:nvSpPr>
        <p:spPr>
          <a:xfrm>
            <a:off x="8513064"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The same vector artwork can appear larger while retaining its crisp outline.</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UNDERSTANDING</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Explain your design choices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An important part of design is being able to justify what you have done.</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32</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Why these shapes?</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The ellipse suggests the main bulb. The narrower neck and base make the silhouette resemble a lightbulb rather than a plain circle.</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Why these colours?</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Gold draws attention to the bulb while the teal base fits the learning-centre example. Readability remains more important than decoration.</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There is no need for an elaborate logo story; explain the practical decisions clearly.</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QUICK CHECK</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Source versus export: one last comparison</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Make sure you can explain these differences without looking at the notes.</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33</a:t>
            </a:r>
            <a:endParaRPr lang="en-US" sz="1100" dirty="0"/>
          </a:p>
        </p:txBody>
      </p:sp>
      <p:sp>
        <p:nvSpPr>
          <p:cNvPr id="11" name="Shape 9"/>
          <p:cNvSpPr/>
          <p:nvPr/>
        </p:nvSpPr>
        <p:spPr>
          <a:xfrm>
            <a:off x="594360"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2" name="Shape 10"/>
          <p:cNvSpPr/>
          <p:nvPr/>
        </p:nvSpPr>
        <p:spPr>
          <a:xfrm>
            <a:off x="594360" y="2075688"/>
            <a:ext cx="82296" cy="3547872"/>
          </a:xfrm>
          <a:prstGeom prst="rect">
            <a:avLst/>
          </a:prstGeom>
          <a:solidFill>
            <a:srgbClr val="087F89"/>
          </a:solidFill>
          <a:ln w="12700">
            <a:solidFill>
              <a:srgbClr val="087F89"/>
            </a:solidFill>
            <a:prstDash val="solid"/>
          </a:ln>
        </p:spPr>
        <p:txBody>
          <a:bodyPr/>
          <a:p/>
        </p:txBody>
      </p:sp>
      <p:sp>
        <p:nvSpPr>
          <p:cNvPr id="13" name="Text 11"/>
          <p:cNvSpPr/>
          <p:nvPr/>
        </p:nvSpPr>
        <p:spPr>
          <a:xfrm>
            <a:off x="795528"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Vector source (.ai / SVG)</a:t>
            </a:r>
            <a:endParaRPr lang="en-US" sz="1920" dirty="0"/>
          </a:p>
        </p:txBody>
      </p:sp>
      <p:sp>
        <p:nvSpPr>
          <p:cNvPr id="14" name="Text 12"/>
          <p:cNvSpPr/>
          <p:nvPr/>
        </p:nvSpPr>
        <p:spPr>
          <a:xfrm>
            <a:off x="795528"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Contains selectable paths or objects. Suitable for changing the icon’s colours, proportions and composition.</a:t>
            </a:r>
            <a:endParaRPr lang="en-US" sz="1800" dirty="0"/>
          </a:p>
        </p:txBody>
      </p:sp>
      <p:sp>
        <p:nvSpPr>
          <p:cNvPr id="15" name="Shape 13"/>
          <p:cNvSpPr/>
          <p:nvPr/>
        </p:nvSpPr>
        <p:spPr>
          <a:xfrm>
            <a:off x="6190488" y="2066544"/>
            <a:ext cx="5367528" cy="3566160"/>
          </a:xfrm>
          <a:prstGeom prst="roundRect">
            <a:avLst>
              <a:gd name="adj" fmla="val 3077"/>
            </a:avLst>
          </a:prstGeom>
          <a:solidFill>
            <a:srgbClr val="FFFFFF"/>
          </a:solidFill>
          <a:ln w="10160">
            <a:solidFill>
              <a:srgbClr val="CADDE7"/>
            </a:solidFill>
            <a:prstDash val="solid"/>
          </a:ln>
        </p:spPr>
        <p:txBody>
          <a:bodyPr/>
          <a:p/>
        </p:txBody>
      </p:sp>
      <p:sp>
        <p:nvSpPr>
          <p:cNvPr id="16" name="Shape 14"/>
          <p:cNvSpPr/>
          <p:nvPr/>
        </p:nvSpPr>
        <p:spPr>
          <a:xfrm>
            <a:off x="6190488" y="2075688"/>
            <a:ext cx="82296" cy="3547872"/>
          </a:xfrm>
          <a:prstGeom prst="rect">
            <a:avLst/>
          </a:prstGeom>
          <a:solidFill>
            <a:srgbClr val="F0AE4C"/>
          </a:solidFill>
          <a:ln w="12700">
            <a:solidFill>
              <a:srgbClr val="F0AE4C"/>
            </a:solidFill>
            <a:prstDash val="solid"/>
          </a:ln>
        </p:spPr>
        <p:txBody>
          <a:bodyPr/>
          <a:p/>
        </p:txBody>
      </p:sp>
      <p:sp>
        <p:nvSpPr>
          <p:cNvPr id="17" name="Text 15"/>
          <p:cNvSpPr/>
          <p:nvPr/>
        </p:nvSpPr>
        <p:spPr>
          <a:xfrm>
            <a:off x="6391656" y="2221992"/>
            <a:ext cx="4956048"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Raster output (PNG)</a:t>
            </a:r>
            <a:endParaRPr lang="en-US" sz="1920" dirty="0"/>
          </a:p>
        </p:txBody>
      </p:sp>
      <p:sp>
        <p:nvSpPr>
          <p:cNvPr id="18" name="Text 16"/>
          <p:cNvSpPr/>
          <p:nvPr/>
        </p:nvSpPr>
        <p:spPr>
          <a:xfrm>
            <a:off x="6391656" y="2688336"/>
            <a:ext cx="4919472" cy="2788920"/>
          </a:xfrm>
          <a:prstGeom prst="rect">
            <a:avLst/>
          </a:prstGeom>
          <a:noFill/>
          <a:ln/>
        </p:spPr>
        <p:txBody>
          <a:bodyPr wrap="square" lIns="0" tIns="0" rIns="0" bIns="0" rtlCol="0" anchor="ctr">
            <a:normAutofit/>
          </a:bodyPr>
          <a:lstStyle/>
          <a:p>
            <a:pPr algn="l" indent="0" marL="0">
              <a:buNone/>
            </a:pPr>
            <a:r>
              <a:rPr lang="en-US" sz="1800" dirty="0">
                <a:solidFill>
                  <a:srgbClr val="1A3453"/>
                </a:solidFill>
                <a:latin typeface="Aptos" pitchFamily="34" charset="0"/>
                <a:ea typeface="Aptos" pitchFamily="34" charset="-122"/>
                <a:cs typeface="Aptos" pitchFamily="34" charset="-120"/>
              </a:rPr>
              <a:t>Contains pixels produced at the chosen export size. Easy to insert into many documents but less flexible for shape-by-shape editing.</a:t>
            </a:r>
            <a:endParaRPr lang="en-US" sz="1800" dirty="0"/>
          </a:p>
        </p:txBody>
      </p:sp>
      <p:sp>
        <p:nvSpPr>
          <p:cNvPr id="19" name="Shape 17"/>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20" name="Text 18"/>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A PNG export is a deliverable; the editable vector source is your working design.</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SELF-ASSESS</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What should be in your submission?</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Use these checks before asking for feedback.</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34</a:t>
            </a:r>
            <a:endParaRPr lang="en-US" sz="1100" dirty="0"/>
          </a:p>
        </p:txBody>
      </p:sp>
      <p:sp>
        <p:nvSpPr>
          <p:cNvPr id="11" name="Shape 9"/>
          <p:cNvSpPr/>
          <p:nvPr/>
        </p:nvSpPr>
        <p:spPr>
          <a:xfrm>
            <a:off x="576072"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2" name="Shape 10"/>
          <p:cNvSpPr/>
          <p:nvPr/>
        </p:nvSpPr>
        <p:spPr>
          <a:xfrm>
            <a:off x="576072" y="2093976"/>
            <a:ext cx="82296" cy="3511296"/>
          </a:xfrm>
          <a:prstGeom prst="rect">
            <a:avLst/>
          </a:prstGeom>
          <a:solidFill>
            <a:srgbClr val="087F89"/>
          </a:solidFill>
          <a:ln w="12700">
            <a:solidFill>
              <a:srgbClr val="087F89"/>
            </a:solidFill>
            <a:prstDash val="solid"/>
          </a:ln>
        </p:spPr>
        <p:txBody>
          <a:bodyPr/>
          <a:p/>
        </p:txBody>
      </p:sp>
      <p:sp>
        <p:nvSpPr>
          <p:cNvPr id="13" name="Text 11"/>
          <p:cNvSpPr/>
          <p:nvPr/>
        </p:nvSpPr>
        <p:spPr>
          <a:xfrm>
            <a:off x="777240"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Source</a:t>
            </a:r>
            <a:endParaRPr lang="en-US" sz="1920" dirty="0"/>
          </a:p>
        </p:txBody>
      </p:sp>
      <p:sp>
        <p:nvSpPr>
          <p:cNvPr id="14" name="Text 12"/>
          <p:cNvSpPr/>
          <p:nvPr/>
        </p:nvSpPr>
        <p:spPr>
          <a:xfrm>
            <a:off x="777240"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An editable AI or SVG file with three clearly identifiable components.</a:t>
            </a:r>
            <a:endParaRPr lang="en-US" sz="1700" dirty="0"/>
          </a:p>
        </p:txBody>
      </p:sp>
      <p:sp>
        <p:nvSpPr>
          <p:cNvPr id="15" name="Shape 13"/>
          <p:cNvSpPr/>
          <p:nvPr/>
        </p:nvSpPr>
        <p:spPr>
          <a:xfrm>
            <a:off x="4443984"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6" name="Shape 14"/>
          <p:cNvSpPr/>
          <p:nvPr/>
        </p:nvSpPr>
        <p:spPr>
          <a:xfrm>
            <a:off x="4443984" y="2093976"/>
            <a:ext cx="82296" cy="3511296"/>
          </a:xfrm>
          <a:prstGeom prst="rect">
            <a:avLst/>
          </a:prstGeom>
          <a:solidFill>
            <a:srgbClr val="F0AE4C"/>
          </a:solidFill>
          <a:ln w="12700">
            <a:solidFill>
              <a:srgbClr val="F0AE4C"/>
            </a:solidFill>
            <a:prstDash val="solid"/>
          </a:ln>
        </p:spPr>
        <p:txBody>
          <a:bodyPr/>
          <a:p/>
        </p:txBody>
      </p:sp>
      <p:sp>
        <p:nvSpPr>
          <p:cNvPr id="17" name="Text 15"/>
          <p:cNvSpPr/>
          <p:nvPr/>
        </p:nvSpPr>
        <p:spPr>
          <a:xfrm>
            <a:off x="4645152"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Export</a:t>
            </a:r>
            <a:endParaRPr lang="en-US" sz="1920" dirty="0"/>
          </a:p>
        </p:txBody>
      </p:sp>
      <p:sp>
        <p:nvSpPr>
          <p:cNvPr id="18" name="Text 16"/>
          <p:cNvSpPr/>
          <p:nvPr/>
        </p:nvSpPr>
        <p:spPr>
          <a:xfrm>
            <a:off x="4645152"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A PNG copy that displays cleanly and is not cropped unintentionally.</a:t>
            </a:r>
            <a:endParaRPr lang="en-US" sz="1700" dirty="0"/>
          </a:p>
        </p:txBody>
      </p:sp>
      <p:sp>
        <p:nvSpPr>
          <p:cNvPr id="19" name="Shape 17"/>
          <p:cNvSpPr/>
          <p:nvPr/>
        </p:nvSpPr>
        <p:spPr>
          <a:xfrm>
            <a:off x="8311896"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20" name="Shape 18"/>
          <p:cNvSpPr/>
          <p:nvPr/>
        </p:nvSpPr>
        <p:spPr>
          <a:xfrm>
            <a:off x="8311896" y="2093976"/>
            <a:ext cx="82296" cy="3511296"/>
          </a:xfrm>
          <a:prstGeom prst="rect">
            <a:avLst/>
          </a:prstGeom>
          <a:solidFill>
            <a:srgbClr val="537891"/>
          </a:solidFill>
          <a:ln w="12700">
            <a:solidFill>
              <a:srgbClr val="537891"/>
            </a:solidFill>
            <a:prstDash val="solid"/>
          </a:ln>
        </p:spPr>
        <p:txBody>
          <a:bodyPr/>
          <a:p/>
        </p:txBody>
      </p:sp>
      <p:sp>
        <p:nvSpPr>
          <p:cNvPr id="21" name="Text 19"/>
          <p:cNvSpPr/>
          <p:nvPr/>
        </p:nvSpPr>
        <p:spPr>
          <a:xfrm>
            <a:off x="8513064"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Explanation</a:t>
            </a:r>
            <a:endParaRPr lang="en-US" sz="1920" dirty="0"/>
          </a:p>
        </p:txBody>
      </p:sp>
      <p:sp>
        <p:nvSpPr>
          <p:cNvPr id="22" name="Text 20"/>
          <p:cNvSpPr/>
          <p:nvPr/>
        </p:nvSpPr>
        <p:spPr>
          <a:xfrm>
            <a:off x="8513064"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Two or three sentences explaining the shapes, alignment and intended use of the icon.</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REVIEW QUESTIONS</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Can you explain these key concepts?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Answer in sentences, not just isolated words.</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35</a:t>
            </a:r>
            <a:endParaRPr lang="en-US" sz="1100" dirty="0"/>
          </a:p>
        </p:txBody>
      </p:sp>
      <p:sp>
        <p:nvSpPr>
          <p:cNvPr id="11" name="Shape 9"/>
          <p:cNvSpPr/>
          <p:nvPr/>
        </p:nvSpPr>
        <p:spPr>
          <a:xfrm>
            <a:off x="576072"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2" name="Shape 10"/>
          <p:cNvSpPr/>
          <p:nvPr/>
        </p:nvSpPr>
        <p:spPr>
          <a:xfrm>
            <a:off x="576072" y="2093976"/>
            <a:ext cx="82296" cy="3511296"/>
          </a:xfrm>
          <a:prstGeom prst="rect">
            <a:avLst/>
          </a:prstGeom>
          <a:solidFill>
            <a:srgbClr val="087F89"/>
          </a:solidFill>
          <a:ln w="12700">
            <a:solidFill>
              <a:srgbClr val="087F89"/>
            </a:solidFill>
            <a:prstDash val="solid"/>
          </a:ln>
        </p:spPr>
        <p:txBody>
          <a:bodyPr/>
          <a:p/>
        </p:txBody>
      </p:sp>
      <p:sp>
        <p:nvSpPr>
          <p:cNvPr id="13" name="Text 11"/>
          <p:cNvSpPr/>
          <p:nvPr/>
        </p:nvSpPr>
        <p:spPr>
          <a:xfrm>
            <a:off x="777240"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Question 1</a:t>
            </a:r>
            <a:endParaRPr lang="en-US" sz="1920" dirty="0"/>
          </a:p>
        </p:txBody>
      </p:sp>
      <p:sp>
        <p:nvSpPr>
          <p:cNvPr id="14" name="Text 12"/>
          <p:cNvSpPr/>
          <p:nvPr/>
        </p:nvSpPr>
        <p:spPr>
          <a:xfrm>
            <a:off x="777240"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Explain how vector graphics differ from raster graphics and give an example of each.</a:t>
            </a:r>
            <a:endParaRPr lang="en-US" sz="1700" dirty="0"/>
          </a:p>
        </p:txBody>
      </p:sp>
      <p:sp>
        <p:nvSpPr>
          <p:cNvPr id="15" name="Shape 13"/>
          <p:cNvSpPr/>
          <p:nvPr/>
        </p:nvSpPr>
        <p:spPr>
          <a:xfrm>
            <a:off x="4443984"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16" name="Shape 14"/>
          <p:cNvSpPr/>
          <p:nvPr/>
        </p:nvSpPr>
        <p:spPr>
          <a:xfrm>
            <a:off x="4443984" y="2093976"/>
            <a:ext cx="82296" cy="3511296"/>
          </a:xfrm>
          <a:prstGeom prst="rect">
            <a:avLst/>
          </a:prstGeom>
          <a:solidFill>
            <a:srgbClr val="F0AE4C"/>
          </a:solidFill>
          <a:ln w="12700">
            <a:solidFill>
              <a:srgbClr val="F0AE4C"/>
            </a:solidFill>
            <a:prstDash val="solid"/>
          </a:ln>
        </p:spPr>
        <p:txBody>
          <a:bodyPr/>
          <a:p/>
        </p:txBody>
      </p:sp>
      <p:sp>
        <p:nvSpPr>
          <p:cNvPr id="17" name="Text 15"/>
          <p:cNvSpPr/>
          <p:nvPr/>
        </p:nvSpPr>
        <p:spPr>
          <a:xfrm>
            <a:off x="4645152"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Question 2</a:t>
            </a:r>
            <a:endParaRPr lang="en-US" sz="1920" dirty="0"/>
          </a:p>
        </p:txBody>
      </p:sp>
      <p:sp>
        <p:nvSpPr>
          <p:cNvPr id="18" name="Text 16"/>
          <p:cNvSpPr/>
          <p:nvPr/>
        </p:nvSpPr>
        <p:spPr>
          <a:xfrm>
            <a:off x="4645152"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What is the difference between fill and stroke? How does alignment improve an icon?</a:t>
            </a:r>
            <a:endParaRPr lang="en-US" sz="1700" dirty="0"/>
          </a:p>
        </p:txBody>
      </p:sp>
      <p:sp>
        <p:nvSpPr>
          <p:cNvPr id="19" name="Shape 17"/>
          <p:cNvSpPr/>
          <p:nvPr/>
        </p:nvSpPr>
        <p:spPr>
          <a:xfrm>
            <a:off x="8311896" y="2084832"/>
            <a:ext cx="3685032" cy="3529584"/>
          </a:xfrm>
          <a:prstGeom prst="roundRect">
            <a:avLst>
              <a:gd name="adj" fmla="val 3109"/>
            </a:avLst>
          </a:prstGeom>
          <a:solidFill>
            <a:srgbClr val="FFFFFF"/>
          </a:solidFill>
          <a:ln w="10160">
            <a:solidFill>
              <a:srgbClr val="CADDE7"/>
            </a:solidFill>
            <a:prstDash val="solid"/>
          </a:ln>
        </p:spPr>
        <p:txBody>
          <a:bodyPr/>
          <a:p/>
        </p:txBody>
      </p:sp>
      <p:sp>
        <p:nvSpPr>
          <p:cNvPr id="20" name="Shape 18"/>
          <p:cNvSpPr/>
          <p:nvPr/>
        </p:nvSpPr>
        <p:spPr>
          <a:xfrm>
            <a:off x="8311896" y="2093976"/>
            <a:ext cx="82296" cy="3511296"/>
          </a:xfrm>
          <a:prstGeom prst="rect">
            <a:avLst/>
          </a:prstGeom>
          <a:solidFill>
            <a:srgbClr val="537891"/>
          </a:solidFill>
          <a:ln w="12700">
            <a:solidFill>
              <a:srgbClr val="537891"/>
            </a:solidFill>
            <a:prstDash val="solid"/>
          </a:ln>
        </p:spPr>
        <p:txBody>
          <a:bodyPr/>
          <a:p/>
        </p:txBody>
      </p:sp>
      <p:sp>
        <p:nvSpPr>
          <p:cNvPr id="21" name="Text 19"/>
          <p:cNvSpPr/>
          <p:nvPr/>
        </p:nvSpPr>
        <p:spPr>
          <a:xfrm>
            <a:off x="8513064" y="2240280"/>
            <a:ext cx="3273552" cy="347472"/>
          </a:xfrm>
          <a:prstGeom prst="rect">
            <a:avLst/>
          </a:prstGeom>
          <a:noFill/>
          <a:ln/>
        </p:spPr>
        <p:txBody>
          <a:bodyPr wrap="square" lIns="0" tIns="0" rIns="0" bIns="0" rtlCol="0" anchor="ctr">
            <a:normAutofit/>
          </a:bodyPr>
          <a:lstStyle/>
          <a:p>
            <a:pPr algn="l" indent="0" marL="0">
              <a:buNone/>
            </a:pPr>
            <a:r>
              <a:rPr lang="en-US" sz="1920" b="1" dirty="0">
                <a:solidFill>
                  <a:srgbClr val="172F4B"/>
                </a:solidFill>
                <a:latin typeface="Aptos" pitchFamily="34" charset="0"/>
                <a:ea typeface="Aptos" pitchFamily="34" charset="-122"/>
                <a:cs typeface="Aptos" pitchFamily="34" charset="-120"/>
              </a:rPr>
              <a:t>Question 3</a:t>
            </a:r>
            <a:endParaRPr lang="en-US" sz="1920" dirty="0"/>
          </a:p>
        </p:txBody>
      </p:sp>
      <p:sp>
        <p:nvSpPr>
          <p:cNvPr id="22" name="Text 20"/>
          <p:cNvSpPr/>
          <p:nvPr/>
        </p:nvSpPr>
        <p:spPr>
          <a:xfrm>
            <a:off x="8513064" y="2706624"/>
            <a:ext cx="3236976" cy="2752344"/>
          </a:xfrm>
          <a:prstGeom prst="rect">
            <a:avLst/>
          </a:prstGeom>
          <a:noFill/>
          <a:ln/>
        </p:spPr>
        <p:txBody>
          <a:bodyPr wrap="square" lIns="0" tIns="0" rIns="0" bIns="0" rtlCol="0" anchor="ctr">
            <a:normAutofit/>
          </a:bodyPr>
          <a:lstStyle/>
          <a:p>
            <a:pPr algn="l" indent="0" marL="0">
              <a:buNone/>
            </a:pPr>
            <a:r>
              <a:rPr lang="en-US" sz="1700" dirty="0">
                <a:solidFill>
                  <a:srgbClr val="1A3453"/>
                </a:solidFill>
                <a:latin typeface="Aptos" pitchFamily="34" charset="0"/>
                <a:ea typeface="Aptos" pitchFamily="34" charset="-122"/>
                <a:cs typeface="Aptos" pitchFamily="34" charset="-120"/>
              </a:rPr>
              <a:t>Why should a student keep an editable AI or SVG file after exporting a PNG?</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68580"/>
          </a:xfrm>
          <a:prstGeom prst="rect">
            <a:avLst/>
          </a:prstGeom>
          <a:solidFill>
            <a:srgbClr val="087F89"/>
          </a:solidFill>
          <a:ln w="12700">
            <a:solidFill>
              <a:srgbClr val="087F89"/>
            </a:solidFill>
            <a:prstDash val="solid"/>
          </a:ln>
        </p:spPr>
        <p:txBody>
          <a:bodyPr/>
          <a:p/>
        </p:txBody>
      </p:sp>
      <p:sp>
        <p:nvSpPr>
          <p:cNvPr id="3" name="Text 1"/>
          <p:cNvSpPr/>
          <p:nvPr/>
        </p:nvSpPr>
        <p:spPr>
          <a:xfrm>
            <a:off x="457200" y="256032"/>
            <a:ext cx="6217920" cy="201168"/>
          </a:xfrm>
          <a:prstGeom prst="rect">
            <a:avLst/>
          </a:prstGeom>
          <a:noFill/>
          <a:ln/>
        </p:spPr>
        <p:txBody>
          <a:bodyPr wrap="square" lIns="0" tIns="0" rIns="0" bIns="0" rtlCol="0" anchor="ctr">
            <a:normAutofit/>
          </a:bodyPr>
          <a:lstStyle/>
          <a:p>
            <a:pPr algn="l" indent="0" marL="0">
              <a:buNone/>
            </a:pPr>
            <a:r>
              <a:rPr lang="en-US" sz="1060" b="1" dirty="0">
                <a:solidFill>
                  <a:srgbClr val="536D82"/>
                </a:solidFill>
                <a:latin typeface="Aptos" pitchFamily="34" charset="0"/>
                <a:ea typeface="Aptos" pitchFamily="34" charset="-122"/>
                <a:cs typeface="Aptos" pitchFamily="34" charset="-120"/>
              </a:rPr>
              <a:t>ITT06105  /  DESKTOP PUBLISHING</a:t>
            </a:r>
            <a:endParaRPr lang="en-US" sz="1060" dirty="0"/>
          </a:p>
        </p:txBody>
      </p:sp>
      <p:sp>
        <p:nvSpPr>
          <p:cNvPr id="4" name="Shape 2"/>
          <p:cNvSpPr/>
          <p:nvPr/>
        </p:nvSpPr>
        <p:spPr>
          <a:xfrm>
            <a:off x="9509760" y="210312"/>
            <a:ext cx="2231136" cy="320040"/>
          </a:xfrm>
          <a:prstGeom prst="roundRect">
            <a:avLst>
              <a:gd name="adj" fmla="val 37143"/>
            </a:avLst>
          </a:prstGeom>
          <a:solidFill>
            <a:srgbClr val="EAF4F5"/>
          </a:solidFill>
          <a:ln w="12700">
            <a:solidFill>
              <a:srgbClr val="EEF5F6"/>
            </a:solidFill>
            <a:prstDash val="solid"/>
          </a:ln>
        </p:spPr>
        <p:txBody>
          <a:bodyPr/>
          <a:p/>
        </p:txBody>
      </p:sp>
      <p:sp>
        <p:nvSpPr>
          <p:cNvPr id="5" name="Text 3"/>
          <p:cNvSpPr/>
          <p:nvPr/>
        </p:nvSpPr>
        <p:spPr>
          <a:xfrm>
            <a:off x="9692640" y="265176"/>
            <a:ext cx="1901952" cy="164592"/>
          </a:xfrm>
          <a:prstGeom prst="rect">
            <a:avLst/>
          </a:prstGeom>
          <a:noFill/>
          <a:ln/>
        </p:spPr>
        <p:txBody>
          <a:bodyPr wrap="square" lIns="0" tIns="0" rIns="0" bIns="0" rtlCol="0" anchor="ctr">
            <a:normAutofit/>
          </a:bodyPr>
          <a:lstStyle/>
          <a:p>
            <a:pPr algn="ctr" indent="0" marL="0">
              <a:buNone/>
            </a:pPr>
            <a:r>
              <a:rPr lang="en-US" sz="1000" b="1" dirty="0">
                <a:solidFill>
                  <a:srgbClr val="087F89"/>
                </a:solidFill>
                <a:latin typeface="Aptos" pitchFamily="34" charset="0"/>
                <a:ea typeface="Aptos" pitchFamily="34" charset="-122"/>
                <a:cs typeface="Aptos" pitchFamily="34" charset="-120"/>
              </a:rPr>
              <a:t>RECAP</a:t>
            </a:r>
            <a:endParaRPr lang="en-US" sz="1000" dirty="0"/>
          </a:p>
        </p:txBody>
      </p:sp>
      <p:sp>
        <p:nvSpPr>
          <p:cNvPr id="6" name="Text 4"/>
          <p:cNvSpPr/>
          <p:nvPr/>
        </p:nvSpPr>
        <p:spPr>
          <a:xfrm>
            <a:off x="502920" y="813816"/>
            <a:ext cx="11109960" cy="557784"/>
          </a:xfrm>
          <a:prstGeom prst="rect">
            <a:avLst/>
          </a:prstGeom>
          <a:noFill/>
          <a:ln/>
        </p:spPr>
        <p:txBody>
          <a:bodyPr wrap="square" lIns="0" tIns="0" rIns="0" bIns="0" rtlCol="0" anchor="ctr">
            <a:normAutofit/>
          </a:bodyPr>
          <a:lstStyle/>
          <a:p>
            <a:pPr algn="l" indent="0" marL="0">
              <a:buNone/>
            </a:pPr>
            <a:r>
              <a:rPr lang="en-US" sz="2780" b="1" dirty="0">
                <a:solidFill>
                  <a:srgbClr val="172F4B"/>
                </a:solidFill>
                <a:latin typeface="Aptos" pitchFamily="34" charset="0"/>
                <a:ea typeface="Aptos" pitchFamily="34" charset="-122"/>
                <a:cs typeface="Aptos" pitchFamily="34" charset="-120"/>
              </a:rPr>
              <a:t>A small icon, useful skills</a:t>
            </a:r>
            <a:endParaRPr lang="en-US" sz="2780" dirty="0"/>
          </a:p>
        </p:txBody>
      </p:sp>
      <p:sp>
        <p:nvSpPr>
          <p:cNvPr id="7" name="Text 5"/>
          <p:cNvSpPr/>
          <p:nvPr/>
        </p:nvSpPr>
        <p:spPr>
          <a:xfrm>
            <a:off x="512064" y="1453896"/>
            <a:ext cx="11091672" cy="502920"/>
          </a:xfrm>
          <a:prstGeom prst="rect">
            <a:avLst/>
          </a:prstGeom>
          <a:noFill/>
          <a:ln/>
        </p:spPr>
        <p:txBody>
          <a:bodyPr wrap="square" lIns="0" tIns="0" rIns="0" bIns="0" rtlCol="0" anchor="ctr">
            <a:normAutofit/>
          </a:bodyPr>
          <a:lstStyle/>
          <a:p>
            <a:pPr algn="l" indent="0" marL="0">
              <a:buNone/>
            </a:pPr>
            <a:r>
              <a:rPr lang="en-US" sz="1720" dirty="0">
                <a:solidFill>
                  <a:srgbClr val="536D82"/>
                </a:solidFill>
                <a:latin typeface="Aptos" pitchFamily="34" charset="0"/>
                <a:ea typeface="Aptos" pitchFamily="34" charset="-122"/>
                <a:cs typeface="Aptos" pitchFamily="34" charset="-120"/>
              </a:rPr>
              <a:t>The next step is to use the icon within a page layout.</a:t>
            </a:r>
            <a:endParaRPr lang="en-US" sz="1720" dirty="0"/>
          </a:p>
        </p:txBody>
      </p:sp>
      <p:sp>
        <p:nvSpPr>
          <p:cNvPr id="8" name="Shape 6"/>
          <p:cNvSpPr/>
          <p:nvPr/>
        </p:nvSpPr>
        <p:spPr>
          <a:xfrm>
            <a:off x="484632" y="6528816"/>
            <a:ext cx="11247120" cy="0"/>
          </a:xfrm>
          <a:prstGeom prst="line">
            <a:avLst/>
          </a:prstGeom>
          <a:noFill/>
          <a:ln w="11430">
            <a:solidFill>
              <a:srgbClr val="D3E3E9"/>
            </a:solidFill>
            <a:prstDash val="solid"/>
          </a:ln>
        </p:spPr>
        <p:txBody>
          <a:bodyPr/>
          <a:p/>
        </p:txBody>
      </p:sp>
      <p:sp>
        <p:nvSpPr>
          <p:cNvPr id="9" name="Text 7"/>
          <p:cNvSpPr/>
          <p:nvPr/>
        </p:nvSpPr>
        <p:spPr>
          <a:xfrm>
            <a:off x="502920" y="6620256"/>
            <a:ext cx="7772400" cy="146304"/>
          </a:xfrm>
          <a:prstGeom prst="rect">
            <a:avLst/>
          </a:prstGeom>
          <a:noFill/>
          <a:ln/>
        </p:spPr>
        <p:txBody>
          <a:bodyPr wrap="square" lIns="0" tIns="0" rIns="0" bIns="0" rtlCol="0" anchor="ctr">
            <a:normAutofit/>
          </a:bodyPr>
          <a:lstStyle/>
          <a:p>
            <a:pPr algn="l" indent="0" marL="0">
              <a:buNone/>
            </a:pPr>
            <a:r>
              <a:rPr lang="en-US" sz="920" b="1" dirty="0">
                <a:solidFill>
                  <a:srgbClr val="536D82"/>
                </a:solidFill>
                <a:latin typeface="Aptos" pitchFamily="34" charset="0"/>
                <a:ea typeface="Aptos" pitchFamily="34" charset="-122"/>
                <a:cs typeface="Aptos" pitchFamily="34" charset="-120"/>
              </a:rPr>
              <a:t>DESKTOP PUBLISHING  •  VECTOR GRAPHICS  •  2026/2027</a:t>
            </a:r>
            <a:endParaRPr lang="en-US" sz="920" dirty="0"/>
          </a:p>
        </p:txBody>
      </p:sp>
      <p:sp>
        <p:nvSpPr>
          <p:cNvPr id="10" name="Text 8"/>
          <p:cNvSpPr/>
          <p:nvPr/>
        </p:nvSpPr>
        <p:spPr>
          <a:xfrm>
            <a:off x="11155680" y="6583680"/>
            <a:ext cx="512064" cy="182880"/>
          </a:xfrm>
          <a:prstGeom prst="rect">
            <a:avLst/>
          </a:prstGeom>
          <a:noFill/>
          <a:ln/>
        </p:spPr>
        <p:txBody>
          <a:bodyPr wrap="square" lIns="0" tIns="0" rIns="0" bIns="0" rtlCol="0" anchor="ctr">
            <a:normAutofit/>
          </a:bodyPr>
          <a:lstStyle/>
          <a:p>
            <a:pPr algn="r" indent="0" marL="0">
              <a:buNone/>
            </a:pPr>
            <a:r>
              <a:rPr lang="en-US" sz="1100" b="1" dirty="0">
                <a:solidFill>
                  <a:srgbClr val="087F89"/>
                </a:solidFill>
                <a:latin typeface="Aptos" pitchFamily="34" charset="0"/>
                <a:ea typeface="Aptos" pitchFamily="34" charset="-122"/>
                <a:cs typeface="Aptos" pitchFamily="34" charset="-120"/>
              </a:rPr>
              <a:t>36</a:t>
            </a:r>
            <a:endParaRPr lang="en-US" sz="1100" dirty="0"/>
          </a:p>
        </p:txBody>
      </p:sp>
      <p:sp>
        <p:nvSpPr>
          <p:cNvPr id="11" name="Shape 9"/>
          <p:cNvSpPr/>
          <p:nvPr/>
        </p:nvSpPr>
        <p:spPr>
          <a:xfrm>
            <a:off x="612648" y="2066544"/>
            <a:ext cx="6675120" cy="3520440"/>
          </a:xfrm>
          <a:prstGeom prst="roundRect">
            <a:avLst>
              <a:gd name="adj" fmla="val 2857"/>
            </a:avLst>
          </a:prstGeom>
          <a:solidFill>
            <a:srgbClr val="FFFFFF"/>
          </a:solidFill>
          <a:ln w="12700">
            <a:solidFill>
              <a:srgbClr val="CADDE7"/>
            </a:solidFill>
            <a:prstDash val="solid"/>
          </a:ln>
        </p:spPr>
        <p:txBody>
          <a:bodyPr/>
          <a:p/>
        </p:txBody>
      </p:sp>
      <p:sp>
        <p:nvSpPr>
          <p:cNvPr id="12" name="Text 10"/>
          <p:cNvSpPr/>
          <p:nvPr/>
        </p:nvSpPr>
        <p:spPr>
          <a:xfrm>
            <a:off x="859536" y="2286000"/>
            <a:ext cx="5943600" cy="356616"/>
          </a:xfrm>
          <a:prstGeom prst="rect">
            <a:avLst/>
          </a:prstGeom>
          <a:noFill/>
          <a:ln/>
        </p:spPr>
        <p:txBody>
          <a:bodyPr wrap="square" lIns="0" tIns="0" rIns="0" bIns="0" rtlCol="0" anchor="ctr">
            <a:normAutofit/>
          </a:bodyPr>
          <a:lstStyle/>
          <a:p>
            <a:pPr algn="l" indent="0" marL="0">
              <a:buNone/>
            </a:pPr>
            <a:r>
              <a:rPr lang="en-US" sz="2000" b="1" dirty="0">
                <a:solidFill>
                  <a:srgbClr val="172F4B"/>
                </a:solidFill>
                <a:latin typeface="Aptos" pitchFamily="34" charset="0"/>
                <a:ea typeface="Aptos" pitchFamily="34" charset="-122"/>
                <a:cs typeface="Aptos" pitchFamily="34" charset="-120"/>
              </a:rPr>
              <a:t>What you have learned</a:t>
            </a:r>
            <a:endParaRPr lang="en-US" sz="2000" dirty="0"/>
          </a:p>
        </p:txBody>
      </p:sp>
      <p:sp>
        <p:nvSpPr>
          <p:cNvPr id="13" name="Text 11"/>
          <p:cNvSpPr/>
          <p:nvPr/>
        </p:nvSpPr>
        <p:spPr>
          <a:xfrm>
            <a:off x="859536" y="2880360"/>
            <a:ext cx="5989320" cy="2020824"/>
          </a:xfrm>
          <a:prstGeom prst="rect">
            <a:avLst/>
          </a:prstGeom>
          <a:noFill/>
          <a:ln/>
        </p:spPr>
        <p:txBody>
          <a:bodyPr wrap="square" lIns="0" tIns="0" rIns="0" bIns="0" rtlCol="0" anchor="ctr">
            <a:normAutofit/>
          </a:bodyPr>
          <a:lstStyle/>
          <a:p>
            <a:pPr algn="l" indent="0" marL="0">
              <a:buNone/>
            </a:pPr>
            <a:r>
              <a:rPr lang="en-US" sz="2000" dirty="0">
                <a:solidFill>
                  <a:srgbClr val="1A3453"/>
                </a:solidFill>
                <a:latin typeface="Aptos" pitchFamily="34" charset="0"/>
                <a:ea typeface="Aptos" pitchFamily="34" charset="-122"/>
                <a:cs typeface="Aptos" pitchFamily="34" charset="-120"/>
              </a:rPr>
              <a:t>A vector icon is made from editable shapes. You can create it with simple tools, align and group the pieces, save the source and export an appropriate copy. This is enough for our introductory exercise.</a:t>
            </a:r>
            <a:endParaRPr lang="en-US" sz="2000" dirty="0"/>
          </a:p>
        </p:txBody>
      </p:sp>
      <p:pic>
        <p:nvPicPr>
          <p:cNvPr id="14" name="Image 0" descr="/mnt/data/ITT06105_Condensed_L06_Package/resources/Tumaini_Three_Shape_Lightbulb_Model.png">    </p:cNvPr>
          <p:cNvPicPr>
            <a:picLocks noChangeAspect="1"/>
          </p:cNvPicPr>
          <p:nvPr/>
        </p:nvPicPr>
        <p:blipFill>
          <a:blip r:embed="rId1"/>
          <a:stretch>
            <a:fillRect/>
          </a:stretch>
        </p:blipFill>
        <p:spPr>
          <a:xfrm>
            <a:off x="7827264" y="2148840"/>
            <a:ext cx="3319272" cy="3154680"/>
          </a:xfrm>
          <a:prstGeom prst="rect">
            <a:avLst/>
          </a:prstGeom>
        </p:spPr>
      </p:pic>
      <p:sp>
        <p:nvSpPr>
          <p:cNvPr id="15" name="Shape 12"/>
          <p:cNvSpPr/>
          <p:nvPr/>
        </p:nvSpPr>
        <p:spPr>
          <a:xfrm>
            <a:off x="539496" y="5897880"/>
            <a:ext cx="11109960" cy="438912"/>
          </a:xfrm>
          <a:prstGeom prst="roundRect">
            <a:avLst>
              <a:gd name="adj" fmla="val 22917"/>
            </a:avLst>
          </a:prstGeom>
          <a:solidFill>
            <a:srgbClr val="DFF0F1"/>
          </a:solidFill>
          <a:ln w="12700">
            <a:solidFill>
              <a:srgbClr val="DFF0F1"/>
            </a:solidFill>
            <a:prstDash val="solid"/>
          </a:ln>
        </p:spPr>
        <p:txBody>
          <a:bodyPr/>
          <a:p/>
        </p:txBody>
      </p:sp>
      <p:sp>
        <p:nvSpPr>
          <p:cNvPr id="16" name="Text 13"/>
          <p:cNvSpPr/>
          <p:nvPr/>
        </p:nvSpPr>
        <p:spPr>
          <a:xfrm>
            <a:off x="731520" y="5952744"/>
            <a:ext cx="10698480" cy="329184"/>
          </a:xfrm>
          <a:prstGeom prst="rect">
            <a:avLst/>
          </a:prstGeom>
          <a:noFill/>
          <a:ln/>
        </p:spPr>
        <p:txBody>
          <a:bodyPr wrap="square" lIns="0" tIns="0" rIns="0" bIns="0" rtlCol="0" anchor="ctr">
            <a:normAutofit/>
          </a:bodyPr>
          <a:lstStyle/>
          <a:p>
            <a:pPr algn="l" indent="0" marL="0">
              <a:buNone/>
            </a:pPr>
            <a:r>
              <a:rPr lang="en-US" sz="1350" b="1" dirty="0">
                <a:solidFill>
                  <a:srgbClr val="172F4B"/>
                </a:solidFill>
                <a:latin typeface="Aptos" pitchFamily="34" charset="0"/>
                <a:ea typeface="Aptos" pitchFamily="34" charset="-122"/>
                <a:cs typeface="Aptos" pitchFamily="34" charset="-120"/>
              </a:rPr>
              <a:t>Next: use prepared images and icons in a readable A4 page layout with InDesign.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Vector Graphics</dc:title>
  <dc:subject>Condensed Lecture 6 - Vector Graphics</dc:subject>
  <dc:creator>ITT06105 Teaching Materials</dc:creator>
  <cp:lastModifiedBy>ITT06105 Teaching Materials</cp:lastModifiedBy>
  <cp:revision>1</cp:revision>
  <dcterms:created xsi:type="dcterms:W3CDTF">2026-10-21T18:49:19Z</dcterms:created>
  <dcterms:modified xsi:type="dcterms:W3CDTF">2026-10-21T18:49:19Z</dcterms:modified>
</cp:coreProperties>
</file>