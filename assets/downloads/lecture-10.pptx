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552"/>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78A91"/>
          </a:solidFill>
          <a:ln w="12700">
            <a:solidFill>
              <a:srgbClr val="078A91"/>
            </a:solidFill>
            <a:prstDash val="solid"/>
          </a:ln>
        </p:spPr>
        <p:txBody>
          <a:bodyPr/>
          <a:p/>
        </p:txBody>
      </p:sp>
      <p:sp>
        <p:nvSpPr>
          <p:cNvPr id="3" name="Shape 1"/>
          <p:cNvSpPr/>
          <p:nvPr/>
        </p:nvSpPr>
        <p:spPr>
          <a:xfrm>
            <a:off x="722376" y="566928"/>
            <a:ext cx="3749040" cy="484632"/>
          </a:xfrm>
          <a:prstGeom prst="roundRect">
            <a:avLst>
              <a:gd name="adj" fmla="val 22642"/>
            </a:avLst>
          </a:prstGeom>
          <a:solidFill>
            <a:srgbClr val="21435C"/>
          </a:solidFill>
          <a:ln w="12700">
            <a:solidFill>
              <a:srgbClr val="21435C"/>
            </a:solidFill>
            <a:prstDash val="solid"/>
          </a:ln>
        </p:spPr>
        <p:txBody>
          <a:bodyPr/>
          <a:p/>
        </p:txBody>
      </p:sp>
      <p:sp>
        <p:nvSpPr>
          <p:cNvPr id="4" name="Text 2"/>
          <p:cNvSpPr/>
          <p:nvPr/>
        </p:nvSpPr>
        <p:spPr>
          <a:xfrm>
            <a:off x="877824" y="713232"/>
            <a:ext cx="3474720" cy="173736"/>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pitchFamily="34" charset="0"/>
                <a:ea typeface="Aptos" pitchFamily="34" charset="-122"/>
                <a:cs typeface="Aptos" pitchFamily="34" charset="-120"/>
              </a:rPr>
              <a:t>ITT06105  •  DESKTOP PUBLISHING</a:t>
            </a:r>
            <a:endParaRPr lang="en-US" sz="1300" dirty="0"/>
          </a:p>
        </p:txBody>
      </p:sp>
      <p:sp>
        <p:nvSpPr>
          <p:cNvPr id="5" name="Text 3"/>
          <p:cNvSpPr/>
          <p:nvPr/>
        </p:nvSpPr>
        <p:spPr>
          <a:xfrm>
            <a:off x="832104" y="1554480"/>
            <a:ext cx="10424160" cy="685800"/>
          </a:xfrm>
          <a:prstGeom prst="rect">
            <a:avLst/>
          </a:prstGeom>
          <a:noFill/>
          <a:ln/>
        </p:spPr>
        <p:txBody>
          <a:bodyPr wrap="square" lIns="0" tIns="0" rIns="0" bIns="0" rtlCol="0" anchor="ctr">
            <a:normAutofit/>
          </a:bodyPr>
          <a:lstStyle/>
          <a:p>
            <a:pPr indent="0" marL="0">
              <a:buNone/>
            </a:pPr>
            <a:r>
              <a:rPr lang="en-US" sz="3700" b="1" dirty="0">
                <a:solidFill>
                  <a:srgbClr val="FFFFFF"/>
                </a:solidFill>
                <a:latin typeface="Aptos" pitchFamily="34" charset="0"/>
                <a:ea typeface="Aptos" pitchFamily="34" charset="-122"/>
                <a:cs typeface="Aptos" pitchFamily="34" charset="-120"/>
              </a:rPr>
              <a:t>IMAGE PROCESSING</a:t>
            </a:r>
            <a:endParaRPr lang="en-US" sz="3700" dirty="0"/>
          </a:p>
        </p:txBody>
      </p:sp>
      <p:sp>
        <p:nvSpPr>
          <p:cNvPr id="6" name="Text 4"/>
          <p:cNvSpPr/>
          <p:nvPr/>
        </p:nvSpPr>
        <p:spPr>
          <a:xfrm>
            <a:off x="832104" y="2395728"/>
            <a:ext cx="10332720" cy="621792"/>
          </a:xfrm>
          <a:prstGeom prst="rect">
            <a:avLst/>
          </a:prstGeom>
          <a:noFill/>
          <a:ln/>
        </p:spPr>
        <p:txBody>
          <a:bodyPr wrap="square" lIns="0" tIns="0" rIns="0" bIns="0" rtlCol="0" anchor="ctr">
            <a:normAutofit/>
          </a:bodyPr>
          <a:lstStyle/>
          <a:p>
            <a:pPr indent="0" marL="0">
              <a:buNone/>
            </a:pPr>
            <a:r>
              <a:rPr lang="en-US" sz="4300" b="1" dirty="0">
                <a:solidFill>
                  <a:srgbClr val="F6BF53"/>
                </a:solidFill>
                <a:latin typeface="Aptos" pitchFamily="34" charset="0"/>
                <a:ea typeface="Aptos" pitchFamily="34" charset="-122"/>
                <a:cs typeface="Aptos" pitchFamily="34" charset="-120"/>
              </a:rPr>
              <a:t>AND</a:t>
            </a:r>
            <a:endParaRPr lang="en-US" sz="4300" dirty="0"/>
          </a:p>
        </p:txBody>
      </p:sp>
      <p:sp>
        <p:nvSpPr>
          <p:cNvPr id="7" name="Text 5"/>
          <p:cNvSpPr/>
          <p:nvPr/>
        </p:nvSpPr>
        <p:spPr>
          <a:xfrm>
            <a:off x="832104" y="3172968"/>
            <a:ext cx="10515600" cy="612648"/>
          </a:xfrm>
          <a:prstGeom prst="rect">
            <a:avLst/>
          </a:prstGeom>
          <a:noFill/>
          <a:ln/>
        </p:spPr>
        <p:txBody>
          <a:bodyPr wrap="square" lIns="0" tIns="0" rIns="0" bIns="0" rtlCol="0" anchor="ctr">
            <a:normAutofit/>
          </a:bodyPr>
          <a:lstStyle/>
          <a:p>
            <a:pPr indent="0" marL="0">
              <a:buNone/>
            </a:pPr>
            <a:r>
              <a:rPr lang="en-US" sz="4300" b="1" dirty="0">
                <a:solidFill>
                  <a:srgbClr val="FFFFFF"/>
                </a:solidFill>
                <a:latin typeface="Aptos" pitchFamily="34" charset="0"/>
                <a:ea typeface="Aptos" pitchFamily="34" charset="-122"/>
                <a:cs typeface="Aptos" pitchFamily="34" charset="-120"/>
              </a:rPr>
              <a:t>COMPRESSION</a:t>
            </a:r>
            <a:endParaRPr lang="en-US" sz="4300" dirty="0"/>
          </a:p>
        </p:txBody>
      </p:sp>
      <p:sp>
        <p:nvSpPr>
          <p:cNvPr id="8" name="Text 6"/>
          <p:cNvSpPr/>
          <p:nvPr/>
        </p:nvSpPr>
        <p:spPr>
          <a:xfrm>
            <a:off x="841248" y="4105656"/>
            <a:ext cx="10424160" cy="365760"/>
          </a:xfrm>
          <a:prstGeom prst="rect">
            <a:avLst/>
          </a:prstGeom>
          <a:noFill/>
          <a:ln/>
        </p:spPr>
        <p:txBody>
          <a:bodyPr wrap="square" lIns="0" tIns="0" rIns="0" bIns="0" rtlCol="0" anchor="ctr">
            <a:normAutofit/>
          </a:bodyPr>
          <a:lstStyle/>
          <a:p>
            <a:pPr indent="0" marL="0">
              <a:buNone/>
            </a:pPr>
            <a:r>
              <a:rPr lang="en-US" sz="1800" dirty="0">
                <a:solidFill>
                  <a:srgbClr val="FFFFFF"/>
                </a:solidFill>
                <a:latin typeface="Aptos" pitchFamily="34" charset="0"/>
                <a:ea typeface="Aptos" pitchFamily="34" charset="-122"/>
                <a:cs typeface="Aptos" pitchFamily="34" charset="-120"/>
              </a:rPr>
              <a:t>Lecture 10   |   Ordinary Diploma in IT</a:t>
            </a:r>
            <a:endParaRPr lang="en-US" sz="1800" dirty="0"/>
          </a:p>
        </p:txBody>
      </p:sp>
      <p:sp>
        <p:nvSpPr>
          <p:cNvPr id="9" name="Shape 7"/>
          <p:cNvSpPr/>
          <p:nvPr/>
        </p:nvSpPr>
        <p:spPr>
          <a:xfrm>
            <a:off x="813816" y="4901184"/>
            <a:ext cx="10515600" cy="804672"/>
          </a:xfrm>
          <a:prstGeom prst="roundRect">
            <a:avLst>
              <a:gd name="adj" fmla="val 13636"/>
            </a:avLst>
          </a:prstGeom>
          <a:solidFill>
            <a:srgbClr val="21435C"/>
          </a:solidFill>
          <a:ln w="12700">
            <a:solidFill>
              <a:srgbClr val="21435C"/>
            </a:solidFill>
            <a:prstDash val="solid"/>
          </a:ln>
        </p:spPr>
        <p:txBody>
          <a:bodyPr/>
          <a:p/>
        </p:txBody>
      </p:sp>
      <p:sp>
        <p:nvSpPr>
          <p:cNvPr id="10" name="Text 8"/>
          <p:cNvSpPr/>
          <p:nvPr/>
        </p:nvSpPr>
        <p:spPr>
          <a:xfrm>
            <a:off x="1042416" y="5157216"/>
            <a:ext cx="9966960" cy="33832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ptos" pitchFamily="34" charset="0"/>
                <a:ea typeface="Aptos" pitchFamily="34" charset="-122"/>
                <a:cs typeface="Aptos" pitchFamily="34" charset="-120"/>
              </a:rPr>
              <a:t>Process → export → measure → inspect → choose</a:t>
            </a:r>
            <a:endParaRPr lang="en-US" sz="2000" dirty="0"/>
          </a:p>
        </p:txBody>
      </p:sp>
      <p:sp>
        <p:nvSpPr>
          <p:cNvPr id="11" name="Text 9"/>
          <p:cNvSpPr/>
          <p:nvPr/>
        </p:nvSpPr>
        <p:spPr>
          <a:xfrm>
            <a:off x="822960" y="6327648"/>
            <a:ext cx="3931920" cy="182880"/>
          </a:xfrm>
          <a:prstGeom prst="rect">
            <a:avLst/>
          </a:prstGeom>
          <a:noFill/>
          <a:ln/>
        </p:spPr>
        <p:txBody>
          <a:bodyPr wrap="square" lIns="0" tIns="0" rIns="0" bIns="0" rtlCol="0" anchor="ctr">
            <a:normAutofit/>
          </a:bodyPr>
          <a:lstStyle/>
          <a:p>
            <a:pPr indent="0" marL="0">
              <a:buNone/>
            </a:pPr>
            <a:r>
              <a:rPr lang="en-US" sz="1300" dirty="0">
                <a:solidFill>
                  <a:srgbClr val="BDD0DB"/>
                </a:solidFill>
                <a:latin typeface="Aptos" pitchFamily="34" charset="0"/>
                <a:ea typeface="Aptos" pitchFamily="34" charset="-122"/>
                <a:cs typeface="Aptos" pitchFamily="34" charset="-120"/>
              </a:rPr>
              <a:t>Academic year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LEARNING OUTCOMES</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Learning outcomes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After the lecture, you should be able to:</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02</a:t>
            </a:r>
            <a:endParaRPr lang="en-US" sz="1000" dirty="0"/>
          </a:p>
        </p:txBody>
      </p:sp>
      <p:sp>
        <p:nvSpPr>
          <p:cNvPr id="11" name="Shape 9"/>
          <p:cNvSpPr/>
          <p:nvPr/>
        </p:nvSpPr>
        <p:spPr>
          <a:xfrm>
            <a:off x="612648" y="1865376"/>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2" name="Shape 10"/>
          <p:cNvSpPr/>
          <p:nvPr/>
        </p:nvSpPr>
        <p:spPr>
          <a:xfrm>
            <a:off x="795528" y="1993392"/>
            <a:ext cx="594360" cy="488290"/>
          </a:xfrm>
          <a:prstGeom prst="roundRect">
            <a:avLst>
              <a:gd name="adj" fmla="val 22472"/>
            </a:avLst>
          </a:prstGeom>
          <a:solidFill>
            <a:srgbClr val="078A91"/>
          </a:solidFill>
          <a:ln w="12700">
            <a:solidFill>
              <a:srgbClr val="078A91"/>
            </a:solidFill>
            <a:prstDash val="solid"/>
          </a:ln>
        </p:spPr>
        <p:txBody>
          <a:bodyPr/>
          <a:p/>
        </p:txBody>
      </p:sp>
      <p:sp>
        <p:nvSpPr>
          <p:cNvPr id="13" name="Text 11"/>
          <p:cNvSpPr/>
          <p:nvPr/>
        </p:nvSpPr>
        <p:spPr>
          <a:xfrm>
            <a:off x="996696" y="2048256"/>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4" name="Text 12"/>
          <p:cNvSpPr/>
          <p:nvPr/>
        </p:nvSpPr>
        <p:spPr>
          <a:xfrm>
            <a:off x="1554480" y="1975104"/>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Explain</a:t>
            </a:r>
            <a:endParaRPr lang="en-US" sz="1870" dirty="0"/>
          </a:p>
        </p:txBody>
      </p:sp>
      <p:sp>
        <p:nvSpPr>
          <p:cNvPr id="15" name="Text 13"/>
          <p:cNvSpPr/>
          <p:nvPr/>
        </p:nvSpPr>
        <p:spPr>
          <a:xfrm>
            <a:off x="4434840" y="1956816"/>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Describe image processing and its main steps.</a:t>
            </a:r>
            <a:endParaRPr lang="en-US" sz="1740" dirty="0"/>
          </a:p>
        </p:txBody>
      </p:sp>
      <p:sp>
        <p:nvSpPr>
          <p:cNvPr id="16" name="Shape 14"/>
          <p:cNvSpPr/>
          <p:nvPr/>
        </p:nvSpPr>
        <p:spPr>
          <a:xfrm>
            <a:off x="612648" y="272857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7" name="Shape 15"/>
          <p:cNvSpPr/>
          <p:nvPr/>
        </p:nvSpPr>
        <p:spPr>
          <a:xfrm>
            <a:off x="795528" y="2856586"/>
            <a:ext cx="594360" cy="488290"/>
          </a:xfrm>
          <a:prstGeom prst="roundRect">
            <a:avLst>
              <a:gd name="adj" fmla="val 22472"/>
            </a:avLst>
          </a:prstGeom>
          <a:solidFill>
            <a:srgbClr val="173552"/>
          </a:solidFill>
          <a:ln w="12700">
            <a:solidFill>
              <a:srgbClr val="173552"/>
            </a:solidFill>
            <a:prstDash val="solid"/>
          </a:ln>
        </p:spPr>
        <p:txBody>
          <a:bodyPr/>
          <a:p/>
        </p:txBody>
      </p:sp>
      <p:sp>
        <p:nvSpPr>
          <p:cNvPr id="18" name="Text 16"/>
          <p:cNvSpPr/>
          <p:nvPr/>
        </p:nvSpPr>
        <p:spPr>
          <a:xfrm>
            <a:off x="996696" y="291145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9" name="Text 17"/>
          <p:cNvSpPr/>
          <p:nvPr/>
        </p:nvSpPr>
        <p:spPr>
          <a:xfrm>
            <a:off x="1554480" y="283829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Distinguish</a:t>
            </a:r>
            <a:endParaRPr lang="en-US" sz="1870" dirty="0"/>
          </a:p>
        </p:txBody>
      </p:sp>
      <p:sp>
        <p:nvSpPr>
          <p:cNvPr id="20" name="Text 18"/>
          <p:cNvSpPr/>
          <p:nvPr/>
        </p:nvSpPr>
        <p:spPr>
          <a:xfrm>
            <a:off x="4434840" y="282001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Tell cropping, resizing and compression apart.</a:t>
            </a:r>
            <a:endParaRPr lang="en-US" sz="1740" dirty="0"/>
          </a:p>
        </p:txBody>
      </p:sp>
      <p:sp>
        <p:nvSpPr>
          <p:cNvPr id="21" name="Shape 19"/>
          <p:cNvSpPr/>
          <p:nvPr/>
        </p:nvSpPr>
        <p:spPr>
          <a:xfrm>
            <a:off x="612648" y="3591763"/>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2" name="Shape 20"/>
          <p:cNvSpPr/>
          <p:nvPr/>
        </p:nvSpPr>
        <p:spPr>
          <a:xfrm>
            <a:off x="795528" y="3719779"/>
            <a:ext cx="594360" cy="488290"/>
          </a:xfrm>
          <a:prstGeom prst="roundRect">
            <a:avLst>
              <a:gd name="adj" fmla="val 22472"/>
            </a:avLst>
          </a:prstGeom>
          <a:solidFill>
            <a:srgbClr val="078A91"/>
          </a:solidFill>
          <a:ln w="12700">
            <a:solidFill>
              <a:srgbClr val="078A91"/>
            </a:solidFill>
            <a:prstDash val="solid"/>
          </a:ln>
        </p:spPr>
        <p:txBody>
          <a:bodyPr/>
          <a:p/>
        </p:txBody>
      </p:sp>
      <p:sp>
        <p:nvSpPr>
          <p:cNvPr id="23" name="Text 21"/>
          <p:cNvSpPr/>
          <p:nvPr/>
        </p:nvSpPr>
        <p:spPr>
          <a:xfrm>
            <a:off x="996696" y="3774643"/>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4" name="Text 22"/>
          <p:cNvSpPr/>
          <p:nvPr/>
        </p:nvSpPr>
        <p:spPr>
          <a:xfrm>
            <a:off x="1554480" y="3701491"/>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Compare</a:t>
            </a:r>
            <a:endParaRPr lang="en-US" sz="1870" dirty="0"/>
          </a:p>
        </p:txBody>
      </p:sp>
      <p:sp>
        <p:nvSpPr>
          <p:cNvPr id="25" name="Text 23"/>
          <p:cNvSpPr/>
          <p:nvPr/>
        </p:nvSpPr>
        <p:spPr>
          <a:xfrm>
            <a:off x="4434840" y="3683203"/>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Explain lossy, lossless and common file formats.</a:t>
            </a:r>
            <a:endParaRPr lang="en-US" sz="1740" dirty="0"/>
          </a:p>
        </p:txBody>
      </p:sp>
      <p:sp>
        <p:nvSpPr>
          <p:cNvPr id="26" name="Shape 24"/>
          <p:cNvSpPr/>
          <p:nvPr/>
        </p:nvSpPr>
        <p:spPr>
          <a:xfrm>
            <a:off x="612648" y="4454957"/>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7" name="Shape 25"/>
          <p:cNvSpPr/>
          <p:nvPr/>
        </p:nvSpPr>
        <p:spPr>
          <a:xfrm>
            <a:off x="795528" y="4582973"/>
            <a:ext cx="594360" cy="488290"/>
          </a:xfrm>
          <a:prstGeom prst="roundRect">
            <a:avLst>
              <a:gd name="adj" fmla="val 22472"/>
            </a:avLst>
          </a:prstGeom>
          <a:solidFill>
            <a:srgbClr val="173552"/>
          </a:solidFill>
          <a:ln w="12700">
            <a:solidFill>
              <a:srgbClr val="173552"/>
            </a:solidFill>
            <a:prstDash val="solid"/>
          </a:ln>
        </p:spPr>
        <p:txBody>
          <a:bodyPr/>
          <a:p/>
        </p:txBody>
      </p:sp>
      <p:sp>
        <p:nvSpPr>
          <p:cNvPr id="28" name="Text 26"/>
          <p:cNvSpPr/>
          <p:nvPr/>
        </p:nvSpPr>
        <p:spPr>
          <a:xfrm>
            <a:off x="996696" y="4637837"/>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9" name="Text 27"/>
          <p:cNvSpPr/>
          <p:nvPr/>
        </p:nvSpPr>
        <p:spPr>
          <a:xfrm>
            <a:off x="1554480" y="4564685"/>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Calculate</a:t>
            </a:r>
            <a:endParaRPr lang="en-US" sz="1870" dirty="0"/>
          </a:p>
        </p:txBody>
      </p:sp>
      <p:sp>
        <p:nvSpPr>
          <p:cNvPr id="30" name="Text 28"/>
          <p:cNvSpPr/>
          <p:nvPr/>
        </p:nvSpPr>
        <p:spPr>
          <a:xfrm>
            <a:off x="4434840" y="4546397"/>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Find file-size percentage reduction and compression ratio.</a:t>
            </a:r>
            <a:endParaRPr lang="en-US" sz="1740" dirty="0"/>
          </a:p>
        </p:txBody>
      </p:sp>
      <p:sp>
        <p:nvSpPr>
          <p:cNvPr id="31" name="Shape 29"/>
          <p:cNvSpPr/>
          <p:nvPr/>
        </p:nvSpPr>
        <p:spPr>
          <a:xfrm>
            <a:off x="612648" y="531815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32" name="Shape 30"/>
          <p:cNvSpPr/>
          <p:nvPr/>
        </p:nvSpPr>
        <p:spPr>
          <a:xfrm>
            <a:off x="795528" y="5446166"/>
            <a:ext cx="594360" cy="488290"/>
          </a:xfrm>
          <a:prstGeom prst="roundRect">
            <a:avLst>
              <a:gd name="adj" fmla="val 22472"/>
            </a:avLst>
          </a:prstGeom>
          <a:solidFill>
            <a:srgbClr val="078A91"/>
          </a:solidFill>
          <a:ln w="12700">
            <a:solidFill>
              <a:srgbClr val="078A91"/>
            </a:solidFill>
            <a:prstDash val="solid"/>
          </a:ln>
        </p:spPr>
        <p:txBody>
          <a:bodyPr/>
          <a:p/>
        </p:txBody>
      </p:sp>
      <p:sp>
        <p:nvSpPr>
          <p:cNvPr id="33" name="Text 31"/>
          <p:cNvSpPr/>
          <p:nvPr/>
        </p:nvSpPr>
        <p:spPr>
          <a:xfrm>
            <a:off x="996696" y="550103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5</a:t>
            </a:r>
            <a:endParaRPr lang="en-US" sz="1700" dirty="0"/>
          </a:p>
        </p:txBody>
      </p:sp>
      <p:sp>
        <p:nvSpPr>
          <p:cNvPr id="34" name="Text 32"/>
          <p:cNvSpPr/>
          <p:nvPr/>
        </p:nvSpPr>
        <p:spPr>
          <a:xfrm>
            <a:off x="1554480" y="542787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Recommend</a:t>
            </a:r>
            <a:endParaRPr lang="en-US" sz="1870" dirty="0"/>
          </a:p>
        </p:txBody>
      </p:sp>
      <p:sp>
        <p:nvSpPr>
          <p:cNvPr id="35" name="Text 33"/>
          <p:cNvSpPr/>
          <p:nvPr/>
        </p:nvSpPr>
        <p:spPr>
          <a:xfrm>
            <a:off x="4434840" y="540959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Select suitable images for print and digital use.</a:t>
            </a:r>
            <a:endParaRPr lang="en-US" sz="1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COURSE CONNECTION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Our publication needs images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Recall the “Stay Safe Online” hand-out created in previous lectures.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03</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One picture, different destinations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An image may be printed in an A4 educational hand-out, shared through a phone or placed in a poster. The required dimensions, detail, transparency and file size will not always be identical. Image processing prepares the image for each job.</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The right question is not “Which export is smallest?” but “Which export meets the intended use?”</a:t>
            </a:r>
            <a:endParaRPr lang="en-US" sz="1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is image processing?</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foundational term for the final topic.</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04</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Definition</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Image processing is the use of operations to modify, improve, analyse or prepare a digital image for a particular purpose. In desktop publishing, common operations include cropping, resizing, correcting brightness, adjusting contrast and preparing export files.</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For example, an image may be cropped to remove distractions before placement in the hand-out.</a:t>
            </a:r>
            <a:endParaRPr lang="en-US" sz="18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A simple image-processing workflow</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Four stages help avoid repeated trial and error.</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05</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10_Package/resources/Fig01_Workflow.png">    </p:cNvPr>
          <p:cNvPicPr>
            <a:picLocks noChangeAspect="1"/>
          </p:cNvPicPr>
          <p:nvPr/>
        </p:nvPicPr>
        <p:blipFill>
          <a:blip r:embed="rId1"/>
          <a:stretch>
            <a:fillRect/>
          </a:stretch>
        </p:blipFill>
        <p:spPr>
          <a:xfrm>
            <a:off x="640080" y="2122265"/>
            <a:ext cx="6483096" cy="3646742"/>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Start with a purpose</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800" dirty="0">
                <a:solidFill>
                  <a:srgbClr val="173552"/>
                </a:solidFill>
                <a:latin typeface="Aptos" pitchFamily="34" charset="0"/>
                <a:ea typeface="Aptos" pitchFamily="34" charset="-122"/>
                <a:cs typeface="Aptos" pitchFamily="34" charset="-120"/>
              </a:rPr>
              <a:t>Decide where the image will be used. Make necessary corrections; export a suitable format and setting; then inspect the result at the intended size. If it fails, adjust the source or export rather than accepting a poor output.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Three common processing operations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These actions are related, but not identical.</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06</a:t>
            </a:r>
            <a:endParaRPr lang="en-US" sz="1000" dirty="0"/>
          </a:p>
        </p:txBody>
      </p:sp>
      <p:sp>
        <p:nvSpPr>
          <p:cNvPr id="11" name="Shape 9"/>
          <p:cNvSpPr/>
          <p:nvPr/>
        </p:nvSpPr>
        <p:spPr>
          <a:xfrm>
            <a:off x="539496" y="1865376"/>
            <a:ext cx="5449824" cy="4160520"/>
          </a:xfrm>
          <a:prstGeom prst="roundRect">
            <a:avLst>
              <a:gd name="adj" fmla="val 2637"/>
            </a:avLst>
          </a:prstGeom>
          <a:solidFill>
            <a:srgbClr val="FFFFFF"/>
          </a:solidFill>
          <a:ln w="12700">
            <a:solidFill>
              <a:srgbClr val="D3E3E9"/>
            </a:solidFill>
            <a:prstDash val="solid"/>
          </a:ln>
        </p:spPr>
        <p:txBody>
          <a:bodyPr/>
          <a:p/>
        </p:txBody>
      </p:sp>
      <p:sp>
        <p:nvSpPr>
          <p:cNvPr id="12" name="Shape 10"/>
          <p:cNvSpPr/>
          <p:nvPr/>
        </p:nvSpPr>
        <p:spPr>
          <a:xfrm>
            <a:off x="539496" y="1865376"/>
            <a:ext cx="68580"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49808" y="2066544"/>
            <a:ext cx="502005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Cropping</a:t>
            </a:r>
            <a:endParaRPr lang="en-US" sz="2000" dirty="0"/>
          </a:p>
        </p:txBody>
      </p:sp>
      <p:sp>
        <p:nvSpPr>
          <p:cNvPr id="14" name="Text 12"/>
          <p:cNvSpPr/>
          <p:nvPr/>
        </p:nvSpPr>
        <p:spPr>
          <a:xfrm>
            <a:off x="758952" y="2596896"/>
            <a:ext cx="501091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Cropping removes unwanted outer parts of a picture. The remaining image may have a different shape or composition. A crop cannot restore details already outside the selected area.</a:t>
            </a:r>
            <a:endParaRPr lang="en-US" sz="1900" dirty="0"/>
          </a:p>
        </p:txBody>
      </p:sp>
      <p:sp>
        <p:nvSpPr>
          <p:cNvPr id="15" name="Shape 13"/>
          <p:cNvSpPr/>
          <p:nvPr/>
        </p:nvSpPr>
        <p:spPr>
          <a:xfrm>
            <a:off x="6126480" y="1865376"/>
            <a:ext cx="5495544" cy="4160520"/>
          </a:xfrm>
          <a:prstGeom prst="roundRect">
            <a:avLst>
              <a:gd name="adj" fmla="val 2637"/>
            </a:avLst>
          </a:prstGeom>
          <a:solidFill>
            <a:srgbClr val="FFFFFF"/>
          </a:solidFill>
          <a:ln w="12700">
            <a:solidFill>
              <a:srgbClr val="D3E3E9"/>
            </a:solidFill>
            <a:prstDash val="solid"/>
          </a:ln>
        </p:spPr>
        <p:txBody>
          <a:bodyPr/>
          <a:p/>
        </p:txBody>
      </p:sp>
      <p:sp>
        <p:nvSpPr>
          <p:cNvPr id="16" name="Shape 14"/>
          <p:cNvSpPr/>
          <p:nvPr/>
        </p:nvSpPr>
        <p:spPr>
          <a:xfrm>
            <a:off x="6126480" y="1865376"/>
            <a:ext cx="68580"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36792" y="2066544"/>
            <a:ext cx="506577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Resizing and correction</a:t>
            </a:r>
            <a:endParaRPr lang="en-US" sz="2000" dirty="0"/>
          </a:p>
        </p:txBody>
      </p:sp>
      <p:sp>
        <p:nvSpPr>
          <p:cNvPr id="18" name="Text 16"/>
          <p:cNvSpPr/>
          <p:nvPr/>
        </p:nvSpPr>
        <p:spPr>
          <a:xfrm>
            <a:off x="6345936" y="2596896"/>
            <a:ext cx="505663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Resizing changes pixel dimensions, such as 1,200 × 800 to 600 × 400. Correction changes appearance, for example exposure, contrast or colour. Both may be necessary before exporting.</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Resizing versus compression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File size can change for different reasons.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07</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10_Package/resources/Fig05_Resizing.png">    </p:cNvPr>
          <p:cNvPicPr>
            <a:picLocks noChangeAspect="1"/>
          </p:cNvPicPr>
          <p:nvPr/>
        </p:nvPicPr>
        <p:blipFill>
          <a:blip r:embed="rId1"/>
          <a:stretch>
            <a:fillRect/>
          </a:stretch>
        </p:blipFill>
        <p:spPr>
          <a:xfrm>
            <a:off x="640080" y="2122265"/>
            <a:ext cx="6483096" cy="3646742"/>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Distinguish the changes</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800" dirty="0">
                <a:solidFill>
                  <a:srgbClr val="173552"/>
                </a:solidFill>
                <a:latin typeface="Aptos" pitchFamily="34" charset="0"/>
                <a:ea typeface="Aptos" pitchFamily="34" charset="-122"/>
                <a:cs typeface="Aptos" pitchFamily="34" charset="-120"/>
              </a:rPr>
              <a:t>Resizing reduces or increases the pixel grid. Compression changes how image information is encoded. Two exports can have exactly the same pixel dimensions but different file sizes. A fair comparison needs both dimensions and file sizes recorded.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Pixels and image dimensions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Raster images store colour at positions in a pixel grid.</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08</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Pixel dimensions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raster picture measuring 1,200 × 800 contains 1,200 pixels horizontally and 800 vertically. Those numbers describe pixel count, not the physical width in centimetres or the size of the stored file in KiB.</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If we double its printed width without adding detail, its effective PPI becomes lower.</a:t>
            </a:r>
            <a:endParaRPr lang="en-US" sz="1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Cropping as a design decision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crop should strengthen the message without hiding important information.</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09</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What the Crop Tool changes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Cropping removes areas outside the chosen region. It can improve emphasis and make a photograph fit a text-and-image layout. However, removing part of a person, object or caption may change the meaning. Always check that essential content remains visible.</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Example: crop a classroom picture to show the learner and computer more clearly.</a:t>
            </a:r>
            <a:endParaRPr lang="en-US" sz="18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PRACTICAL STEPS</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Basic image preparation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Use a beginner-friendly workflow in Photoshop or GIMP.</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10</a:t>
            </a:r>
            <a:endParaRPr lang="en-US" sz="1000" dirty="0"/>
          </a:p>
        </p:txBody>
      </p:sp>
      <p:sp>
        <p:nvSpPr>
          <p:cNvPr id="11" name="Shape 9"/>
          <p:cNvSpPr/>
          <p:nvPr/>
        </p:nvSpPr>
        <p:spPr>
          <a:xfrm>
            <a:off x="612648" y="1865376"/>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2" name="Shape 10"/>
          <p:cNvSpPr/>
          <p:nvPr/>
        </p:nvSpPr>
        <p:spPr>
          <a:xfrm>
            <a:off x="795528" y="1993392"/>
            <a:ext cx="594360" cy="488290"/>
          </a:xfrm>
          <a:prstGeom prst="roundRect">
            <a:avLst>
              <a:gd name="adj" fmla="val 22472"/>
            </a:avLst>
          </a:prstGeom>
          <a:solidFill>
            <a:srgbClr val="078A91"/>
          </a:solidFill>
          <a:ln w="12700">
            <a:solidFill>
              <a:srgbClr val="078A91"/>
            </a:solidFill>
            <a:prstDash val="solid"/>
          </a:ln>
        </p:spPr>
        <p:txBody>
          <a:bodyPr/>
          <a:p/>
        </p:txBody>
      </p:sp>
      <p:sp>
        <p:nvSpPr>
          <p:cNvPr id="13" name="Text 11"/>
          <p:cNvSpPr/>
          <p:nvPr/>
        </p:nvSpPr>
        <p:spPr>
          <a:xfrm>
            <a:off x="996696" y="2048256"/>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4" name="Text 12"/>
          <p:cNvSpPr/>
          <p:nvPr/>
        </p:nvSpPr>
        <p:spPr>
          <a:xfrm>
            <a:off x="1554480" y="1975104"/>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Open safely</a:t>
            </a:r>
            <a:endParaRPr lang="en-US" sz="1870" dirty="0"/>
          </a:p>
        </p:txBody>
      </p:sp>
      <p:sp>
        <p:nvSpPr>
          <p:cNvPr id="15" name="Text 13"/>
          <p:cNvSpPr/>
          <p:nvPr/>
        </p:nvSpPr>
        <p:spPr>
          <a:xfrm>
            <a:off x="4434840" y="1956816"/>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Work from a copy, keeping the original untouched.</a:t>
            </a:r>
            <a:endParaRPr lang="en-US" sz="1740" dirty="0"/>
          </a:p>
        </p:txBody>
      </p:sp>
      <p:sp>
        <p:nvSpPr>
          <p:cNvPr id="16" name="Shape 14"/>
          <p:cNvSpPr/>
          <p:nvPr/>
        </p:nvSpPr>
        <p:spPr>
          <a:xfrm>
            <a:off x="612648" y="272857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7" name="Shape 15"/>
          <p:cNvSpPr/>
          <p:nvPr/>
        </p:nvSpPr>
        <p:spPr>
          <a:xfrm>
            <a:off x="795528" y="2856586"/>
            <a:ext cx="594360" cy="488290"/>
          </a:xfrm>
          <a:prstGeom prst="roundRect">
            <a:avLst>
              <a:gd name="adj" fmla="val 22472"/>
            </a:avLst>
          </a:prstGeom>
          <a:solidFill>
            <a:srgbClr val="173552"/>
          </a:solidFill>
          <a:ln w="12700">
            <a:solidFill>
              <a:srgbClr val="173552"/>
            </a:solidFill>
            <a:prstDash val="solid"/>
          </a:ln>
        </p:spPr>
        <p:txBody>
          <a:bodyPr/>
          <a:p/>
        </p:txBody>
      </p:sp>
      <p:sp>
        <p:nvSpPr>
          <p:cNvPr id="18" name="Text 16"/>
          <p:cNvSpPr/>
          <p:nvPr/>
        </p:nvSpPr>
        <p:spPr>
          <a:xfrm>
            <a:off x="996696" y="291145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9" name="Text 17"/>
          <p:cNvSpPr/>
          <p:nvPr/>
        </p:nvSpPr>
        <p:spPr>
          <a:xfrm>
            <a:off x="1554480" y="283829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Crop</a:t>
            </a:r>
            <a:endParaRPr lang="en-US" sz="1870" dirty="0"/>
          </a:p>
        </p:txBody>
      </p:sp>
      <p:sp>
        <p:nvSpPr>
          <p:cNvPr id="20" name="Text 18"/>
          <p:cNvSpPr/>
          <p:nvPr/>
        </p:nvSpPr>
        <p:spPr>
          <a:xfrm>
            <a:off x="4434840" y="282001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Choose a suitable aspect ratio and keep meaningful content.</a:t>
            </a:r>
            <a:endParaRPr lang="en-US" sz="1740" dirty="0"/>
          </a:p>
        </p:txBody>
      </p:sp>
      <p:sp>
        <p:nvSpPr>
          <p:cNvPr id="21" name="Shape 19"/>
          <p:cNvSpPr/>
          <p:nvPr/>
        </p:nvSpPr>
        <p:spPr>
          <a:xfrm>
            <a:off x="612648" y="3591763"/>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2" name="Shape 20"/>
          <p:cNvSpPr/>
          <p:nvPr/>
        </p:nvSpPr>
        <p:spPr>
          <a:xfrm>
            <a:off x="795528" y="3719779"/>
            <a:ext cx="594360" cy="488290"/>
          </a:xfrm>
          <a:prstGeom prst="roundRect">
            <a:avLst>
              <a:gd name="adj" fmla="val 22472"/>
            </a:avLst>
          </a:prstGeom>
          <a:solidFill>
            <a:srgbClr val="078A91"/>
          </a:solidFill>
          <a:ln w="12700">
            <a:solidFill>
              <a:srgbClr val="078A91"/>
            </a:solidFill>
            <a:prstDash val="solid"/>
          </a:ln>
        </p:spPr>
        <p:txBody>
          <a:bodyPr/>
          <a:p/>
        </p:txBody>
      </p:sp>
      <p:sp>
        <p:nvSpPr>
          <p:cNvPr id="23" name="Text 21"/>
          <p:cNvSpPr/>
          <p:nvPr/>
        </p:nvSpPr>
        <p:spPr>
          <a:xfrm>
            <a:off x="996696" y="3774643"/>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4" name="Text 22"/>
          <p:cNvSpPr/>
          <p:nvPr/>
        </p:nvSpPr>
        <p:spPr>
          <a:xfrm>
            <a:off x="1554480" y="3701491"/>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Resize if needed</a:t>
            </a:r>
            <a:endParaRPr lang="en-US" sz="1870" dirty="0"/>
          </a:p>
        </p:txBody>
      </p:sp>
      <p:sp>
        <p:nvSpPr>
          <p:cNvPr id="25" name="Text 23"/>
          <p:cNvSpPr/>
          <p:nvPr/>
        </p:nvSpPr>
        <p:spPr>
          <a:xfrm>
            <a:off x="4434840" y="3683203"/>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Set sensible pixel dimensions without distorting proportions.</a:t>
            </a:r>
            <a:endParaRPr lang="en-US" sz="1740" dirty="0"/>
          </a:p>
        </p:txBody>
      </p:sp>
      <p:sp>
        <p:nvSpPr>
          <p:cNvPr id="26" name="Shape 24"/>
          <p:cNvSpPr/>
          <p:nvPr/>
        </p:nvSpPr>
        <p:spPr>
          <a:xfrm>
            <a:off x="612648" y="4454957"/>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7" name="Shape 25"/>
          <p:cNvSpPr/>
          <p:nvPr/>
        </p:nvSpPr>
        <p:spPr>
          <a:xfrm>
            <a:off x="795528" y="4582973"/>
            <a:ext cx="594360" cy="488290"/>
          </a:xfrm>
          <a:prstGeom prst="roundRect">
            <a:avLst>
              <a:gd name="adj" fmla="val 22472"/>
            </a:avLst>
          </a:prstGeom>
          <a:solidFill>
            <a:srgbClr val="173552"/>
          </a:solidFill>
          <a:ln w="12700">
            <a:solidFill>
              <a:srgbClr val="173552"/>
            </a:solidFill>
            <a:prstDash val="solid"/>
          </a:ln>
        </p:spPr>
        <p:txBody>
          <a:bodyPr/>
          <a:p/>
        </p:txBody>
      </p:sp>
      <p:sp>
        <p:nvSpPr>
          <p:cNvPr id="28" name="Text 26"/>
          <p:cNvSpPr/>
          <p:nvPr/>
        </p:nvSpPr>
        <p:spPr>
          <a:xfrm>
            <a:off x="996696" y="4637837"/>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9" name="Text 27"/>
          <p:cNvSpPr/>
          <p:nvPr/>
        </p:nvSpPr>
        <p:spPr>
          <a:xfrm>
            <a:off x="1554480" y="4564685"/>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Adjust lightly</a:t>
            </a:r>
            <a:endParaRPr lang="en-US" sz="1870" dirty="0"/>
          </a:p>
        </p:txBody>
      </p:sp>
      <p:sp>
        <p:nvSpPr>
          <p:cNvPr id="30" name="Text 28"/>
          <p:cNvSpPr/>
          <p:nvPr/>
        </p:nvSpPr>
        <p:spPr>
          <a:xfrm>
            <a:off x="4434840" y="4546397"/>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Improve contrast or brightness only when the result is better.</a:t>
            </a:r>
            <a:endParaRPr lang="en-US" sz="1740" dirty="0"/>
          </a:p>
        </p:txBody>
      </p:sp>
      <p:sp>
        <p:nvSpPr>
          <p:cNvPr id="31" name="Shape 29"/>
          <p:cNvSpPr/>
          <p:nvPr/>
        </p:nvSpPr>
        <p:spPr>
          <a:xfrm>
            <a:off x="612648" y="531815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32" name="Shape 30"/>
          <p:cNvSpPr/>
          <p:nvPr/>
        </p:nvSpPr>
        <p:spPr>
          <a:xfrm>
            <a:off x="795528" y="5446166"/>
            <a:ext cx="594360" cy="488290"/>
          </a:xfrm>
          <a:prstGeom prst="roundRect">
            <a:avLst>
              <a:gd name="adj" fmla="val 22472"/>
            </a:avLst>
          </a:prstGeom>
          <a:solidFill>
            <a:srgbClr val="078A91"/>
          </a:solidFill>
          <a:ln w="12700">
            <a:solidFill>
              <a:srgbClr val="078A91"/>
            </a:solidFill>
            <a:prstDash val="solid"/>
          </a:ln>
        </p:spPr>
        <p:txBody>
          <a:bodyPr/>
          <a:p/>
        </p:txBody>
      </p:sp>
      <p:sp>
        <p:nvSpPr>
          <p:cNvPr id="33" name="Text 31"/>
          <p:cNvSpPr/>
          <p:nvPr/>
        </p:nvSpPr>
        <p:spPr>
          <a:xfrm>
            <a:off x="996696" y="550103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5</a:t>
            </a:r>
            <a:endParaRPr lang="en-US" sz="1700" dirty="0"/>
          </a:p>
        </p:txBody>
      </p:sp>
      <p:sp>
        <p:nvSpPr>
          <p:cNvPr id="34" name="Text 32"/>
          <p:cNvSpPr/>
          <p:nvPr/>
        </p:nvSpPr>
        <p:spPr>
          <a:xfrm>
            <a:off x="1554480" y="542787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Export and review</a:t>
            </a:r>
            <a:endParaRPr lang="en-US" sz="1870" dirty="0"/>
          </a:p>
        </p:txBody>
      </p:sp>
      <p:sp>
        <p:nvSpPr>
          <p:cNvPr id="35" name="Text 33"/>
          <p:cNvSpPr/>
          <p:nvPr/>
        </p:nvSpPr>
        <p:spPr>
          <a:xfrm>
            <a:off x="4434840" y="540959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Save the source, then inspect the exported image.</a:t>
            </a:r>
            <a:endParaRPr lang="en-US" sz="17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Choose the correct operation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Consider what the student wants to change.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11</a:t>
            </a:r>
            <a:endParaRPr lang="en-US" sz="1000" dirty="0"/>
          </a:p>
        </p:txBody>
      </p:sp>
      <p:sp>
        <p:nvSpPr>
          <p:cNvPr id="11" name="Shape 9"/>
          <p:cNvSpPr/>
          <p:nvPr/>
        </p:nvSpPr>
        <p:spPr>
          <a:xfrm>
            <a:off x="685800" y="1892808"/>
            <a:ext cx="10808208" cy="2944368"/>
          </a:xfrm>
          <a:prstGeom prst="roundRect">
            <a:avLst>
              <a:gd name="adj" fmla="val 3727"/>
            </a:avLst>
          </a:prstGeom>
          <a:solidFill>
            <a:srgbClr val="FFFFFF"/>
          </a:solidFill>
          <a:ln w="12700">
            <a:solidFill>
              <a:srgbClr val="D3E3E9"/>
            </a:solidFill>
            <a:prstDash val="solid"/>
          </a:ln>
        </p:spPr>
        <p:txBody>
          <a:bodyPr/>
          <a:p/>
        </p:txBody>
      </p:sp>
      <p:sp>
        <p:nvSpPr>
          <p:cNvPr id="12" name="Text 10"/>
          <p:cNvSpPr/>
          <p:nvPr/>
        </p:nvSpPr>
        <p:spPr>
          <a:xfrm>
            <a:off x="960120" y="2148840"/>
            <a:ext cx="320040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79776"/>
            <a:ext cx="9875520" cy="1499616"/>
          </a:xfrm>
          <a:prstGeom prst="rect">
            <a:avLst/>
          </a:prstGeom>
          <a:noFill/>
          <a:ln/>
        </p:spPr>
        <p:txBody>
          <a:bodyPr wrap="square" lIns="0" tIns="0" rIns="0" bIns="0" rtlCol="0" anchor="t">
            <a:normAutofit/>
          </a:bodyPr>
          <a:lstStyle/>
          <a:p>
            <a:pPr indent="0" marL="0">
              <a:buNone/>
            </a:pPr>
            <a:r>
              <a:rPr lang="en-US" sz="2330" b="1" dirty="0">
                <a:solidFill>
                  <a:srgbClr val="173552"/>
                </a:solidFill>
                <a:latin typeface="Aptos" pitchFamily="34" charset="0"/>
                <a:ea typeface="Aptos" pitchFamily="34" charset="-122"/>
                <a:cs typeface="Aptos" pitchFamily="34" charset="-120"/>
              </a:rPr>
              <a:t>A photo is 1,200 × 800 pixels. Its subject is too small, and the image is too large to upload. Which two separate operations might help?</a:t>
            </a:r>
            <a:endParaRPr lang="en-US" sz="2330" dirty="0"/>
          </a:p>
        </p:txBody>
      </p:sp>
      <p:sp>
        <p:nvSpPr>
          <p:cNvPr id="14" name="Shape 12"/>
          <p:cNvSpPr/>
          <p:nvPr/>
        </p:nvSpPr>
        <p:spPr>
          <a:xfrm>
            <a:off x="685800" y="5056632"/>
            <a:ext cx="10808208" cy="978408"/>
          </a:xfrm>
          <a:prstGeom prst="roundRect">
            <a:avLst>
              <a:gd name="adj" fmla="val 11215"/>
            </a:avLst>
          </a:prstGeom>
          <a:solidFill>
            <a:srgbClr val="EAF3F5"/>
          </a:solidFill>
          <a:ln w="12700">
            <a:solidFill>
              <a:srgbClr val="EAF3F5"/>
            </a:solidFill>
            <a:prstDash val="solid"/>
          </a:ln>
        </p:spPr>
        <p:txBody>
          <a:bodyPr/>
          <a:p/>
        </p:txBody>
      </p:sp>
      <p:sp>
        <p:nvSpPr>
          <p:cNvPr id="15" name="Text 13"/>
          <p:cNvSpPr/>
          <p:nvPr/>
        </p:nvSpPr>
        <p:spPr>
          <a:xfrm>
            <a:off x="941832" y="5248656"/>
            <a:ext cx="10058400" cy="603504"/>
          </a:xfrm>
          <a:prstGeom prst="rect">
            <a:avLst/>
          </a:prstGeom>
          <a:noFill/>
          <a:ln/>
        </p:spPr>
        <p:txBody>
          <a:bodyPr wrap="square" lIns="0" tIns="0" rIns="0" bIns="0" rtlCol="0" anchor="ctr">
            <a:normAutofit/>
          </a:bodyPr>
          <a:lstStyle/>
          <a:p>
            <a:pPr indent="0" marL="0">
              <a:buNone/>
            </a:pPr>
            <a:r>
              <a:rPr lang="en-US" sz="1740" dirty="0">
                <a:solidFill>
                  <a:srgbClr val="61798A"/>
                </a:solidFill>
                <a:latin typeface="Aptos" pitchFamily="34" charset="0"/>
                <a:ea typeface="Aptos" pitchFamily="34" charset="-122"/>
                <a:cs typeface="Aptos" pitchFamily="34" charset="-120"/>
              </a:rPr>
              <a:t>Explain the goal of cropping and the goal of export compression separately.</a:t>
            </a:r>
            <a:endParaRPr lang="en-US" sz="17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does image compression do?</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Compression is about storing and distributing image information.</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12</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Definition</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Image compression reduces the amount of digital storage required to represent an image. A compressed image may upload faster or require less space. Compression can be lossless or lossy, and the visible result depends on the format, settings and image content.</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Compression should not be confused with simply changing image dimensions.</a:t>
            </a:r>
            <a:endParaRPr lang="en-US" sz="18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Two main kinds of compression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Know the difference before choosing a file format.</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13</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10_Package/resources/Fig02_Lossy_Lossless.png">    </p:cNvPr>
          <p:cNvPicPr>
            <a:picLocks noChangeAspect="1"/>
          </p:cNvPicPr>
          <p:nvPr/>
        </p:nvPicPr>
        <p:blipFill>
          <a:blip r:embed="rId1"/>
          <a:stretch>
            <a:fillRect/>
          </a:stretch>
        </p:blipFill>
        <p:spPr>
          <a:xfrm>
            <a:off x="640080" y="2122265"/>
            <a:ext cx="6483096" cy="3646742"/>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Two strategies</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800" dirty="0">
                <a:solidFill>
                  <a:srgbClr val="173552"/>
                </a:solidFill>
                <a:latin typeface="Aptos" pitchFamily="34" charset="0"/>
                <a:ea typeface="Aptos" pitchFamily="34" charset="-122"/>
                <a:cs typeface="Aptos" pitchFamily="34" charset="-120"/>
              </a:rPr>
              <a:t>Lossless methods preserve all image information needed for exact reconstruction of the encoded image. Lossy methods discard selected information to produce potentially smaller outputs, but may harm fine details.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Lossless compression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Useful when faithful detail or crisp graphic edges matter.</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14</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Basic idea</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lossless format can recover the stored pixels without data being removed by the compression process. PNG uses lossless compression and is commonly chosen for screenshots, graphic elements and images that require transparency.</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Lossless does not mean every PNG is small; complicated images can still have large files.</a:t>
            </a:r>
            <a:endParaRPr lang="en-US" sz="18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Lossy compression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Smaller files can involve a visible quality trade-off.</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15</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Basic idea</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Lossy compression discards some image information. JPEG is a common lossy format. When compression is stronger, the file may become smaller, but smooth areas, fine lines and text may show blocks, halos or loss of detail.</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Lossy image quality should be judged by looking at the actual export at a suitable viewing size.</a:t>
            </a:r>
            <a:endParaRPr lang="en-US" sz="18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Compare image details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 practical uses four exports with equal pixel dimensions.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16</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10_Package/resources/Fig03_Compare_Crops.png">    </p:cNvPr>
          <p:cNvPicPr>
            <a:picLocks noChangeAspect="1"/>
          </p:cNvPicPr>
          <p:nvPr/>
        </p:nvPicPr>
        <p:blipFill>
          <a:blip r:embed="rId1"/>
          <a:stretch>
            <a:fillRect/>
          </a:stretch>
        </p:blipFill>
        <p:spPr>
          <a:xfrm>
            <a:off x="640080" y="2122265"/>
            <a:ext cx="6483096" cy="3646742"/>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Inspect fairly</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800" dirty="0">
                <a:solidFill>
                  <a:srgbClr val="173552"/>
                </a:solidFill>
                <a:latin typeface="Aptos" pitchFamily="34" charset="0"/>
                <a:ea typeface="Aptos" pitchFamily="34" charset="-122"/>
                <a:cs typeface="Aptos" pitchFamily="34" charset="-120"/>
              </a:rPr>
              <a:t>Each version is based on the same 1,200 × 800 image. Compare the same region at the same displayed scale; then view the file as it would appear in the final publication. Compression differences may be clearer in some regions than others.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does JPEG quality mean?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useful setting, but not a universal numerical measurement.</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17</a:t>
            </a:r>
            <a:endParaRPr lang="en-US" sz="1000" dirty="0"/>
          </a:p>
        </p:txBody>
      </p:sp>
      <p:sp>
        <p:nvSpPr>
          <p:cNvPr id="11" name="Shape 9"/>
          <p:cNvSpPr/>
          <p:nvPr/>
        </p:nvSpPr>
        <p:spPr>
          <a:xfrm>
            <a:off x="539496" y="1865376"/>
            <a:ext cx="5449824" cy="4160520"/>
          </a:xfrm>
          <a:prstGeom prst="roundRect">
            <a:avLst>
              <a:gd name="adj" fmla="val 2637"/>
            </a:avLst>
          </a:prstGeom>
          <a:solidFill>
            <a:srgbClr val="FFFFFF"/>
          </a:solidFill>
          <a:ln w="12700">
            <a:solidFill>
              <a:srgbClr val="D3E3E9"/>
            </a:solidFill>
            <a:prstDash val="solid"/>
          </a:ln>
        </p:spPr>
        <p:txBody>
          <a:bodyPr/>
          <a:p/>
        </p:txBody>
      </p:sp>
      <p:sp>
        <p:nvSpPr>
          <p:cNvPr id="12" name="Shape 10"/>
          <p:cNvSpPr/>
          <p:nvPr/>
        </p:nvSpPr>
        <p:spPr>
          <a:xfrm>
            <a:off x="539496" y="1865376"/>
            <a:ext cx="68580"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49808" y="2066544"/>
            <a:ext cx="502005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Higher setting</a:t>
            </a:r>
            <a:endParaRPr lang="en-US" sz="2000" dirty="0"/>
          </a:p>
        </p:txBody>
      </p:sp>
      <p:sp>
        <p:nvSpPr>
          <p:cNvPr id="14" name="Text 12"/>
          <p:cNvSpPr/>
          <p:nvPr/>
        </p:nvSpPr>
        <p:spPr>
          <a:xfrm>
            <a:off x="758952" y="2596896"/>
            <a:ext cx="501091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high-quality JPEG setting usually retains more visual detail but tends to produce a larger file. A photographic announcement may benefit from this when fine edges or colour transitions matter.</a:t>
            </a:r>
            <a:endParaRPr lang="en-US" sz="1900" dirty="0"/>
          </a:p>
        </p:txBody>
      </p:sp>
      <p:sp>
        <p:nvSpPr>
          <p:cNvPr id="15" name="Shape 13"/>
          <p:cNvSpPr/>
          <p:nvPr/>
        </p:nvSpPr>
        <p:spPr>
          <a:xfrm>
            <a:off x="6126480" y="1865376"/>
            <a:ext cx="5495544" cy="4160520"/>
          </a:xfrm>
          <a:prstGeom prst="roundRect">
            <a:avLst>
              <a:gd name="adj" fmla="val 2637"/>
            </a:avLst>
          </a:prstGeom>
          <a:solidFill>
            <a:srgbClr val="FFFFFF"/>
          </a:solidFill>
          <a:ln w="12700">
            <a:solidFill>
              <a:srgbClr val="D3E3E9"/>
            </a:solidFill>
            <a:prstDash val="solid"/>
          </a:ln>
        </p:spPr>
        <p:txBody>
          <a:bodyPr/>
          <a:p/>
        </p:txBody>
      </p:sp>
      <p:sp>
        <p:nvSpPr>
          <p:cNvPr id="16" name="Shape 14"/>
          <p:cNvSpPr/>
          <p:nvPr/>
        </p:nvSpPr>
        <p:spPr>
          <a:xfrm>
            <a:off x="6126480" y="1865376"/>
            <a:ext cx="68580"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36792" y="2066544"/>
            <a:ext cx="506577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Lower setting</a:t>
            </a:r>
            <a:endParaRPr lang="en-US" sz="2000" dirty="0"/>
          </a:p>
        </p:txBody>
      </p:sp>
      <p:sp>
        <p:nvSpPr>
          <p:cNvPr id="18" name="Text 16"/>
          <p:cNvSpPr/>
          <p:nvPr/>
        </p:nvSpPr>
        <p:spPr>
          <a:xfrm>
            <a:off x="6345936" y="2596896"/>
            <a:ext cx="505663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lower setting often gives a smaller file, but may create visible artefacts. Settings such as Q90 and Q55 are encoder controls, not a universal claim that the resulting image retains exactly 90% or 55% of its information.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Transparency needs attention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 background can be part of a graphic requirement.</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18</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10_Package/resources/Fig07_Transparency.png">    </p:cNvPr>
          <p:cNvPicPr>
            <a:picLocks noChangeAspect="1"/>
          </p:cNvPicPr>
          <p:nvPr/>
        </p:nvPicPr>
        <p:blipFill>
          <a:blip r:embed="rId1"/>
          <a:stretch>
            <a:fillRect/>
          </a:stretch>
        </p:blipFill>
        <p:spPr>
          <a:xfrm>
            <a:off x="640080" y="2122265"/>
            <a:ext cx="6483096" cy="3646742"/>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PNG and SVG can help</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800" dirty="0">
                <a:solidFill>
                  <a:srgbClr val="173552"/>
                </a:solidFill>
                <a:latin typeface="Aptos" pitchFamily="34" charset="0"/>
                <a:ea typeface="Aptos" pitchFamily="34" charset="-122"/>
                <a:cs typeface="Aptos" pitchFamily="34" charset="-120"/>
              </a:rPr>
              <a:t>A transparent badge can sit over different page colours. PNG preserves raster transparency, while SVG can keep a vector icon scalable. Ordinary JPEG does not preserve a transparency channel, making it a poor choice for an icon that needs a clear background.</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Common image formats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quick comparison of basic publishing choices.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19</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10_Package/resources/Fig04_Formats.png">    </p:cNvPr>
          <p:cNvPicPr>
            <a:picLocks noChangeAspect="1"/>
          </p:cNvPicPr>
          <p:nvPr/>
        </p:nvPicPr>
        <p:blipFill>
          <a:blip r:embed="rId1"/>
          <a:stretch>
            <a:fillRect/>
          </a:stretch>
        </p:blipFill>
        <p:spPr>
          <a:xfrm>
            <a:off x="640080" y="2122265"/>
            <a:ext cx="6483096" cy="3646742"/>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Match format to content</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800" dirty="0">
                <a:solidFill>
                  <a:srgbClr val="173552"/>
                </a:solidFill>
                <a:latin typeface="Aptos" pitchFamily="34" charset="0"/>
                <a:ea typeface="Aptos" pitchFamily="34" charset="-122"/>
                <a:cs typeface="Aptos" pitchFamily="34" charset="-120"/>
              </a:rPr>
              <a:t>JPEG is often used for photographs. PNG is useful for crisp graphics or transparency. WebP supports efficient web exports when compatible with the delivery platform. TIFF may appear in specialist print workflows; follow the print provider’s requirements.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JPEG and PNG in practice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Both may be used in the same publication.</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20</a:t>
            </a:r>
            <a:endParaRPr lang="en-US" sz="1000" dirty="0"/>
          </a:p>
        </p:txBody>
      </p:sp>
      <p:sp>
        <p:nvSpPr>
          <p:cNvPr id="11" name="Shape 9"/>
          <p:cNvSpPr/>
          <p:nvPr/>
        </p:nvSpPr>
        <p:spPr>
          <a:xfrm>
            <a:off x="539496" y="1865376"/>
            <a:ext cx="5449824" cy="4160520"/>
          </a:xfrm>
          <a:prstGeom prst="roundRect">
            <a:avLst>
              <a:gd name="adj" fmla="val 2637"/>
            </a:avLst>
          </a:prstGeom>
          <a:solidFill>
            <a:srgbClr val="FFFFFF"/>
          </a:solidFill>
          <a:ln w="12700">
            <a:solidFill>
              <a:srgbClr val="D3E3E9"/>
            </a:solidFill>
            <a:prstDash val="solid"/>
          </a:ln>
        </p:spPr>
        <p:txBody>
          <a:bodyPr/>
          <a:p/>
        </p:txBody>
      </p:sp>
      <p:sp>
        <p:nvSpPr>
          <p:cNvPr id="12" name="Shape 10"/>
          <p:cNvSpPr/>
          <p:nvPr/>
        </p:nvSpPr>
        <p:spPr>
          <a:xfrm>
            <a:off x="539496" y="1865376"/>
            <a:ext cx="68580"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49808" y="2066544"/>
            <a:ext cx="502005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JPEG — photographs</a:t>
            </a:r>
            <a:endParaRPr lang="en-US" sz="2000" dirty="0"/>
          </a:p>
        </p:txBody>
      </p:sp>
      <p:sp>
        <p:nvSpPr>
          <p:cNvPr id="14" name="Text 12"/>
          <p:cNvSpPr/>
          <p:nvPr/>
        </p:nvSpPr>
        <p:spPr>
          <a:xfrm>
            <a:off x="758952" y="2596896"/>
            <a:ext cx="501091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Usually effective for natural photographic images with many colours and gradients. It does not support alpha transparency, and repeated lossy re-saving should be avoided when an editable source is available.</a:t>
            </a:r>
            <a:endParaRPr lang="en-US" sz="1900" dirty="0"/>
          </a:p>
        </p:txBody>
      </p:sp>
      <p:sp>
        <p:nvSpPr>
          <p:cNvPr id="15" name="Shape 13"/>
          <p:cNvSpPr/>
          <p:nvPr/>
        </p:nvSpPr>
        <p:spPr>
          <a:xfrm>
            <a:off x="6126480" y="1865376"/>
            <a:ext cx="5495544" cy="4160520"/>
          </a:xfrm>
          <a:prstGeom prst="roundRect">
            <a:avLst>
              <a:gd name="adj" fmla="val 2637"/>
            </a:avLst>
          </a:prstGeom>
          <a:solidFill>
            <a:srgbClr val="FFFFFF"/>
          </a:solidFill>
          <a:ln w="12700">
            <a:solidFill>
              <a:srgbClr val="D3E3E9"/>
            </a:solidFill>
            <a:prstDash val="solid"/>
          </a:ln>
        </p:spPr>
        <p:txBody>
          <a:bodyPr/>
          <a:p/>
        </p:txBody>
      </p:sp>
      <p:sp>
        <p:nvSpPr>
          <p:cNvPr id="16" name="Shape 14"/>
          <p:cNvSpPr/>
          <p:nvPr/>
        </p:nvSpPr>
        <p:spPr>
          <a:xfrm>
            <a:off x="6126480" y="1865376"/>
            <a:ext cx="68580"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36792" y="2066544"/>
            <a:ext cx="506577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PNG — graphic elements</a:t>
            </a:r>
            <a:endParaRPr lang="en-US" sz="2000" dirty="0"/>
          </a:p>
        </p:txBody>
      </p:sp>
      <p:sp>
        <p:nvSpPr>
          <p:cNvPr id="18" name="Text 16"/>
          <p:cNvSpPr/>
          <p:nvPr/>
        </p:nvSpPr>
        <p:spPr>
          <a:xfrm>
            <a:off x="6345936" y="2596896"/>
            <a:ext cx="505663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Often useful for flat-colour graphics, screenshots, diagrams and transparent icons. It stores pixels without lossy compression, though photographic PNG files may be much larger than suitable JPEG exports.</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EXPLAIN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WebP, TIFF and source files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Not every file is intended for the same workflow.</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21</a:t>
            </a:r>
            <a:endParaRPr lang="en-US" sz="1000" dirty="0"/>
          </a:p>
        </p:txBody>
      </p:sp>
      <p:sp>
        <p:nvSpPr>
          <p:cNvPr id="11" name="Shape 9"/>
          <p:cNvSpPr/>
          <p:nvPr/>
        </p:nvSpPr>
        <p:spPr>
          <a:xfrm>
            <a:off x="539496" y="1865376"/>
            <a:ext cx="5449824" cy="4160520"/>
          </a:xfrm>
          <a:prstGeom prst="roundRect">
            <a:avLst>
              <a:gd name="adj" fmla="val 2637"/>
            </a:avLst>
          </a:prstGeom>
          <a:solidFill>
            <a:srgbClr val="FFFFFF"/>
          </a:solidFill>
          <a:ln w="12700">
            <a:solidFill>
              <a:srgbClr val="D3E3E9"/>
            </a:solidFill>
            <a:prstDash val="solid"/>
          </a:ln>
        </p:spPr>
        <p:txBody>
          <a:bodyPr/>
          <a:p/>
        </p:txBody>
      </p:sp>
      <p:sp>
        <p:nvSpPr>
          <p:cNvPr id="12" name="Shape 10"/>
          <p:cNvSpPr/>
          <p:nvPr/>
        </p:nvSpPr>
        <p:spPr>
          <a:xfrm>
            <a:off x="539496" y="1865376"/>
            <a:ext cx="68580" cy="4160520"/>
          </a:xfrm>
          <a:prstGeom prst="rect">
            <a:avLst/>
          </a:prstGeom>
          <a:solidFill>
            <a:srgbClr val="078A91"/>
          </a:solidFill>
          <a:ln w="12700">
            <a:solidFill>
              <a:srgbClr val="078A91"/>
            </a:solidFill>
            <a:prstDash val="solid"/>
          </a:ln>
        </p:spPr>
        <p:txBody>
          <a:bodyPr/>
          <a:p/>
        </p:txBody>
      </p:sp>
      <p:sp>
        <p:nvSpPr>
          <p:cNvPr id="13" name="Text 11"/>
          <p:cNvSpPr/>
          <p:nvPr/>
        </p:nvSpPr>
        <p:spPr>
          <a:xfrm>
            <a:off x="749808" y="2066544"/>
            <a:ext cx="502005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WebP and TIFF</a:t>
            </a:r>
            <a:endParaRPr lang="en-US" sz="2000" dirty="0"/>
          </a:p>
        </p:txBody>
      </p:sp>
      <p:sp>
        <p:nvSpPr>
          <p:cNvPr id="14" name="Text 12"/>
          <p:cNvSpPr/>
          <p:nvPr/>
        </p:nvSpPr>
        <p:spPr>
          <a:xfrm>
            <a:off x="758952" y="2596896"/>
            <a:ext cx="501091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WebP can provide efficient delivery for websites and supported applications; it offers lossy and lossless modes. TIFF is commonly encountered in some high-quality image and print exchanges and may generate larger files.</a:t>
            </a:r>
            <a:endParaRPr lang="en-US" sz="1900" dirty="0"/>
          </a:p>
        </p:txBody>
      </p:sp>
      <p:sp>
        <p:nvSpPr>
          <p:cNvPr id="15" name="Shape 13"/>
          <p:cNvSpPr/>
          <p:nvPr/>
        </p:nvSpPr>
        <p:spPr>
          <a:xfrm>
            <a:off x="6126480" y="1865376"/>
            <a:ext cx="5495544" cy="4160520"/>
          </a:xfrm>
          <a:prstGeom prst="roundRect">
            <a:avLst>
              <a:gd name="adj" fmla="val 2637"/>
            </a:avLst>
          </a:prstGeom>
          <a:solidFill>
            <a:srgbClr val="FFFFFF"/>
          </a:solidFill>
          <a:ln w="12700">
            <a:solidFill>
              <a:srgbClr val="D3E3E9"/>
            </a:solidFill>
            <a:prstDash val="solid"/>
          </a:ln>
        </p:spPr>
        <p:txBody>
          <a:bodyPr/>
          <a:p/>
        </p:txBody>
      </p:sp>
      <p:sp>
        <p:nvSpPr>
          <p:cNvPr id="16" name="Shape 14"/>
          <p:cNvSpPr/>
          <p:nvPr/>
        </p:nvSpPr>
        <p:spPr>
          <a:xfrm>
            <a:off x="6126480" y="1865376"/>
            <a:ext cx="68580" cy="4160520"/>
          </a:xfrm>
          <a:prstGeom prst="rect">
            <a:avLst/>
          </a:prstGeom>
          <a:solidFill>
            <a:srgbClr val="EFAA35"/>
          </a:solidFill>
          <a:ln w="12700">
            <a:solidFill>
              <a:srgbClr val="EFAA35"/>
            </a:solidFill>
            <a:prstDash val="solid"/>
          </a:ln>
        </p:spPr>
        <p:txBody>
          <a:bodyPr/>
          <a:p/>
        </p:txBody>
      </p:sp>
      <p:sp>
        <p:nvSpPr>
          <p:cNvPr id="17" name="Text 15"/>
          <p:cNvSpPr/>
          <p:nvPr/>
        </p:nvSpPr>
        <p:spPr>
          <a:xfrm>
            <a:off x="6336792" y="2066544"/>
            <a:ext cx="5065776"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Keep editable source files</a:t>
            </a:r>
            <a:endParaRPr lang="en-US" sz="2000" dirty="0"/>
          </a:p>
        </p:txBody>
      </p:sp>
      <p:sp>
        <p:nvSpPr>
          <p:cNvPr id="18" name="Text 16"/>
          <p:cNvSpPr/>
          <p:nvPr/>
        </p:nvSpPr>
        <p:spPr>
          <a:xfrm>
            <a:off x="6345936" y="2596896"/>
            <a:ext cx="5056632" cy="3300984"/>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Photoshop PSD is a working project with layers, while an exported JPEG or PNG is intended for delivery. Preserve the editable version so later changes do not require repeatedly degrading an exported image.</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Choose a format</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good answer explains why the format fits the purpose.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22</a:t>
            </a:r>
            <a:endParaRPr lang="en-US" sz="1000" dirty="0"/>
          </a:p>
        </p:txBody>
      </p:sp>
      <p:sp>
        <p:nvSpPr>
          <p:cNvPr id="11" name="Shape 9"/>
          <p:cNvSpPr/>
          <p:nvPr/>
        </p:nvSpPr>
        <p:spPr>
          <a:xfrm>
            <a:off x="685800" y="1892808"/>
            <a:ext cx="10808208" cy="2944368"/>
          </a:xfrm>
          <a:prstGeom prst="roundRect">
            <a:avLst>
              <a:gd name="adj" fmla="val 3727"/>
            </a:avLst>
          </a:prstGeom>
          <a:solidFill>
            <a:srgbClr val="FFFFFF"/>
          </a:solidFill>
          <a:ln w="12700">
            <a:solidFill>
              <a:srgbClr val="D3E3E9"/>
            </a:solidFill>
            <a:prstDash val="solid"/>
          </a:ln>
        </p:spPr>
        <p:txBody>
          <a:bodyPr/>
          <a:p/>
        </p:txBody>
      </p:sp>
      <p:sp>
        <p:nvSpPr>
          <p:cNvPr id="12" name="Text 10"/>
          <p:cNvSpPr/>
          <p:nvPr/>
        </p:nvSpPr>
        <p:spPr>
          <a:xfrm>
            <a:off x="960120" y="2148840"/>
            <a:ext cx="320040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79776"/>
            <a:ext cx="9875520" cy="1499616"/>
          </a:xfrm>
          <a:prstGeom prst="rect">
            <a:avLst/>
          </a:prstGeom>
          <a:noFill/>
          <a:ln/>
        </p:spPr>
        <p:txBody>
          <a:bodyPr wrap="square" lIns="0" tIns="0" rIns="0" bIns="0" rtlCol="0" anchor="t">
            <a:normAutofit/>
          </a:bodyPr>
          <a:lstStyle/>
          <a:p>
            <a:pPr indent="0" marL="0">
              <a:buNone/>
            </a:pPr>
            <a:r>
              <a:rPr lang="en-US" sz="2330" b="1" dirty="0">
                <a:solidFill>
                  <a:srgbClr val="173552"/>
                </a:solidFill>
                <a:latin typeface="Aptos" pitchFamily="34" charset="0"/>
                <a:ea typeface="Aptos" pitchFamily="34" charset="-122"/>
                <a:cs typeface="Aptos" pitchFamily="34" charset="-120"/>
              </a:rPr>
              <a:t>Would you normally use a transparent PNG or a JPEG to place a lightbulb icon over a coloured hand-out background? Explain your choice.</a:t>
            </a:r>
            <a:endParaRPr lang="en-US" sz="2330" dirty="0"/>
          </a:p>
        </p:txBody>
      </p:sp>
      <p:sp>
        <p:nvSpPr>
          <p:cNvPr id="14" name="Shape 12"/>
          <p:cNvSpPr/>
          <p:nvPr/>
        </p:nvSpPr>
        <p:spPr>
          <a:xfrm>
            <a:off x="685800" y="5056632"/>
            <a:ext cx="10808208" cy="978408"/>
          </a:xfrm>
          <a:prstGeom prst="roundRect">
            <a:avLst>
              <a:gd name="adj" fmla="val 11215"/>
            </a:avLst>
          </a:prstGeom>
          <a:solidFill>
            <a:srgbClr val="EAF3F5"/>
          </a:solidFill>
          <a:ln w="12700">
            <a:solidFill>
              <a:srgbClr val="EAF3F5"/>
            </a:solidFill>
            <a:prstDash val="solid"/>
          </a:ln>
        </p:spPr>
        <p:txBody>
          <a:bodyPr/>
          <a:p/>
        </p:txBody>
      </p:sp>
      <p:sp>
        <p:nvSpPr>
          <p:cNvPr id="15" name="Text 13"/>
          <p:cNvSpPr/>
          <p:nvPr/>
        </p:nvSpPr>
        <p:spPr>
          <a:xfrm>
            <a:off x="941832" y="5248656"/>
            <a:ext cx="10058400" cy="603504"/>
          </a:xfrm>
          <a:prstGeom prst="rect">
            <a:avLst/>
          </a:prstGeom>
          <a:noFill/>
          <a:ln/>
        </p:spPr>
        <p:txBody>
          <a:bodyPr wrap="square" lIns="0" tIns="0" rIns="0" bIns="0" rtlCol="0" anchor="ctr">
            <a:normAutofit/>
          </a:bodyPr>
          <a:lstStyle/>
          <a:p>
            <a:pPr indent="0" marL="0">
              <a:buNone/>
            </a:pPr>
            <a:r>
              <a:rPr lang="en-US" sz="1740" dirty="0">
                <a:solidFill>
                  <a:srgbClr val="61798A"/>
                </a:solidFill>
                <a:latin typeface="Aptos" pitchFamily="34" charset="0"/>
                <a:ea typeface="Aptos" pitchFamily="34" charset="-122"/>
                <a:cs typeface="Aptos" pitchFamily="34" charset="-120"/>
              </a:rPr>
              <a:t>You may also mention an SVG if an editable vector icon is supported.</a:t>
            </a:r>
            <a:endParaRPr lang="en-US" sz="174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How do we measure file size?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Two units you may encounter on a computer.</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23</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Bytes and kibibytes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 byte is a unit of stored digital information. One kibibyte (KiB) is 1,024 bytes. File size and image dimensions are different measurements; two 1,200 × 800 images may have very different file sizes because of encoding and content.</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The practical uses KiB to describe the files measured from its supplied image set.</a:t>
            </a:r>
            <a:endParaRPr lang="en-US" sz="18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FORMULA</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Percentage file-size reduction</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simple calculation describes how much smaller an export becomes.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24</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Formula</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Percentage reduction = ((Original size − New size) ÷ Original size) × 100. Use the same size unit on both sides and make sure the new size is smaller. A reduction of 75% means that one-quarter of the original file size remains.</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Example: original 800 KiB, new 200 KiB → (800 − 200) ÷ 800 × 100 = 75%.</a:t>
            </a:r>
            <a:endParaRPr lang="en-US" sz="18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WORKED EXAMPLE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Worked example: 800 KiB to 200 KiB</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Write the units and show your arithmetic.</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25</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Calculation</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Original file O = 800 KiB; exported file N = 200 KiB. Difference = 600 KiB. Percentage reduction = (600 ÷ 800) × 100 = 75%. The export is 25% of the original size.</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A smaller file does not prove that the visual result remains acceptable.</a:t>
            </a:r>
            <a:endParaRPr lang="en-US" sz="18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Real measurements from our files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The class can verify these sizes with a file manager.</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26</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10_Package/resources/Fig09_Results.png">    </p:cNvPr>
          <p:cNvPicPr>
            <a:picLocks noChangeAspect="1"/>
          </p:cNvPicPr>
          <p:nvPr/>
        </p:nvPicPr>
        <p:blipFill>
          <a:blip r:embed="rId1"/>
          <a:stretch>
            <a:fillRect/>
          </a:stretch>
        </p:blipFill>
        <p:spPr>
          <a:xfrm>
            <a:off x="640080" y="2122265"/>
            <a:ext cx="6483096" cy="3646742"/>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Interpret the table</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800" dirty="0">
                <a:solidFill>
                  <a:srgbClr val="173552"/>
                </a:solidFill>
                <a:latin typeface="Aptos" pitchFamily="34" charset="0"/>
                <a:ea typeface="Aptos" pitchFamily="34" charset="-122"/>
                <a:cs typeface="Aptos" pitchFamily="34" charset="-120"/>
              </a:rPr>
              <a:t>The original PNG is approximately 712.8 KiB. JPEG Q55 is approximately 47.7 KiB, a reduction of about 93.3%. These measured files all have 1,200 × 800 pixel dimensions. Another encoder may produce different values.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WORKED EXAMPLE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Worked example: PNG versus JPEG</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Use measured bytes or rounded KiB consistently.</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27</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Approximate reduction</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Original PNG = 712.8 KiB. JPEG Q55 = 47.7 KiB. Reduction = (712.8 − 47.7) ÷ 712.8 × 100 ≈ 93.3%. The JPEG file occupies roughly 6.7% of the PNG size.</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Check readability before recommending the JPEG simply because it is smaller.</a:t>
            </a:r>
            <a:endParaRPr lang="en-US" sz="18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FORMULA</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is a compression ratio?</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Another way to express the size change.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28</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Original size : New size</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An original-to-new compression ratio describes how many units of old storage correspond to one unit of new storage. For 800 KiB reduced to 200 KiB, the ratio is 800:200, or 4:1.</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A 4:1 ratio is not the same number as the 75% reduction, though they describe the same size change.</a:t>
            </a:r>
            <a:endParaRPr lang="en-US" sz="18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PRACTICE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Calculate with a colleague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Try the calculation before checking the solution.</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29</a:t>
            </a:r>
            <a:endParaRPr lang="en-US" sz="1000" dirty="0"/>
          </a:p>
        </p:txBody>
      </p:sp>
      <p:sp>
        <p:nvSpPr>
          <p:cNvPr id="11" name="Shape 9"/>
          <p:cNvSpPr/>
          <p:nvPr/>
        </p:nvSpPr>
        <p:spPr>
          <a:xfrm>
            <a:off x="685800" y="1892808"/>
            <a:ext cx="10808208" cy="2944368"/>
          </a:xfrm>
          <a:prstGeom prst="roundRect">
            <a:avLst>
              <a:gd name="adj" fmla="val 3727"/>
            </a:avLst>
          </a:prstGeom>
          <a:solidFill>
            <a:srgbClr val="FFFFFF"/>
          </a:solidFill>
          <a:ln w="12700">
            <a:solidFill>
              <a:srgbClr val="D3E3E9"/>
            </a:solidFill>
            <a:prstDash val="solid"/>
          </a:ln>
        </p:spPr>
        <p:txBody>
          <a:bodyPr/>
          <a:p/>
        </p:txBody>
      </p:sp>
      <p:sp>
        <p:nvSpPr>
          <p:cNvPr id="12" name="Text 10"/>
          <p:cNvSpPr/>
          <p:nvPr/>
        </p:nvSpPr>
        <p:spPr>
          <a:xfrm>
            <a:off x="960120" y="2148840"/>
            <a:ext cx="3200400" cy="347472"/>
          </a:xfrm>
          <a:prstGeom prst="rect">
            <a:avLst/>
          </a:prstGeom>
          <a:noFill/>
          <a:ln/>
        </p:spPr>
        <p:txBody>
          <a:bodyPr wrap="square" lIns="0" tIns="0" rIns="0" bIns="0" rtlCol="0" anchor="ctr">
            <a:normAutofit/>
          </a:bodyPr>
          <a:lstStyle/>
          <a:p>
            <a:pPr indent="0" marL="0">
              <a:buNone/>
            </a:pPr>
            <a:r>
              <a:rPr lang="en-US" sz="1800" b="1" dirty="0">
                <a:solidFill>
                  <a:srgbClr val="078A91"/>
                </a:solidFill>
                <a:latin typeface="Aptos" pitchFamily="34" charset="0"/>
                <a:ea typeface="Aptos" pitchFamily="34" charset="-122"/>
                <a:cs typeface="Aptos" pitchFamily="34" charset="-120"/>
              </a:rPr>
              <a:t>YOUR TURN</a:t>
            </a:r>
            <a:endParaRPr lang="en-US" sz="1800" dirty="0"/>
          </a:p>
        </p:txBody>
      </p:sp>
      <p:sp>
        <p:nvSpPr>
          <p:cNvPr id="13" name="Text 11"/>
          <p:cNvSpPr/>
          <p:nvPr/>
        </p:nvSpPr>
        <p:spPr>
          <a:xfrm>
            <a:off x="960120" y="2779776"/>
            <a:ext cx="9875520" cy="1499616"/>
          </a:xfrm>
          <a:prstGeom prst="rect">
            <a:avLst/>
          </a:prstGeom>
          <a:noFill/>
          <a:ln/>
        </p:spPr>
        <p:txBody>
          <a:bodyPr wrap="square" lIns="0" tIns="0" rIns="0" bIns="0" rtlCol="0" anchor="t">
            <a:normAutofit/>
          </a:bodyPr>
          <a:lstStyle/>
          <a:p>
            <a:pPr indent="0" marL="0">
              <a:buNone/>
            </a:pPr>
            <a:r>
              <a:rPr lang="en-US" sz="2330" b="1" dirty="0">
                <a:solidFill>
                  <a:srgbClr val="173552"/>
                </a:solidFill>
                <a:latin typeface="Aptos" pitchFamily="34" charset="0"/>
                <a:ea typeface="Aptos" pitchFamily="34" charset="-122"/>
                <a:cs typeface="Aptos" pitchFamily="34" charset="-120"/>
              </a:rPr>
              <a:t>A file of 600 KiB becomes 150 KiB. What are the percentage reduction and original-to-new compression ratio?</a:t>
            </a:r>
            <a:endParaRPr lang="en-US" sz="2330" dirty="0"/>
          </a:p>
        </p:txBody>
      </p:sp>
      <p:sp>
        <p:nvSpPr>
          <p:cNvPr id="14" name="Shape 12"/>
          <p:cNvSpPr/>
          <p:nvPr/>
        </p:nvSpPr>
        <p:spPr>
          <a:xfrm>
            <a:off x="685800" y="5056632"/>
            <a:ext cx="10808208" cy="978408"/>
          </a:xfrm>
          <a:prstGeom prst="roundRect">
            <a:avLst>
              <a:gd name="adj" fmla="val 11215"/>
            </a:avLst>
          </a:prstGeom>
          <a:solidFill>
            <a:srgbClr val="EAF3F5"/>
          </a:solidFill>
          <a:ln w="12700">
            <a:solidFill>
              <a:srgbClr val="EAF3F5"/>
            </a:solidFill>
            <a:prstDash val="solid"/>
          </a:ln>
        </p:spPr>
        <p:txBody>
          <a:bodyPr/>
          <a:p/>
        </p:txBody>
      </p:sp>
      <p:sp>
        <p:nvSpPr>
          <p:cNvPr id="15" name="Text 13"/>
          <p:cNvSpPr/>
          <p:nvPr/>
        </p:nvSpPr>
        <p:spPr>
          <a:xfrm>
            <a:off x="941832" y="5248656"/>
            <a:ext cx="10058400" cy="603504"/>
          </a:xfrm>
          <a:prstGeom prst="rect">
            <a:avLst/>
          </a:prstGeom>
          <a:noFill/>
          <a:ln/>
        </p:spPr>
        <p:txBody>
          <a:bodyPr wrap="square" lIns="0" tIns="0" rIns="0" bIns="0" rtlCol="0" anchor="ctr">
            <a:normAutofit/>
          </a:bodyPr>
          <a:lstStyle/>
          <a:p>
            <a:pPr indent="0" marL="0">
              <a:buNone/>
            </a:pPr>
            <a:r>
              <a:rPr lang="en-US" sz="1740" dirty="0">
                <a:solidFill>
                  <a:srgbClr val="61798A"/>
                </a:solidFill>
                <a:latin typeface="Aptos" pitchFamily="34" charset="0"/>
                <a:ea typeface="Aptos" pitchFamily="34" charset="-122"/>
                <a:cs typeface="Aptos" pitchFamily="34" charset="-120"/>
              </a:rPr>
              <a:t>Expected reasoning: calculate the difference first, then divide by the original.</a:t>
            </a:r>
            <a:endParaRPr lang="en-US" sz="174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Make fair comparisons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Do not change too many variables at once.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30</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Control pixel dimensions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To compare export settings, begin with one original image and keep pixel dimensions constant. Record each format, quality setting and resulting file size. A 600 × 400 resized image should be analysed separately from the 1,200 × 800 exports because pixel count has also changed.</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The smallest file in our practice set is not necessarily the preferred print image.</a:t>
            </a:r>
            <a:endParaRPr lang="en-US" sz="18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should be checked visually?</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View exports at equal size and at their real intended display size.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31</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10_Package/resources/Fig08_Checklist.png">    </p:cNvPr>
          <p:cNvPicPr>
            <a:picLocks noChangeAspect="1"/>
          </p:cNvPicPr>
          <p:nvPr/>
        </p:nvPicPr>
        <p:blipFill>
          <a:blip r:embed="rId1"/>
          <a:stretch>
            <a:fillRect/>
          </a:stretch>
        </p:blipFill>
        <p:spPr>
          <a:xfrm>
            <a:off x="640080" y="2122265"/>
            <a:ext cx="6483096" cy="3646742"/>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A practical inspection</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800" dirty="0">
                <a:solidFill>
                  <a:srgbClr val="173552"/>
                </a:solidFill>
                <a:latin typeface="Aptos" pitchFamily="34" charset="0"/>
                <a:ea typeface="Aptos" pitchFamily="34" charset="-122"/>
                <a:cs typeface="Aptos" pitchFamily="34" charset="-120"/>
              </a:rPr>
              <a:t>Look at text, edges, colour, photographic detail and transparency where needed. Strong compression artefacts can make a graphic hard to read, even if the file transfers quickly. Notice whether the output still communicates its intended message.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CONCEPT</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are compression artefacts?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Sometimes lost detail appears as visible defects.</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32</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Recognising common problems</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At strong lossy settings, an image may show square blocks, fuzzy edges, ringing around high-contrast lines or blurred small lettering. Artefacts are more noticeable in some types of content than others. Compare both the detailed view and normal viewing size.</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A clean high-resolution source will not be restored by increasing JPEG export quality after it has already been damaged.</a:t>
            </a:r>
            <a:endParaRPr lang="en-US" sz="18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COURSE CONNECTION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Image quality for printing</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Recall effective PPI from Lecture 9.</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33</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Effective PPI</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Image pixel density at the final physical print size can affect clarity. Effective PPI = (pixel width × 25.4) ÷ printed width in millimetres. This is not the same as printer DPI. The required image quality depends on the print context and provider.</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An image that looks fine on a phone may not be detailed enough when printed much larger.</a:t>
            </a:r>
            <a:endParaRPr lang="en-US" sz="18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WORKED EXAMPLE</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Worked print example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Link image dimensions to the size on the page.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34</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1,200 pixels across 150 mm</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Effective PPI = 1,200 × 25.4 ÷ 150 = 203.2 PPI. This tells us the pixel density at the intended printed width. It is one factor in print suitability, not a universal guarantee of acceptable output.</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Ask the printer for any required image-resolution specification.</a:t>
            </a:r>
            <a:endParaRPr lang="en-US" sz="18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ILLUSTRATION</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Choosing images for three uses</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suitable format depends on the job.</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35</a:t>
            </a:r>
            <a:endParaRPr lang="en-US" sz="1000" dirty="0"/>
          </a:p>
        </p:txBody>
      </p:sp>
      <p:sp>
        <p:nvSpPr>
          <p:cNvPr id="11" name="Shape 9"/>
          <p:cNvSpPr/>
          <p:nvPr/>
        </p:nvSpPr>
        <p:spPr>
          <a:xfrm>
            <a:off x="530352" y="1865376"/>
            <a:ext cx="6693408" cy="4160520"/>
          </a:xfrm>
          <a:prstGeom prst="roundRect">
            <a:avLst>
              <a:gd name="adj" fmla="val 2637"/>
            </a:avLst>
          </a:prstGeom>
          <a:solidFill>
            <a:srgbClr val="FFFFFF"/>
          </a:solidFill>
          <a:ln w="12700">
            <a:solidFill>
              <a:srgbClr val="D3E3E9"/>
            </a:solidFill>
            <a:prstDash val="solid"/>
          </a:ln>
        </p:spPr>
        <p:txBody>
          <a:bodyPr/>
          <a:p/>
        </p:txBody>
      </p:sp>
      <p:pic>
        <p:nvPicPr>
          <p:cNvPr id="12" name="Image 0" descr="/mnt/data/ITT06105_Condensed_L10_Package/resources/Fig06_Delivery.png">    </p:cNvPr>
          <p:cNvPicPr>
            <a:picLocks noChangeAspect="1"/>
          </p:cNvPicPr>
          <p:nvPr/>
        </p:nvPicPr>
        <p:blipFill>
          <a:blip r:embed="rId1"/>
          <a:stretch>
            <a:fillRect/>
          </a:stretch>
        </p:blipFill>
        <p:spPr>
          <a:xfrm>
            <a:off x="640080" y="2122265"/>
            <a:ext cx="6483096" cy="3646742"/>
          </a:xfrm>
          <a:prstGeom prst="rect">
            <a:avLst/>
          </a:prstGeom>
        </p:spPr>
      </p:pic>
      <p:sp>
        <p:nvSpPr>
          <p:cNvPr id="13" name="Shape 10"/>
          <p:cNvSpPr/>
          <p:nvPr/>
        </p:nvSpPr>
        <p:spPr>
          <a:xfrm>
            <a:off x="7388352" y="1865376"/>
            <a:ext cx="4242816" cy="4160520"/>
          </a:xfrm>
          <a:prstGeom prst="roundRect">
            <a:avLst>
              <a:gd name="adj" fmla="val 2637"/>
            </a:avLst>
          </a:prstGeom>
          <a:solidFill>
            <a:srgbClr val="FFFFFF"/>
          </a:solidFill>
          <a:ln w="12700">
            <a:solidFill>
              <a:srgbClr val="D3E3E9"/>
            </a:solidFill>
            <a:prstDash val="solid"/>
          </a:ln>
        </p:spPr>
        <p:txBody>
          <a:bodyPr/>
          <a:p/>
        </p:txBody>
      </p:sp>
      <p:sp>
        <p:nvSpPr>
          <p:cNvPr id="14" name="Shape 11"/>
          <p:cNvSpPr/>
          <p:nvPr/>
        </p:nvSpPr>
        <p:spPr>
          <a:xfrm>
            <a:off x="7388352" y="1865376"/>
            <a:ext cx="68580" cy="4160520"/>
          </a:xfrm>
          <a:prstGeom prst="rect">
            <a:avLst/>
          </a:prstGeom>
          <a:solidFill>
            <a:srgbClr val="078A91"/>
          </a:solidFill>
          <a:ln w="12700">
            <a:solidFill>
              <a:srgbClr val="078A91"/>
            </a:solidFill>
            <a:prstDash val="solid"/>
          </a:ln>
        </p:spPr>
        <p:txBody>
          <a:bodyPr/>
          <a:p/>
        </p:txBody>
      </p:sp>
      <p:sp>
        <p:nvSpPr>
          <p:cNvPr id="15" name="Text 12"/>
          <p:cNvSpPr/>
          <p:nvPr/>
        </p:nvSpPr>
        <p:spPr>
          <a:xfrm>
            <a:off x="7598664" y="2066544"/>
            <a:ext cx="3813048" cy="365760"/>
          </a:xfrm>
          <a:prstGeom prst="rect">
            <a:avLst/>
          </a:prstGeom>
          <a:noFill/>
          <a:ln/>
        </p:spPr>
        <p:txBody>
          <a:bodyPr wrap="square" lIns="0" tIns="0" rIns="0" bIns="0" rtlCol="0" anchor="ctr">
            <a:normAutofit/>
          </a:bodyPr>
          <a:lstStyle/>
          <a:p>
            <a:pPr indent="0" marL="0">
              <a:buNone/>
            </a:pPr>
            <a:r>
              <a:rPr lang="en-US" sz="2000" b="1" dirty="0">
                <a:solidFill>
                  <a:srgbClr val="173552"/>
                </a:solidFill>
                <a:latin typeface="Aptos" pitchFamily="34" charset="0"/>
                <a:ea typeface="Aptos" pitchFamily="34" charset="-122"/>
                <a:cs typeface="Aptos" pitchFamily="34" charset="-120"/>
              </a:rPr>
              <a:t>Three different decisions</a:t>
            </a:r>
            <a:endParaRPr lang="en-US" sz="2000" dirty="0"/>
          </a:p>
        </p:txBody>
      </p:sp>
      <p:sp>
        <p:nvSpPr>
          <p:cNvPr id="16" name="Text 13"/>
          <p:cNvSpPr/>
          <p:nvPr/>
        </p:nvSpPr>
        <p:spPr>
          <a:xfrm>
            <a:off x="7607808" y="2596896"/>
            <a:ext cx="3803904" cy="3300984"/>
          </a:xfrm>
          <a:prstGeom prst="rect">
            <a:avLst/>
          </a:prstGeom>
          <a:noFill/>
          <a:ln/>
        </p:spPr>
        <p:txBody>
          <a:bodyPr wrap="square" lIns="0" tIns="0" rIns="0" bIns="0" rtlCol="0" anchor="t">
            <a:normAutofit/>
          </a:bodyPr>
          <a:lstStyle/>
          <a:p>
            <a:pPr indent="0" marL="0">
              <a:buNone/>
            </a:pPr>
            <a:r>
              <a:rPr lang="en-US" sz="1800" dirty="0">
                <a:solidFill>
                  <a:srgbClr val="173552"/>
                </a:solidFill>
                <a:latin typeface="Aptos" pitchFamily="34" charset="0"/>
                <a:ea typeface="Aptos" pitchFamily="34" charset="-122"/>
                <a:cs typeface="Aptos" pitchFamily="34" charset="-120"/>
              </a:rPr>
              <a:t>A mobile announcement may favour a compact JPEG or supported WebP. A printed hand-out needs suitable image detail at final output size. A transparent icon can be kept as SVG or exported to a PNG that preserves transparent areas.</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PRACTICAL TASK</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Our practical exercise</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Use the provided images and measurement sheet.</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36</a:t>
            </a:r>
            <a:endParaRPr lang="en-US" sz="1000" dirty="0"/>
          </a:p>
        </p:txBody>
      </p:sp>
      <p:sp>
        <p:nvSpPr>
          <p:cNvPr id="11" name="Shape 9"/>
          <p:cNvSpPr/>
          <p:nvPr/>
        </p:nvSpPr>
        <p:spPr>
          <a:xfrm>
            <a:off x="612648" y="1865376"/>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2" name="Shape 10"/>
          <p:cNvSpPr/>
          <p:nvPr/>
        </p:nvSpPr>
        <p:spPr>
          <a:xfrm>
            <a:off x="795528" y="1993392"/>
            <a:ext cx="594360" cy="488290"/>
          </a:xfrm>
          <a:prstGeom prst="roundRect">
            <a:avLst>
              <a:gd name="adj" fmla="val 22472"/>
            </a:avLst>
          </a:prstGeom>
          <a:solidFill>
            <a:srgbClr val="078A91"/>
          </a:solidFill>
          <a:ln w="12700">
            <a:solidFill>
              <a:srgbClr val="078A91"/>
            </a:solidFill>
            <a:prstDash val="solid"/>
          </a:ln>
        </p:spPr>
        <p:txBody>
          <a:bodyPr/>
          <a:p/>
        </p:txBody>
      </p:sp>
      <p:sp>
        <p:nvSpPr>
          <p:cNvPr id="13" name="Text 11"/>
          <p:cNvSpPr/>
          <p:nvPr/>
        </p:nvSpPr>
        <p:spPr>
          <a:xfrm>
            <a:off x="996696" y="2048256"/>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4" name="Text 12"/>
          <p:cNvSpPr/>
          <p:nvPr/>
        </p:nvSpPr>
        <p:spPr>
          <a:xfrm>
            <a:off x="1554480" y="1975104"/>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Open and compare</a:t>
            </a:r>
            <a:endParaRPr lang="en-US" sz="1870" dirty="0"/>
          </a:p>
        </p:txBody>
      </p:sp>
      <p:sp>
        <p:nvSpPr>
          <p:cNvPr id="15" name="Text 13"/>
          <p:cNvSpPr/>
          <p:nvPr/>
        </p:nvSpPr>
        <p:spPr>
          <a:xfrm>
            <a:off x="4434840" y="1956816"/>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Review original PNG, JPEG and WebP exports.</a:t>
            </a:r>
            <a:endParaRPr lang="en-US" sz="1740" dirty="0"/>
          </a:p>
        </p:txBody>
      </p:sp>
      <p:sp>
        <p:nvSpPr>
          <p:cNvPr id="16" name="Shape 14"/>
          <p:cNvSpPr/>
          <p:nvPr/>
        </p:nvSpPr>
        <p:spPr>
          <a:xfrm>
            <a:off x="612648" y="272857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17" name="Shape 15"/>
          <p:cNvSpPr/>
          <p:nvPr/>
        </p:nvSpPr>
        <p:spPr>
          <a:xfrm>
            <a:off x="795528" y="2856586"/>
            <a:ext cx="594360" cy="488290"/>
          </a:xfrm>
          <a:prstGeom prst="roundRect">
            <a:avLst>
              <a:gd name="adj" fmla="val 22472"/>
            </a:avLst>
          </a:prstGeom>
          <a:solidFill>
            <a:srgbClr val="173552"/>
          </a:solidFill>
          <a:ln w="12700">
            <a:solidFill>
              <a:srgbClr val="173552"/>
            </a:solidFill>
            <a:prstDash val="solid"/>
          </a:ln>
        </p:spPr>
        <p:txBody>
          <a:bodyPr/>
          <a:p/>
        </p:txBody>
      </p:sp>
      <p:sp>
        <p:nvSpPr>
          <p:cNvPr id="18" name="Text 16"/>
          <p:cNvSpPr/>
          <p:nvPr/>
        </p:nvSpPr>
        <p:spPr>
          <a:xfrm>
            <a:off x="996696" y="291145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9" name="Text 17"/>
          <p:cNvSpPr/>
          <p:nvPr/>
        </p:nvSpPr>
        <p:spPr>
          <a:xfrm>
            <a:off x="1554480" y="283829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Record measurements</a:t>
            </a:r>
            <a:endParaRPr lang="en-US" sz="1870" dirty="0"/>
          </a:p>
        </p:txBody>
      </p:sp>
      <p:sp>
        <p:nvSpPr>
          <p:cNvPr id="20" name="Text 18"/>
          <p:cNvSpPr/>
          <p:nvPr/>
        </p:nvSpPr>
        <p:spPr>
          <a:xfrm>
            <a:off x="4434840" y="282001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Note dimensions, KiB values and settings.</a:t>
            </a:r>
            <a:endParaRPr lang="en-US" sz="1740" dirty="0"/>
          </a:p>
        </p:txBody>
      </p:sp>
      <p:sp>
        <p:nvSpPr>
          <p:cNvPr id="21" name="Shape 19"/>
          <p:cNvSpPr/>
          <p:nvPr/>
        </p:nvSpPr>
        <p:spPr>
          <a:xfrm>
            <a:off x="612648" y="3591763"/>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2" name="Shape 20"/>
          <p:cNvSpPr/>
          <p:nvPr/>
        </p:nvSpPr>
        <p:spPr>
          <a:xfrm>
            <a:off x="795528" y="3719779"/>
            <a:ext cx="594360" cy="488290"/>
          </a:xfrm>
          <a:prstGeom prst="roundRect">
            <a:avLst>
              <a:gd name="adj" fmla="val 22472"/>
            </a:avLst>
          </a:prstGeom>
          <a:solidFill>
            <a:srgbClr val="078A91"/>
          </a:solidFill>
          <a:ln w="12700">
            <a:solidFill>
              <a:srgbClr val="078A91"/>
            </a:solidFill>
            <a:prstDash val="solid"/>
          </a:ln>
        </p:spPr>
        <p:txBody>
          <a:bodyPr/>
          <a:p/>
        </p:txBody>
      </p:sp>
      <p:sp>
        <p:nvSpPr>
          <p:cNvPr id="23" name="Text 21"/>
          <p:cNvSpPr/>
          <p:nvPr/>
        </p:nvSpPr>
        <p:spPr>
          <a:xfrm>
            <a:off x="996696" y="3774643"/>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4" name="Text 22"/>
          <p:cNvSpPr/>
          <p:nvPr/>
        </p:nvSpPr>
        <p:spPr>
          <a:xfrm>
            <a:off x="1554480" y="3701491"/>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Calculate</a:t>
            </a:r>
            <a:endParaRPr lang="en-US" sz="1870" dirty="0"/>
          </a:p>
        </p:txBody>
      </p:sp>
      <p:sp>
        <p:nvSpPr>
          <p:cNvPr id="25" name="Text 23"/>
          <p:cNvSpPr/>
          <p:nvPr/>
        </p:nvSpPr>
        <p:spPr>
          <a:xfrm>
            <a:off x="4434840" y="3683203"/>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Find a percentage reduction and compression ratio.</a:t>
            </a:r>
            <a:endParaRPr lang="en-US" sz="1740" dirty="0"/>
          </a:p>
        </p:txBody>
      </p:sp>
      <p:sp>
        <p:nvSpPr>
          <p:cNvPr id="26" name="Shape 24"/>
          <p:cNvSpPr/>
          <p:nvPr/>
        </p:nvSpPr>
        <p:spPr>
          <a:xfrm>
            <a:off x="612648" y="4454957"/>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27" name="Shape 25"/>
          <p:cNvSpPr/>
          <p:nvPr/>
        </p:nvSpPr>
        <p:spPr>
          <a:xfrm>
            <a:off x="795528" y="4582973"/>
            <a:ext cx="594360" cy="488290"/>
          </a:xfrm>
          <a:prstGeom prst="roundRect">
            <a:avLst>
              <a:gd name="adj" fmla="val 22472"/>
            </a:avLst>
          </a:prstGeom>
          <a:solidFill>
            <a:srgbClr val="173552"/>
          </a:solidFill>
          <a:ln w="12700">
            <a:solidFill>
              <a:srgbClr val="173552"/>
            </a:solidFill>
            <a:prstDash val="solid"/>
          </a:ln>
        </p:spPr>
        <p:txBody>
          <a:bodyPr/>
          <a:p/>
        </p:txBody>
      </p:sp>
      <p:sp>
        <p:nvSpPr>
          <p:cNvPr id="28" name="Text 26"/>
          <p:cNvSpPr/>
          <p:nvPr/>
        </p:nvSpPr>
        <p:spPr>
          <a:xfrm>
            <a:off x="996696" y="4637837"/>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9" name="Text 27"/>
          <p:cNvSpPr/>
          <p:nvPr/>
        </p:nvSpPr>
        <p:spPr>
          <a:xfrm>
            <a:off x="1554480" y="4564685"/>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Inspect quality</a:t>
            </a:r>
            <a:endParaRPr lang="en-US" sz="1870" dirty="0"/>
          </a:p>
        </p:txBody>
      </p:sp>
      <p:sp>
        <p:nvSpPr>
          <p:cNvPr id="30" name="Text 28"/>
          <p:cNvSpPr/>
          <p:nvPr/>
        </p:nvSpPr>
        <p:spPr>
          <a:xfrm>
            <a:off x="4434840" y="4546397"/>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Look for artefacts at equal viewing sizes.</a:t>
            </a:r>
            <a:endParaRPr lang="en-US" sz="1740" dirty="0"/>
          </a:p>
        </p:txBody>
      </p:sp>
      <p:sp>
        <p:nvSpPr>
          <p:cNvPr id="31" name="Shape 29"/>
          <p:cNvSpPr/>
          <p:nvPr/>
        </p:nvSpPr>
        <p:spPr>
          <a:xfrm>
            <a:off x="612648" y="5318150"/>
            <a:ext cx="10972800" cy="744322"/>
          </a:xfrm>
          <a:prstGeom prst="roundRect">
            <a:avLst>
              <a:gd name="adj" fmla="val 14742"/>
            </a:avLst>
          </a:prstGeom>
          <a:solidFill>
            <a:srgbClr val="FFFFFF"/>
          </a:solidFill>
          <a:ln w="12700">
            <a:solidFill>
              <a:srgbClr val="D3E3E9"/>
            </a:solidFill>
            <a:prstDash val="solid"/>
          </a:ln>
        </p:spPr>
        <p:txBody>
          <a:bodyPr/>
          <a:p/>
        </p:txBody>
      </p:sp>
      <p:sp>
        <p:nvSpPr>
          <p:cNvPr id="32" name="Shape 30"/>
          <p:cNvSpPr/>
          <p:nvPr/>
        </p:nvSpPr>
        <p:spPr>
          <a:xfrm>
            <a:off x="795528" y="5446166"/>
            <a:ext cx="594360" cy="488290"/>
          </a:xfrm>
          <a:prstGeom prst="roundRect">
            <a:avLst>
              <a:gd name="adj" fmla="val 22472"/>
            </a:avLst>
          </a:prstGeom>
          <a:solidFill>
            <a:srgbClr val="078A91"/>
          </a:solidFill>
          <a:ln w="12700">
            <a:solidFill>
              <a:srgbClr val="078A91"/>
            </a:solidFill>
            <a:prstDash val="solid"/>
          </a:ln>
        </p:spPr>
        <p:txBody>
          <a:bodyPr/>
          <a:p/>
        </p:txBody>
      </p:sp>
      <p:sp>
        <p:nvSpPr>
          <p:cNvPr id="33" name="Text 31"/>
          <p:cNvSpPr/>
          <p:nvPr/>
        </p:nvSpPr>
        <p:spPr>
          <a:xfrm>
            <a:off x="996696" y="5501030"/>
            <a:ext cx="182880" cy="387706"/>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5</a:t>
            </a:r>
            <a:endParaRPr lang="en-US" sz="1700" dirty="0"/>
          </a:p>
        </p:txBody>
      </p:sp>
      <p:sp>
        <p:nvSpPr>
          <p:cNvPr id="34" name="Text 32"/>
          <p:cNvSpPr/>
          <p:nvPr/>
        </p:nvSpPr>
        <p:spPr>
          <a:xfrm>
            <a:off x="1554480" y="5427878"/>
            <a:ext cx="2798064" cy="552298"/>
          </a:xfrm>
          <a:prstGeom prst="rect">
            <a:avLst/>
          </a:prstGeom>
          <a:noFill/>
          <a:ln/>
        </p:spPr>
        <p:txBody>
          <a:bodyPr wrap="square" lIns="0" tIns="0" rIns="0" bIns="0" rtlCol="0" anchor="ctr">
            <a:normAutofit/>
          </a:bodyPr>
          <a:lstStyle/>
          <a:p>
            <a:pPr indent="0" marL="0">
              <a:buNone/>
            </a:pPr>
            <a:r>
              <a:rPr lang="en-US" sz="1870" b="1" dirty="0">
                <a:solidFill>
                  <a:srgbClr val="173552"/>
                </a:solidFill>
                <a:latin typeface="Aptos" pitchFamily="34" charset="0"/>
                <a:ea typeface="Aptos" pitchFamily="34" charset="-122"/>
                <a:cs typeface="Aptos" pitchFamily="34" charset="-120"/>
              </a:rPr>
              <a:t>Recommend</a:t>
            </a:r>
            <a:endParaRPr lang="en-US" sz="1870" dirty="0"/>
          </a:p>
        </p:txBody>
      </p:sp>
      <p:sp>
        <p:nvSpPr>
          <p:cNvPr id="35" name="Text 33"/>
          <p:cNvSpPr/>
          <p:nvPr/>
        </p:nvSpPr>
        <p:spPr>
          <a:xfrm>
            <a:off x="4434840" y="5409590"/>
            <a:ext cx="6656832" cy="570586"/>
          </a:xfrm>
          <a:prstGeom prst="rect">
            <a:avLst/>
          </a:prstGeom>
          <a:noFill/>
          <a:ln/>
        </p:spPr>
        <p:txBody>
          <a:bodyPr wrap="square" lIns="0" tIns="0" rIns="0" bIns="0" rtlCol="0" anchor="ctr">
            <a:normAutofit/>
          </a:bodyPr>
          <a:lstStyle/>
          <a:p>
            <a:pPr indent="0" marL="0">
              <a:buNone/>
            </a:pPr>
            <a:r>
              <a:rPr lang="en-US" sz="1740" dirty="0">
                <a:solidFill>
                  <a:srgbClr val="173552"/>
                </a:solidFill>
                <a:latin typeface="Aptos" pitchFamily="34" charset="0"/>
                <a:ea typeface="Aptos" pitchFamily="34" charset="-122"/>
                <a:cs typeface="Aptos" pitchFamily="34" charset="-120"/>
              </a:rPr>
              <a:t>Select suitable images for phone, print and icon use.</a:t>
            </a:r>
            <a:endParaRPr lang="en-US" sz="174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STUDENT TASK</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What students should submit</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 short record of evidence is enough for this beginner exercise.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37</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Minimum student output</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Submit the completed practical worksheet, identified file versions and a brief explanation of the trade-off between quality and file size. If software access is limited, use the prepared exports and measurements to complete the analysis.</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When you can access Photoshop or GIMP, repeat the export process using your own saved settings.</a:t>
            </a:r>
            <a:endParaRPr lang="en-US" sz="186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8FA"/>
        </a:solidFill>
      </p:bgPr>
    </p:bg>
    <p:spTree>
      <p:nvGrpSpPr>
        <p:cNvPr id="1" name=""/>
        <p:cNvGrpSpPr/>
        <p:nvPr/>
      </p:nvGrpSpPr>
      <p:grpSpPr>
        <a:xfrm>
          <a:off x="0" y="0"/>
          <a:ext cx="0" cy="0"/>
          <a:chOff x="0" y="0"/>
          <a:chExt cx="0" cy="0"/>
        </a:xfrm>
      </p:grpSpPr>
      <p:sp>
        <p:nvSpPr>
          <p:cNvPr id="2" name="Shape 0"/>
          <p:cNvSpPr/>
          <p:nvPr/>
        </p:nvSpPr>
        <p:spPr>
          <a:xfrm>
            <a:off x="0" y="0"/>
            <a:ext cx="12191695" cy="75895"/>
          </a:xfrm>
          <a:prstGeom prst="rect">
            <a:avLst/>
          </a:prstGeom>
          <a:solidFill>
            <a:srgbClr val="078A91"/>
          </a:solidFill>
          <a:ln w="12700">
            <a:solidFill>
              <a:srgbClr val="078A91"/>
            </a:solidFill>
            <a:prstDash val="solid"/>
          </a:ln>
        </p:spPr>
        <p:txBody>
          <a:bodyPr/>
          <a:p/>
        </p:txBody>
      </p:sp>
      <p:sp>
        <p:nvSpPr>
          <p:cNvPr id="3" name="Text 1"/>
          <p:cNvSpPr/>
          <p:nvPr/>
        </p:nvSpPr>
        <p:spPr>
          <a:xfrm>
            <a:off x="484632" y="274320"/>
            <a:ext cx="7315200" cy="182880"/>
          </a:xfrm>
          <a:prstGeom prst="rect">
            <a:avLst/>
          </a:prstGeom>
          <a:noFill/>
          <a:ln/>
        </p:spPr>
        <p:txBody>
          <a:bodyPr wrap="square" lIns="0" tIns="0" rIns="0" bIns="0" rtlCol="0" anchor="ctr">
            <a:normAutofit/>
          </a:bodyPr>
          <a:lstStyle/>
          <a:p>
            <a:pPr indent="0" marL="0">
              <a:buNone/>
            </a:pPr>
            <a:r>
              <a:rPr lang="en-US" sz="1050" b="1" dirty="0">
                <a:solidFill>
                  <a:srgbClr val="61798A"/>
                </a:solidFill>
                <a:latin typeface="Aptos" pitchFamily="34" charset="0"/>
                <a:ea typeface="Aptos" pitchFamily="34" charset="-122"/>
                <a:cs typeface="Aptos" pitchFamily="34" charset="-120"/>
              </a:rPr>
              <a:t>ITT06105  /  DESKTOP PUBLISHING</a:t>
            </a:r>
            <a:endParaRPr lang="en-US" sz="1050" dirty="0"/>
          </a:p>
        </p:txBody>
      </p:sp>
      <p:sp>
        <p:nvSpPr>
          <p:cNvPr id="4" name="Shape 2"/>
          <p:cNvSpPr/>
          <p:nvPr/>
        </p:nvSpPr>
        <p:spPr>
          <a:xfrm>
            <a:off x="9262872" y="155448"/>
            <a:ext cx="2532888" cy="384048"/>
          </a:xfrm>
          <a:prstGeom prst="roundRect">
            <a:avLst>
              <a:gd name="adj" fmla="val 28571"/>
            </a:avLst>
          </a:prstGeom>
          <a:solidFill>
            <a:srgbClr val="EAF3F5"/>
          </a:solidFill>
          <a:ln w="12700">
            <a:solidFill>
              <a:srgbClr val="EAF3F5"/>
            </a:solidFill>
            <a:prstDash val="solid"/>
          </a:ln>
        </p:spPr>
        <p:txBody>
          <a:bodyPr/>
          <a:p/>
        </p:txBody>
      </p:sp>
      <p:sp>
        <p:nvSpPr>
          <p:cNvPr id="5" name="Text 3"/>
          <p:cNvSpPr/>
          <p:nvPr/>
        </p:nvSpPr>
        <p:spPr>
          <a:xfrm>
            <a:off x="9372600" y="242316"/>
            <a:ext cx="2286000" cy="173736"/>
          </a:xfrm>
          <a:prstGeom prst="rect">
            <a:avLst/>
          </a:prstGeom>
          <a:noFill/>
          <a:ln/>
        </p:spPr>
        <p:txBody>
          <a:bodyPr wrap="square" lIns="0" tIns="0" rIns="0" bIns="0" rtlCol="0" anchor="ctr">
            <a:normAutofit/>
          </a:bodyPr>
          <a:lstStyle/>
          <a:p>
            <a:pPr algn="ctr" indent="0" marL="0">
              <a:buNone/>
            </a:pPr>
            <a:r>
              <a:rPr lang="en-US" sz="950" b="1" dirty="0">
                <a:solidFill>
                  <a:srgbClr val="078A91"/>
                </a:solidFill>
                <a:latin typeface="Aptos" pitchFamily="34" charset="0"/>
                <a:ea typeface="Aptos" pitchFamily="34" charset="-122"/>
                <a:cs typeface="Aptos" pitchFamily="34" charset="-120"/>
              </a:rPr>
              <a:t>KEY TAKEAWAY</a:t>
            </a:r>
            <a:endParaRPr lang="en-US" sz="950" dirty="0"/>
          </a:p>
        </p:txBody>
      </p:sp>
      <p:sp>
        <p:nvSpPr>
          <p:cNvPr id="6" name="Text 4"/>
          <p:cNvSpPr/>
          <p:nvPr/>
        </p:nvSpPr>
        <p:spPr>
          <a:xfrm>
            <a:off x="530352" y="758952"/>
            <a:ext cx="11064240" cy="566928"/>
          </a:xfrm>
          <a:prstGeom prst="rect">
            <a:avLst/>
          </a:prstGeom>
          <a:noFill/>
          <a:ln/>
        </p:spPr>
        <p:txBody>
          <a:bodyPr wrap="square" lIns="0" tIns="0" rIns="0" bIns="0" rtlCol="0" anchor="ctr">
            <a:normAutofit/>
          </a:bodyPr>
          <a:lstStyle/>
          <a:p>
            <a:pPr indent="0" marL="0">
              <a:buNone/>
            </a:pPr>
            <a:r>
              <a:rPr lang="en-US" sz="2860" b="1" dirty="0">
                <a:solidFill>
                  <a:srgbClr val="173552"/>
                </a:solidFill>
                <a:latin typeface="Aptos" pitchFamily="34" charset="0"/>
                <a:ea typeface="Aptos" pitchFamily="34" charset="-122"/>
                <a:cs typeface="Aptos" pitchFamily="34" charset="-120"/>
              </a:rPr>
              <a:t>Key lesson: small is not always better</a:t>
            </a:r>
            <a:endParaRPr lang="en-US" sz="2860" dirty="0"/>
          </a:p>
        </p:txBody>
      </p:sp>
      <p:sp>
        <p:nvSpPr>
          <p:cNvPr id="7" name="Text 5"/>
          <p:cNvSpPr/>
          <p:nvPr/>
        </p:nvSpPr>
        <p:spPr>
          <a:xfrm>
            <a:off x="539496" y="1344168"/>
            <a:ext cx="11064240" cy="402336"/>
          </a:xfrm>
          <a:prstGeom prst="rect">
            <a:avLst/>
          </a:prstGeom>
          <a:noFill/>
          <a:ln/>
        </p:spPr>
        <p:txBody>
          <a:bodyPr wrap="square" lIns="0" tIns="0" rIns="0" bIns="0" rtlCol="0" anchor="ctr">
            <a:normAutofit/>
          </a:bodyPr>
          <a:lstStyle/>
          <a:p>
            <a:pPr indent="0" marL="0">
              <a:buNone/>
            </a:pPr>
            <a:r>
              <a:rPr lang="en-US" sz="1660" dirty="0">
                <a:solidFill>
                  <a:srgbClr val="61798A"/>
                </a:solidFill>
                <a:latin typeface="Aptos" pitchFamily="34" charset="0"/>
                <a:ea typeface="Aptos" pitchFamily="34" charset="-122"/>
                <a:cs typeface="Aptos" pitchFamily="34" charset="-120"/>
              </a:rPr>
              <a:t>An export is successful when it serves the intended audience.</a:t>
            </a:r>
            <a:endParaRPr lang="en-US" sz="1660" dirty="0"/>
          </a:p>
        </p:txBody>
      </p:sp>
      <p:sp>
        <p:nvSpPr>
          <p:cNvPr id="8" name="Shape 6"/>
          <p:cNvSpPr/>
          <p:nvPr/>
        </p:nvSpPr>
        <p:spPr>
          <a:xfrm>
            <a:off x="502920" y="6547104"/>
            <a:ext cx="11210544" cy="0"/>
          </a:xfrm>
          <a:prstGeom prst="line">
            <a:avLst/>
          </a:prstGeom>
          <a:noFill/>
          <a:ln w="12700">
            <a:solidFill>
              <a:srgbClr val="D3E3E9"/>
            </a:solidFill>
            <a:prstDash val="solid"/>
          </a:ln>
        </p:spPr>
        <p:txBody>
          <a:bodyPr/>
          <a:p/>
        </p:txBody>
      </p:sp>
      <p:sp>
        <p:nvSpPr>
          <p:cNvPr id="9" name="Text 7"/>
          <p:cNvSpPr/>
          <p:nvPr/>
        </p:nvSpPr>
        <p:spPr>
          <a:xfrm>
            <a:off x="502920" y="6583680"/>
            <a:ext cx="9235440" cy="164592"/>
          </a:xfrm>
          <a:prstGeom prst="rect">
            <a:avLst/>
          </a:prstGeom>
          <a:noFill/>
          <a:ln/>
        </p:spPr>
        <p:txBody>
          <a:bodyPr wrap="square" lIns="0" tIns="0" rIns="0" bIns="0" rtlCol="0" anchor="ctr">
            <a:normAutofit/>
          </a:bodyPr>
          <a:lstStyle/>
          <a:p>
            <a:pPr indent="0" marL="0">
              <a:buNone/>
            </a:pPr>
            <a:r>
              <a:rPr lang="en-US" sz="850" b="1" dirty="0">
                <a:solidFill>
                  <a:srgbClr val="61798A"/>
                </a:solidFill>
                <a:latin typeface="Aptos" pitchFamily="34" charset="0"/>
                <a:ea typeface="Aptos" pitchFamily="34" charset="-122"/>
                <a:cs typeface="Aptos" pitchFamily="34" charset="-120"/>
              </a:rPr>
              <a:t>DESKTOP PUBLISHING  •  IMAGE PROCESSING  •  2026/2027</a:t>
            </a:r>
            <a:endParaRPr lang="en-US" sz="850" dirty="0"/>
          </a:p>
        </p:txBody>
      </p:sp>
      <p:sp>
        <p:nvSpPr>
          <p:cNvPr id="10" name="Text 8"/>
          <p:cNvSpPr/>
          <p:nvPr/>
        </p:nvSpPr>
        <p:spPr>
          <a:xfrm>
            <a:off x="11247120" y="6583680"/>
            <a:ext cx="438912" cy="164592"/>
          </a:xfrm>
          <a:prstGeom prst="rect">
            <a:avLst/>
          </a:prstGeom>
          <a:noFill/>
          <a:ln/>
        </p:spPr>
        <p:txBody>
          <a:bodyPr wrap="square" lIns="0" tIns="0" rIns="0" bIns="0" rtlCol="0" anchor="ctr">
            <a:normAutofit/>
          </a:bodyPr>
          <a:lstStyle/>
          <a:p>
            <a:pPr algn="r" indent="0" marL="0">
              <a:buNone/>
            </a:pPr>
            <a:r>
              <a:rPr lang="en-US" sz="1000" b="1" dirty="0">
                <a:solidFill>
                  <a:srgbClr val="078A91"/>
                </a:solidFill>
                <a:latin typeface="Aptos" pitchFamily="34" charset="0"/>
                <a:ea typeface="Aptos" pitchFamily="34" charset="-122"/>
                <a:cs typeface="Aptos" pitchFamily="34" charset="-120"/>
              </a:rPr>
              <a:t>38</a:t>
            </a:r>
            <a:endParaRPr lang="en-US" sz="1000" dirty="0"/>
          </a:p>
        </p:txBody>
      </p:sp>
      <p:sp>
        <p:nvSpPr>
          <p:cNvPr id="11" name="Shape 9"/>
          <p:cNvSpPr/>
          <p:nvPr/>
        </p:nvSpPr>
        <p:spPr>
          <a:xfrm>
            <a:off x="594360" y="1847088"/>
            <a:ext cx="10972800" cy="2368296"/>
          </a:xfrm>
          <a:prstGeom prst="roundRect">
            <a:avLst>
              <a:gd name="adj" fmla="val 4633"/>
            </a:avLst>
          </a:prstGeom>
          <a:solidFill>
            <a:srgbClr val="FFFFFF"/>
          </a:solidFill>
          <a:ln w="12700">
            <a:solidFill>
              <a:srgbClr val="D3E3E9"/>
            </a:solidFill>
            <a:prstDash val="solid"/>
          </a:ln>
        </p:spPr>
        <p:txBody>
          <a:bodyPr/>
          <a:p/>
        </p:txBody>
      </p:sp>
      <p:sp>
        <p:nvSpPr>
          <p:cNvPr id="12" name="Text 10"/>
          <p:cNvSpPr/>
          <p:nvPr/>
        </p:nvSpPr>
        <p:spPr>
          <a:xfrm>
            <a:off x="896112" y="2112264"/>
            <a:ext cx="10241280" cy="338328"/>
          </a:xfrm>
          <a:prstGeom prst="rect">
            <a:avLst/>
          </a:prstGeom>
          <a:noFill/>
          <a:ln/>
        </p:spPr>
        <p:txBody>
          <a:bodyPr wrap="square" lIns="0" tIns="0" rIns="0" bIns="0" rtlCol="0" anchor="ctr">
            <a:normAutofit/>
          </a:bodyPr>
          <a:lstStyle/>
          <a:p>
            <a:pPr indent="0" marL="0">
              <a:buNone/>
            </a:pPr>
            <a:r>
              <a:rPr lang="en-US" sz="2200" b="1" dirty="0">
                <a:solidFill>
                  <a:srgbClr val="078A91"/>
                </a:solidFill>
                <a:latin typeface="Aptos" pitchFamily="34" charset="0"/>
                <a:ea typeface="Aptos" pitchFamily="34" charset="-122"/>
                <a:cs typeface="Aptos" pitchFamily="34" charset="-120"/>
              </a:rPr>
              <a:t>Summary</a:t>
            </a:r>
            <a:endParaRPr lang="en-US" sz="2200" dirty="0"/>
          </a:p>
        </p:txBody>
      </p:sp>
      <p:sp>
        <p:nvSpPr>
          <p:cNvPr id="13" name="Text 11"/>
          <p:cNvSpPr/>
          <p:nvPr/>
        </p:nvSpPr>
        <p:spPr>
          <a:xfrm>
            <a:off x="886968" y="2679192"/>
            <a:ext cx="10259568" cy="1280160"/>
          </a:xfrm>
          <a:prstGeom prst="rect">
            <a:avLst/>
          </a:prstGeom>
          <a:noFill/>
          <a:ln/>
        </p:spPr>
        <p:txBody>
          <a:bodyPr wrap="square" lIns="0" tIns="0" rIns="0" bIns="0" rtlCol="0" anchor="t">
            <a:normAutofit/>
          </a:bodyPr>
          <a:lstStyle/>
          <a:p>
            <a:pPr indent="0" marL="0">
              <a:buNone/>
            </a:pPr>
            <a:r>
              <a:rPr lang="en-US" sz="1900" dirty="0">
                <a:solidFill>
                  <a:srgbClr val="173552"/>
                </a:solidFill>
                <a:latin typeface="Aptos" pitchFamily="34" charset="0"/>
                <a:ea typeface="Aptos" pitchFamily="34" charset="-122"/>
                <a:cs typeface="Aptos" pitchFamily="34" charset="-120"/>
              </a:rPr>
              <a:t>Image processing includes preparing, adjusting and exporting images. Resizing changes pixels; compression changes stored information. Lossless and lossy methods have different trade-offs. Record file sizes, dimensions and visual quality before choosing an output.</a:t>
            </a:r>
            <a:endParaRPr lang="en-US" sz="1900" dirty="0"/>
          </a:p>
        </p:txBody>
      </p:sp>
      <p:sp>
        <p:nvSpPr>
          <p:cNvPr id="14" name="Shape 12"/>
          <p:cNvSpPr/>
          <p:nvPr/>
        </p:nvSpPr>
        <p:spPr>
          <a:xfrm>
            <a:off x="594360" y="4443984"/>
            <a:ext cx="10972800" cy="1435608"/>
          </a:xfrm>
          <a:prstGeom prst="roundRect">
            <a:avLst>
              <a:gd name="adj" fmla="val 7643"/>
            </a:avLst>
          </a:prstGeom>
          <a:solidFill>
            <a:srgbClr val="EAF3F5"/>
          </a:solidFill>
          <a:ln w="12700">
            <a:solidFill>
              <a:srgbClr val="EAF3F5"/>
            </a:solidFill>
            <a:prstDash val="solid"/>
          </a:ln>
        </p:spPr>
        <p:txBody>
          <a:bodyPr/>
          <a:p/>
        </p:txBody>
      </p:sp>
      <p:sp>
        <p:nvSpPr>
          <p:cNvPr id="15" name="Text 13"/>
          <p:cNvSpPr/>
          <p:nvPr/>
        </p:nvSpPr>
        <p:spPr>
          <a:xfrm>
            <a:off x="905256" y="4654296"/>
            <a:ext cx="10360152" cy="941832"/>
          </a:xfrm>
          <a:prstGeom prst="rect">
            <a:avLst/>
          </a:prstGeom>
          <a:noFill/>
          <a:ln/>
        </p:spPr>
        <p:txBody>
          <a:bodyPr wrap="square" lIns="0" tIns="0" rIns="0" bIns="0" rtlCol="0" anchor="ctr">
            <a:normAutofit/>
          </a:bodyPr>
          <a:lstStyle/>
          <a:p>
            <a:pPr indent="0" marL="0">
              <a:buNone/>
            </a:pPr>
            <a:r>
              <a:rPr lang="en-US" sz="1860" dirty="0">
                <a:solidFill>
                  <a:srgbClr val="173552"/>
                </a:solidFill>
                <a:latin typeface="Aptos" pitchFamily="34" charset="0"/>
                <a:ea typeface="Aptos" pitchFamily="34" charset="-122"/>
                <a:cs typeface="Aptos" pitchFamily="34" charset="-120"/>
              </a:rPr>
              <a:t>Keep editable sources, label your exports and choose file formats for their actual purpose.</a:t>
            </a:r>
            <a:endParaRPr lang="en-US" sz="18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73552"/>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78A91"/>
          </a:solidFill>
          <a:ln w="12700">
            <a:solidFill>
              <a:srgbClr val="078A91"/>
            </a:solidFill>
            <a:prstDash val="solid"/>
          </a:ln>
        </p:spPr>
        <p:txBody>
          <a:bodyPr/>
          <a:p/>
        </p:txBody>
      </p:sp>
      <p:sp>
        <p:nvSpPr>
          <p:cNvPr id="3" name="Text 1"/>
          <p:cNvSpPr/>
          <p:nvPr/>
        </p:nvSpPr>
        <p:spPr>
          <a:xfrm>
            <a:off x="832104" y="640080"/>
            <a:ext cx="8229600" cy="274320"/>
          </a:xfrm>
          <a:prstGeom prst="rect">
            <a:avLst/>
          </a:prstGeom>
          <a:noFill/>
          <a:ln/>
        </p:spPr>
        <p:txBody>
          <a:bodyPr wrap="square" lIns="0" tIns="0" rIns="0" bIns="0" rtlCol="0" anchor="ctr">
            <a:normAutofit/>
          </a:bodyPr>
          <a:lstStyle/>
          <a:p>
            <a:pPr indent="0" marL="0">
              <a:buNone/>
            </a:pPr>
            <a:r>
              <a:rPr lang="en-US" sz="1400" b="1" dirty="0">
                <a:solidFill>
                  <a:srgbClr val="BDD0DB"/>
                </a:solidFill>
                <a:latin typeface="Aptos" pitchFamily="34" charset="0"/>
                <a:ea typeface="Aptos" pitchFamily="34" charset="-122"/>
                <a:cs typeface="Aptos" pitchFamily="34" charset="-120"/>
              </a:rPr>
              <a:t>ITT06105  /  ORDINARY DIPLOMA IN IT</a:t>
            </a:r>
            <a:endParaRPr lang="en-US" sz="1400" dirty="0"/>
          </a:p>
        </p:txBody>
      </p:sp>
      <p:sp>
        <p:nvSpPr>
          <p:cNvPr id="4" name="Text 2"/>
          <p:cNvSpPr/>
          <p:nvPr/>
        </p:nvSpPr>
        <p:spPr>
          <a:xfrm>
            <a:off x="832104" y="1371600"/>
            <a:ext cx="1051560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Aptos" pitchFamily="34" charset="0"/>
                <a:ea typeface="Aptos" pitchFamily="34" charset="-122"/>
                <a:cs typeface="Aptos" pitchFamily="34" charset="-120"/>
              </a:rPr>
              <a:t>THE COMPLETE</a:t>
            </a:r>
            <a:endParaRPr lang="en-US" sz="3800" dirty="0"/>
          </a:p>
        </p:txBody>
      </p:sp>
      <p:sp>
        <p:nvSpPr>
          <p:cNvPr id="5" name="Text 3"/>
          <p:cNvSpPr/>
          <p:nvPr/>
        </p:nvSpPr>
        <p:spPr>
          <a:xfrm>
            <a:off x="832104" y="2212848"/>
            <a:ext cx="10789920" cy="713232"/>
          </a:xfrm>
          <a:prstGeom prst="rect">
            <a:avLst/>
          </a:prstGeom>
          <a:noFill/>
          <a:ln/>
        </p:spPr>
        <p:txBody>
          <a:bodyPr wrap="square" lIns="0" tIns="0" rIns="0" bIns="0" rtlCol="0" anchor="ctr">
            <a:normAutofit/>
          </a:bodyPr>
          <a:lstStyle/>
          <a:p>
            <a:pPr indent="0" marL="0">
              <a:buNone/>
            </a:pPr>
            <a:r>
              <a:rPr lang="en-US" sz="4400" b="1" dirty="0">
                <a:solidFill>
                  <a:srgbClr val="F6BF53"/>
                </a:solidFill>
                <a:latin typeface="Aptos" pitchFamily="34" charset="0"/>
                <a:ea typeface="Aptos" pitchFamily="34" charset="-122"/>
                <a:cs typeface="Aptos" pitchFamily="34" charset="-120"/>
              </a:rPr>
              <a:t>DTP WORKFLOW</a:t>
            </a:r>
            <a:endParaRPr lang="en-US" sz="4400" dirty="0"/>
          </a:p>
        </p:txBody>
      </p:sp>
      <p:sp>
        <p:nvSpPr>
          <p:cNvPr id="6" name="Text 4"/>
          <p:cNvSpPr/>
          <p:nvPr/>
        </p:nvSpPr>
        <p:spPr>
          <a:xfrm>
            <a:off x="868680" y="3355848"/>
            <a:ext cx="10332720" cy="585216"/>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ptos" pitchFamily="34" charset="0"/>
                <a:ea typeface="Aptos" pitchFamily="34" charset="-122"/>
                <a:cs typeface="Aptos" pitchFamily="34" charset="-120"/>
              </a:rPr>
              <a:t>Plan → create → arrange → print → optimise</a:t>
            </a:r>
            <a:endParaRPr lang="en-US" sz="2400" dirty="0"/>
          </a:p>
        </p:txBody>
      </p:sp>
      <p:sp>
        <p:nvSpPr>
          <p:cNvPr id="7" name="Shape 5"/>
          <p:cNvSpPr/>
          <p:nvPr/>
        </p:nvSpPr>
        <p:spPr>
          <a:xfrm>
            <a:off x="841248" y="4617720"/>
            <a:ext cx="10515600" cy="905256"/>
          </a:xfrm>
          <a:prstGeom prst="roundRect">
            <a:avLst>
              <a:gd name="adj" fmla="val 12121"/>
            </a:avLst>
          </a:prstGeom>
          <a:solidFill>
            <a:srgbClr val="21435C"/>
          </a:solidFill>
          <a:ln w="12700">
            <a:solidFill>
              <a:srgbClr val="21435C"/>
            </a:solidFill>
            <a:prstDash val="solid"/>
          </a:ln>
        </p:spPr>
        <p:txBody>
          <a:bodyPr/>
          <a:p/>
        </p:txBody>
      </p:sp>
      <p:sp>
        <p:nvSpPr>
          <p:cNvPr id="8" name="Text 6"/>
          <p:cNvSpPr/>
          <p:nvPr/>
        </p:nvSpPr>
        <p:spPr>
          <a:xfrm>
            <a:off x="1060704" y="4864608"/>
            <a:ext cx="9875520" cy="402336"/>
          </a:xfrm>
          <a:prstGeom prst="rect">
            <a:avLst/>
          </a:prstGeom>
          <a:noFill/>
          <a:ln/>
        </p:spPr>
        <p:txBody>
          <a:bodyPr wrap="square" lIns="0" tIns="0" rIns="0" bIns="0" rtlCol="0" anchor="ctr">
            <a:normAutofit/>
          </a:bodyPr>
          <a:lstStyle/>
          <a:p>
            <a:pPr indent="0" marL="0">
              <a:buNone/>
            </a:pPr>
            <a:r>
              <a:rPr lang="en-US" sz="2200" dirty="0">
                <a:solidFill>
                  <a:srgbClr val="FFFFFF"/>
                </a:solidFill>
                <a:latin typeface="Aptos" pitchFamily="34" charset="0"/>
                <a:ea typeface="Aptos" pitchFamily="34" charset="-122"/>
                <a:cs typeface="Aptos" pitchFamily="34" charset="-120"/>
              </a:rPr>
              <a:t>Choose an image format by considering image quality, file size and the intended use.</a:t>
            </a:r>
            <a:endParaRPr lang="en-US" sz="2200" dirty="0"/>
          </a:p>
        </p:txBody>
      </p:sp>
      <p:sp>
        <p:nvSpPr>
          <p:cNvPr id="9" name="Text 7"/>
          <p:cNvSpPr/>
          <p:nvPr/>
        </p:nvSpPr>
        <p:spPr>
          <a:xfrm>
            <a:off x="868680" y="6291072"/>
            <a:ext cx="10058400" cy="256032"/>
          </a:xfrm>
          <a:prstGeom prst="rect">
            <a:avLst/>
          </a:prstGeom>
          <a:noFill/>
          <a:ln/>
        </p:spPr>
        <p:txBody>
          <a:bodyPr wrap="square" lIns="0" tIns="0" rIns="0" bIns="0" rtlCol="0" anchor="ctr">
            <a:normAutofit/>
          </a:bodyPr>
          <a:lstStyle/>
          <a:p>
            <a:pPr indent="0" marL="0">
              <a:buNone/>
            </a:pPr>
            <a:r>
              <a:rPr lang="en-US" sz="1300" dirty="0">
                <a:solidFill>
                  <a:srgbClr val="BDD0DB"/>
                </a:solidFill>
                <a:latin typeface="Aptos" pitchFamily="34" charset="0"/>
                <a:ea typeface="Aptos" pitchFamily="34" charset="-122"/>
                <a:cs typeface="Aptos" pitchFamily="34" charset="-120"/>
              </a:rPr>
              <a:t>Keep practising with the Tumaini educational hand-out.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Condensed Lecture 10 — Image Processing and Compression</dc:title>
  <dc:subject>Image processing, compression, file formats and image quality</dc:subject>
  <dc:creator>ITT06105 Desktop Publishing</dc:creator>
  <cp:lastModifiedBy>ITT06105 Desktop Publishing</cp:lastModifiedBy>
  <cp:revision>1</cp:revision>
  <dcterms:created xsi:type="dcterms:W3CDTF">2026-10-22T11:28:29Z</dcterms:created>
  <dcterms:modified xsi:type="dcterms:W3CDTF">2026-10-22T11:28:29Z</dcterms:modified>
</cp:coreProperties>
</file>