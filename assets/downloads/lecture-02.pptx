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</p:sldIdLst>
  <p:notesMasterIdLst>
    <p:notesMasterId r:id="rId4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notesMaster" Target="notesMasters/notesMaster1.xml"/><Relationship Id="rId42" Type="http://schemas.openxmlformats.org/officeDocument/2006/relationships/presProps" Target="presProps.xml"/><Relationship Id="rId43" Type="http://schemas.openxmlformats.org/officeDocument/2006/relationships/viewProps" Target="viewProps.xml"/><Relationship Id="rId44" Type="http://schemas.openxmlformats.org/officeDocument/2006/relationships/theme" Target="theme/theme1.xml"/><Relationship Id="rId45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image" Target="../media/image-2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image" Target="../media/image-3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19456" cy="6858000"/>
          </a:xfrm>
          <a:prstGeom prst="rect">
            <a:avLst/>
          </a:prstGeom>
          <a:solidFill>
            <a:srgbClr val="008C86"/>
          </a:solidFill>
          <a:ln w="12700">
            <a:solidFill>
              <a:srgbClr val="008C86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804672" y="822960"/>
            <a:ext cx="2606040" cy="329184"/>
          </a:xfrm>
          <a:prstGeom prst="roundRect">
            <a:avLst>
              <a:gd name="adj" fmla="val 36111"/>
            </a:avLst>
          </a:prstGeom>
          <a:solidFill>
            <a:srgbClr val="E7F5F1"/>
          </a:solidFill>
          <a:ln w="8890">
            <a:solidFill>
              <a:srgbClr val="E7F5F1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941832" y="896112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008C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ESSENTIAL LECTURE 02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804672" y="1472184"/>
            <a:ext cx="1051560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1930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Working with Text,</a:t>
            </a:r>
            <a:endParaRPr lang="en-US" sz="3800" dirty="0"/>
          </a:p>
          <a:p>
            <a:pPr algn="l" indent="0" marL="0">
              <a:buNone/>
            </a:pPr>
            <a:r>
              <a:rPr lang="en-US" sz="3800" b="1" dirty="0">
                <a:solidFill>
                  <a:srgbClr val="1930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Images and Colour</a:t>
            </a:r>
            <a:endParaRPr lang="en-US" sz="3800" dirty="0"/>
          </a:p>
        </p:txBody>
      </p:sp>
      <p:sp>
        <p:nvSpPr>
          <p:cNvPr id="6" name="Shape 4"/>
          <p:cNvSpPr/>
          <p:nvPr/>
        </p:nvSpPr>
        <p:spPr>
          <a:xfrm>
            <a:off x="813816" y="4215384"/>
            <a:ext cx="10067544" cy="0"/>
          </a:xfrm>
          <a:prstGeom prst="line">
            <a:avLst/>
          </a:prstGeom>
          <a:noFill/>
          <a:ln w="38100">
            <a:solidFill>
              <a:srgbClr val="F0AC4A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822960" y="4572000"/>
            <a:ext cx="1060704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300" dirty="0">
                <a:solidFill>
                  <a:srgbClr val="19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Make graphics clear, text readable and colour purposeful.</a:t>
            </a:r>
            <a:endParaRPr lang="en-US" sz="2300" dirty="0"/>
          </a:p>
        </p:txBody>
      </p:sp>
      <p:sp>
        <p:nvSpPr>
          <p:cNvPr id="8" name="Text 6"/>
          <p:cNvSpPr/>
          <p:nvPr/>
        </p:nvSpPr>
        <p:spPr>
          <a:xfrm>
            <a:off x="822960" y="6245352"/>
            <a:ext cx="10607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586D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ITT06105  •  Ordinary Diploma in Information Technology  •  2026/2027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08C86"/>
          </a:solidFill>
          <a:ln w="12700">
            <a:solidFill>
              <a:srgbClr val="008C86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685800" y="164592"/>
            <a:ext cx="6400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spc="160" kern="0" dirty="0">
                <a:solidFill>
                  <a:srgbClr val="008C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ITT06105  /  DESKTOP PUBLISHING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9144000" y="164592"/>
            <a:ext cx="2286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900" b="1" spc="100" kern="0" dirty="0">
                <a:solidFill>
                  <a:srgbClr val="586D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START HERE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94944" y="576072"/>
            <a:ext cx="1088136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1930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you should be able to do</a:t>
            </a:r>
            <a:endParaRPr lang="en-US" sz="2850" dirty="0"/>
          </a:p>
        </p:txBody>
      </p:sp>
      <p:sp>
        <p:nvSpPr>
          <p:cNvPr id="6" name="Text 4"/>
          <p:cNvSpPr/>
          <p:nvPr/>
        </p:nvSpPr>
        <p:spPr>
          <a:xfrm>
            <a:off x="713232" y="1234440"/>
            <a:ext cx="10652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586D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These are the essential skills for this classroom session.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85800" y="6446520"/>
            <a:ext cx="10789920" cy="0"/>
          </a:xfrm>
          <a:prstGeom prst="line">
            <a:avLst/>
          </a:prstGeom>
          <a:noFill/>
          <a:ln w="10160">
            <a:solidFill>
              <a:srgbClr val="D2E2E8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713232" y="6510528"/>
            <a:ext cx="8229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586D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DESKTOP PUBLISHING  •  LECTURE 02  •  2026/2027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0972800" y="6510528"/>
            <a:ext cx="4297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586D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731520" y="1764792"/>
            <a:ext cx="5175504" cy="1673352"/>
          </a:xfrm>
          <a:prstGeom prst="roundRect">
            <a:avLst>
              <a:gd name="adj" fmla="val 7104"/>
            </a:avLst>
          </a:prstGeom>
          <a:solidFill>
            <a:srgbClr val="FFFFFF"/>
          </a:solidFill>
          <a:ln w="8890">
            <a:solidFill>
              <a:srgbClr val="CADDE4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950976" y="1947672"/>
            <a:ext cx="47365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08C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  Recognise image types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950976" y="2496312"/>
            <a:ext cx="473659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19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Explain why photographs and logos may need different graphic formats.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135624" y="1764792"/>
            <a:ext cx="5303520" cy="1673352"/>
          </a:xfrm>
          <a:prstGeom prst="roundRect">
            <a:avLst>
              <a:gd name="adj" fmla="val 7104"/>
            </a:avLst>
          </a:prstGeom>
          <a:solidFill>
            <a:srgbClr val="FFFFFF"/>
          </a:solidFill>
          <a:ln w="8890">
            <a:solidFill>
              <a:srgbClr val="CADDE4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6355080" y="1947672"/>
            <a:ext cx="48646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08C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  Make text readable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6355080" y="2496312"/>
            <a:ext cx="486460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19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Choose clear type, spacing and a sensible heading-to-body hierarchy.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731520" y="3675888"/>
            <a:ext cx="5175504" cy="1682496"/>
          </a:xfrm>
          <a:prstGeom prst="roundRect">
            <a:avLst>
              <a:gd name="adj" fmla="val 7065"/>
            </a:avLst>
          </a:prstGeom>
          <a:solidFill>
            <a:srgbClr val="FFFFFF"/>
          </a:solidFill>
          <a:ln w="8890">
            <a:solidFill>
              <a:srgbClr val="CADDE4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950976" y="3858768"/>
            <a:ext cx="47365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08C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  Use colour deliberately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950976" y="4407408"/>
            <a:ext cx="4736592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19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Choose a small palette with readable contrast and appropriate emphasis.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6135624" y="3675888"/>
            <a:ext cx="5303520" cy="1682496"/>
          </a:xfrm>
          <a:prstGeom prst="roundRect">
            <a:avLst>
              <a:gd name="adj" fmla="val 7065"/>
            </a:avLst>
          </a:prstGeom>
          <a:solidFill>
            <a:srgbClr val="FFFFFF"/>
          </a:solidFill>
          <a:ln w="8890">
            <a:solidFill>
              <a:srgbClr val="CADDE4"/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6355080" y="3858768"/>
            <a:ext cx="48646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08C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  Improve a notice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6355080" y="4407408"/>
            <a:ext cx="4864608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19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Identify weaknesses and sketch a clearer version for readers.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08C86"/>
          </a:solidFill>
          <a:ln w="12700">
            <a:solidFill>
              <a:srgbClr val="008C86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685800" y="164592"/>
            <a:ext cx="6400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spc="160" kern="0" dirty="0">
                <a:solidFill>
                  <a:srgbClr val="008C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ITT06105  /  DESKTOP PUBLISHING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9144000" y="164592"/>
            <a:ext cx="2286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900" b="1" spc="100" kern="0" dirty="0">
                <a:solidFill>
                  <a:srgbClr val="586D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START HERE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94944" y="576072"/>
            <a:ext cx="1088136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1930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makes a publication easy to read?</a:t>
            </a:r>
            <a:endParaRPr lang="en-US" sz="2850" dirty="0"/>
          </a:p>
        </p:txBody>
      </p:sp>
      <p:sp>
        <p:nvSpPr>
          <p:cNvPr id="6" name="Shape 4"/>
          <p:cNvSpPr/>
          <p:nvPr/>
        </p:nvSpPr>
        <p:spPr>
          <a:xfrm>
            <a:off x="685800" y="6446520"/>
            <a:ext cx="10789920" cy="0"/>
          </a:xfrm>
          <a:prstGeom prst="line">
            <a:avLst/>
          </a:prstGeom>
          <a:noFill/>
          <a:ln w="10160">
            <a:solidFill>
              <a:srgbClr val="D2E2E8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13232" y="6510528"/>
            <a:ext cx="8229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586D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DESKTOP PUBLISHING  •  LECTURE 02  •  2026/2027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972800" y="6510528"/>
            <a:ext cx="4297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586D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713232" y="1746504"/>
            <a:ext cx="5184648" cy="3520440"/>
          </a:xfrm>
          <a:prstGeom prst="roundRect">
            <a:avLst>
              <a:gd name="adj" fmla="val 3377"/>
            </a:avLst>
          </a:prstGeom>
          <a:solidFill>
            <a:srgbClr val="FFFFFF"/>
          </a:solidFill>
          <a:ln w="8890">
            <a:solidFill>
              <a:srgbClr val="CADDE4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932688" y="1929384"/>
            <a:ext cx="47457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08C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Graphic selection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932688" y="2478024"/>
            <a:ext cx="4745736" cy="2633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70" dirty="0">
                <a:solidFill>
                  <a:srgbClr val="19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photograph explains what happened or what a place looks like. A logo identifies an organisation. Each graphic should support the message.</a:t>
            </a:r>
            <a:endParaRPr lang="en-US" sz="1770" dirty="0"/>
          </a:p>
        </p:txBody>
      </p:sp>
      <p:sp>
        <p:nvSpPr>
          <p:cNvPr id="12" name="Shape 10"/>
          <p:cNvSpPr/>
          <p:nvPr/>
        </p:nvSpPr>
        <p:spPr>
          <a:xfrm>
            <a:off x="6144768" y="1746504"/>
            <a:ext cx="5312664" cy="3520440"/>
          </a:xfrm>
          <a:prstGeom prst="roundRect">
            <a:avLst>
              <a:gd name="adj" fmla="val 3377"/>
            </a:avLst>
          </a:prstGeom>
          <a:solidFill>
            <a:srgbClr val="FFFFFF"/>
          </a:solidFill>
          <a:ln w="8890">
            <a:solidFill>
              <a:srgbClr val="CADDE4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364224" y="1929384"/>
            <a:ext cx="48737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08C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Text arrangement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6364224" y="2478024"/>
            <a:ext cx="4873752" cy="2633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70" dirty="0">
                <a:solidFill>
                  <a:srgbClr val="19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Headings, body text and labels should make information easy to scan. Size, spacing and alignment tell readers where to look first.</a:t>
            </a:r>
            <a:endParaRPr lang="en-US" sz="1770" dirty="0"/>
          </a:p>
        </p:txBody>
      </p:sp>
      <p:sp>
        <p:nvSpPr>
          <p:cNvPr id="15" name="Shape 13"/>
          <p:cNvSpPr/>
          <p:nvPr/>
        </p:nvSpPr>
        <p:spPr>
          <a:xfrm>
            <a:off x="713232" y="5715000"/>
            <a:ext cx="10744200" cy="502920"/>
          </a:xfrm>
          <a:prstGeom prst="roundRect">
            <a:avLst>
              <a:gd name="adj" fmla="val 23636"/>
            </a:avLst>
          </a:prstGeom>
          <a:solidFill>
            <a:srgbClr val="E7F5F1"/>
          </a:solidFill>
          <a:ln w="8890">
            <a:solidFill>
              <a:srgbClr val="E7F5F1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914400" y="5824728"/>
            <a:ext cx="102961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19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Colour works with both: it can attract attention, organise sections and reinforce meaning.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08C86"/>
          </a:solidFill>
          <a:ln w="12700">
            <a:solidFill>
              <a:srgbClr val="008C86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685800" y="164592"/>
            <a:ext cx="6400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spc="160" kern="0" dirty="0">
                <a:solidFill>
                  <a:srgbClr val="008C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ITT06105  /  DESKTOP PUBLISHING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9144000" y="164592"/>
            <a:ext cx="2286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900" b="1" spc="100" kern="0" dirty="0">
                <a:solidFill>
                  <a:srgbClr val="586D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FOUNDATIONS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94944" y="576072"/>
            <a:ext cx="1088136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1930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Three decisions before you design</a:t>
            </a:r>
            <a:endParaRPr lang="en-US" sz="2850" dirty="0"/>
          </a:p>
        </p:txBody>
      </p:sp>
      <p:sp>
        <p:nvSpPr>
          <p:cNvPr id="6" name="Shape 4"/>
          <p:cNvSpPr/>
          <p:nvPr/>
        </p:nvSpPr>
        <p:spPr>
          <a:xfrm>
            <a:off x="685800" y="6446520"/>
            <a:ext cx="10789920" cy="0"/>
          </a:xfrm>
          <a:prstGeom prst="line">
            <a:avLst/>
          </a:prstGeom>
          <a:noFill/>
          <a:ln w="10160">
            <a:solidFill>
              <a:srgbClr val="D2E2E8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13232" y="6510528"/>
            <a:ext cx="8229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586D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DESKTOP PUBLISHING  •  LECTURE 02  •  2026/2027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972800" y="6510528"/>
            <a:ext cx="4297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586D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731520" y="1792224"/>
            <a:ext cx="3383280" cy="3648456"/>
          </a:xfrm>
          <a:prstGeom prst="roundRect">
            <a:avLst>
              <a:gd name="adj" fmla="val 3514"/>
            </a:avLst>
          </a:prstGeom>
          <a:solidFill>
            <a:srgbClr val="FFFFFF"/>
          </a:solidFill>
          <a:ln w="8890">
            <a:solidFill>
              <a:srgbClr val="CADDE4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950976" y="1975104"/>
            <a:ext cx="29443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08C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IMAGE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950976" y="2523744"/>
            <a:ext cx="2944368" cy="2761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30" dirty="0">
                <a:solidFill>
                  <a:srgbClr val="19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Which picture, drawing or symbol helps the reader understand the message?</a:t>
            </a:r>
            <a:endParaRPr lang="en-US" sz="1630" dirty="0"/>
          </a:p>
        </p:txBody>
      </p:sp>
      <p:sp>
        <p:nvSpPr>
          <p:cNvPr id="12" name="Shape 10"/>
          <p:cNvSpPr/>
          <p:nvPr/>
        </p:nvSpPr>
        <p:spPr>
          <a:xfrm>
            <a:off x="4407408" y="1792224"/>
            <a:ext cx="3383280" cy="3648456"/>
          </a:xfrm>
          <a:prstGeom prst="roundRect">
            <a:avLst>
              <a:gd name="adj" fmla="val 3514"/>
            </a:avLst>
          </a:prstGeom>
          <a:solidFill>
            <a:srgbClr val="F0F8F9"/>
          </a:solidFill>
          <a:ln w="8890">
            <a:solidFill>
              <a:srgbClr val="CADDE4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4626864" y="1975104"/>
            <a:ext cx="29443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08C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TEXT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4626864" y="2523744"/>
            <a:ext cx="2944368" cy="2761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30" dirty="0">
                <a:solidFill>
                  <a:srgbClr val="19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is the headline? Which details must remain easy to find?</a:t>
            </a:r>
            <a:endParaRPr lang="en-US" sz="1630" dirty="0"/>
          </a:p>
        </p:txBody>
      </p:sp>
      <p:sp>
        <p:nvSpPr>
          <p:cNvPr id="15" name="Shape 13"/>
          <p:cNvSpPr/>
          <p:nvPr/>
        </p:nvSpPr>
        <p:spPr>
          <a:xfrm>
            <a:off x="8083296" y="1792224"/>
            <a:ext cx="3383280" cy="3648456"/>
          </a:xfrm>
          <a:prstGeom prst="roundRect">
            <a:avLst>
              <a:gd name="adj" fmla="val 3514"/>
            </a:avLst>
          </a:prstGeom>
          <a:solidFill>
            <a:srgbClr val="FFFFFF"/>
          </a:solidFill>
          <a:ln w="8890">
            <a:solidFill>
              <a:srgbClr val="CADDE4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302752" y="1975104"/>
            <a:ext cx="29443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08C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COLOUR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8302752" y="2523744"/>
            <a:ext cx="2944368" cy="2761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30" dirty="0">
                <a:solidFill>
                  <a:srgbClr val="19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Which colours improve contrast and support the intended mood?</a:t>
            </a:r>
            <a:endParaRPr lang="en-US" sz="1630" dirty="0"/>
          </a:p>
        </p:txBody>
      </p:sp>
      <p:sp>
        <p:nvSpPr>
          <p:cNvPr id="18" name="Shape 16"/>
          <p:cNvSpPr/>
          <p:nvPr/>
        </p:nvSpPr>
        <p:spPr>
          <a:xfrm>
            <a:off x="713232" y="5715000"/>
            <a:ext cx="10744200" cy="502920"/>
          </a:xfrm>
          <a:prstGeom prst="roundRect">
            <a:avLst>
              <a:gd name="adj" fmla="val 23636"/>
            </a:avLst>
          </a:prstGeom>
          <a:solidFill>
            <a:srgbClr val="E7F5F1"/>
          </a:solidFill>
          <a:ln w="8890">
            <a:solidFill>
              <a:srgbClr val="E7F5F1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914400" y="5824728"/>
            <a:ext cx="102961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19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good design makes these three decisions work together—not compete for attention.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08C86"/>
          </a:solidFill>
          <a:ln w="12700">
            <a:solidFill>
              <a:srgbClr val="008C86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685800" y="164592"/>
            <a:ext cx="6400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spc="160" kern="0" dirty="0">
                <a:solidFill>
                  <a:srgbClr val="008C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ITT06105  /  DESKTOP PUBLISHING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9144000" y="164592"/>
            <a:ext cx="2286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900" b="1" spc="100" kern="0" dirty="0">
                <a:solidFill>
                  <a:srgbClr val="586D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KEY CONCEPT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94944" y="576072"/>
            <a:ext cx="1088136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1930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is a raster image?</a:t>
            </a:r>
            <a:endParaRPr lang="en-US" sz="2850" dirty="0"/>
          </a:p>
        </p:txBody>
      </p:sp>
      <p:sp>
        <p:nvSpPr>
          <p:cNvPr id="6" name="Shape 4"/>
          <p:cNvSpPr/>
          <p:nvPr/>
        </p:nvSpPr>
        <p:spPr>
          <a:xfrm>
            <a:off x="685800" y="6446520"/>
            <a:ext cx="10789920" cy="0"/>
          </a:xfrm>
          <a:prstGeom prst="line">
            <a:avLst/>
          </a:prstGeom>
          <a:noFill/>
          <a:ln w="10160">
            <a:solidFill>
              <a:srgbClr val="D2E2E8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13232" y="6510528"/>
            <a:ext cx="8229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586D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DESKTOP PUBLISHING  •  LECTURE 02  •  2026/2027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972800" y="6510528"/>
            <a:ext cx="4297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586D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713232" y="1664208"/>
            <a:ext cx="10716768" cy="2331720"/>
          </a:xfrm>
          <a:prstGeom prst="roundRect">
            <a:avLst>
              <a:gd name="adj" fmla="val 5098"/>
            </a:avLst>
          </a:prstGeom>
          <a:solidFill>
            <a:srgbClr val="FFFFFF"/>
          </a:solidFill>
          <a:ln w="8890">
            <a:solidFill>
              <a:srgbClr val="CADDE4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024128" y="1993392"/>
            <a:ext cx="1007668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19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raster image is made of many small picture elements called pixels. Each pixel stores colour information; together the pixels form a photograph or digital picture.</a:t>
            </a:r>
            <a:endParaRPr lang="en-US" sz="2400" dirty="0"/>
          </a:p>
        </p:txBody>
      </p:sp>
      <p:sp>
        <p:nvSpPr>
          <p:cNvPr id="11" name="Shape 9"/>
          <p:cNvSpPr/>
          <p:nvPr/>
        </p:nvSpPr>
        <p:spPr>
          <a:xfrm>
            <a:off x="731520" y="4315968"/>
            <a:ext cx="10643616" cy="960120"/>
          </a:xfrm>
          <a:prstGeom prst="roundRect">
            <a:avLst>
              <a:gd name="adj" fmla="val 12381"/>
            </a:avLst>
          </a:prstGeom>
          <a:solidFill>
            <a:srgbClr val="E7F5F1"/>
          </a:solidFill>
          <a:ln w="8890">
            <a:solidFill>
              <a:srgbClr val="E7F5F1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960120" y="4526280"/>
            <a:ext cx="101864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9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Examples: phone photographs, scanned pages and most screenshots.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777240" y="5541264"/>
            <a:ext cx="10515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586D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Raster images are particularly useful for detailed textures, shadows and natural colour changes.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08C86"/>
          </a:solidFill>
          <a:ln w="12700">
            <a:solidFill>
              <a:srgbClr val="008C86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685800" y="164592"/>
            <a:ext cx="6400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spc="160" kern="0" dirty="0">
                <a:solidFill>
                  <a:srgbClr val="008C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ITT06105  /  DESKTOP PUBLISHING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9144000" y="164592"/>
            <a:ext cx="2286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900" b="1" spc="100" kern="0" dirty="0">
                <a:solidFill>
                  <a:srgbClr val="586D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IMAGE BASICS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94944" y="576072"/>
            <a:ext cx="1088136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1930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Pixels form a picture</a:t>
            </a:r>
            <a:endParaRPr lang="en-US" sz="2850" dirty="0"/>
          </a:p>
        </p:txBody>
      </p:sp>
      <p:sp>
        <p:nvSpPr>
          <p:cNvPr id="6" name="Text 4"/>
          <p:cNvSpPr/>
          <p:nvPr/>
        </p:nvSpPr>
        <p:spPr>
          <a:xfrm>
            <a:off x="713232" y="1234440"/>
            <a:ext cx="10652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586D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raster image looks continuous at normal size, but it is built from coloured squares.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85800" y="6446520"/>
            <a:ext cx="10789920" cy="0"/>
          </a:xfrm>
          <a:prstGeom prst="line">
            <a:avLst/>
          </a:prstGeom>
          <a:noFill/>
          <a:ln w="10160">
            <a:solidFill>
              <a:srgbClr val="D2E2E8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713232" y="6510528"/>
            <a:ext cx="8229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586D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DESKTOP PUBLISHING  •  LECTURE 02  •  2026/2027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0972800" y="6510528"/>
            <a:ext cx="4297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586D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722376" y="1700784"/>
            <a:ext cx="5175504" cy="3858768"/>
          </a:xfrm>
          <a:prstGeom prst="roundRect">
            <a:avLst>
              <a:gd name="adj" fmla="val 3081"/>
            </a:avLst>
          </a:prstGeom>
          <a:solidFill>
            <a:srgbClr val="FFFFFF"/>
          </a:solidFill>
          <a:ln w="8890">
            <a:solidFill>
              <a:srgbClr val="CADDE4"/>
            </a:solidFill>
            <a:prstDash val="solid"/>
          </a:ln>
        </p:spPr>
        <p:txBody>
          <a:bodyPr/>
          <a:p/>
        </p:txBody>
      </p:sp>
      <p:pic>
        <p:nvPicPr>
          <p:cNvPr id="11" name="Image 0" descr="/mnt/data/ITT06105_Condensed_L02_Package/assets/Raster_Pixelat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8408" y="1993392"/>
            <a:ext cx="4663440" cy="2990088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6126480" y="1700784"/>
            <a:ext cx="5330952" cy="3858768"/>
          </a:xfrm>
          <a:prstGeom prst="roundRect">
            <a:avLst>
              <a:gd name="adj" fmla="val 3081"/>
            </a:avLst>
          </a:prstGeom>
          <a:solidFill>
            <a:srgbClr val="FFFFFF"/>
          </a:solidFill>
          <a:ln w="8890">
            <a:solidFill>
              <a:srgbClr val="CADDE4"/>
            </a:solidFill>
            <a:prstDash val="solid"/>
          </a:ln>
        </p:spPr>
        <p:txBody>
          <a:bodyPr/>
          <a:p/>
        </p:txBody>
      </p:sp>
      <p:sp>
        <p:nvSpPr>
          <p:cNvPr id="13" name="Text 10"/>
          <p:cNvSpPr/>
          <p:nvPr/>
        </p:nvSpPr>
        <p:spPr>
          <a:xfrm>
            <a:off x="6382512" y="1965960"/>
            <a:ext cx="4764024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008C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When you enlarge too far</a:t>
            </a:r>
            <a:endParaRPr lang="en-US" sz="2100" dirty="0"/>
          </a:p>
        </p:txBody>
      </p:sp>
      <p:sp>
        <p:nvSpPr>
          <p:cNvPr id="14" name="Text 11"/>
          <p:cNvSpPr/>
          <p:nvPr/>
        </p:nvSpPr>
        <p:spPr>
          <a:xfrm>
            <a:off x="6400800" y="2578608"/>
            <a:ext cx="4645152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900" dirty="0">
                <a:solidFill>
                  <a:srgbClr val="19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Individual pixels can become visible. Software may smooth the blocks, but smoothing cannot recover detail that was never captured.</a:t>
            </a:r>
            <a:endParaRPr lang="en-US" sz="1900" dirty="0"/>
          </a:p>
        </p:txBody>
      </p:sp>
      <p:sp>
        <p:nvSpPr>
          <p:cNvPr id="15" name="Text 12"/>
          <p:cNvSpPr/>
          <p:nvPr/>
        </p:nvSpPr>
        <p:spPr>
          <a:xfrm>
            <a:off x="6400800" y="4663440"/>
            <a:ext cx="45445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9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This is called pixelation.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08C86"/>
          </a:solidFill>
          <a:ln w="12700">
            <a:solidFill>
              <a:srgbClr val="008C86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685800" y="164592"/>
            <a:ext cx="6400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spc="160" kern="0" dirty="0">
                <a:solidFill>
                  <a:srgbClr val="008C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ITT06105  /  DESKTOP PUBLISHING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9144000" y="164592"/>
            <a:ext cx="2286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900" b="1" spc="100" kern="0" dirty="0">
                <a:solidFill>
                  <a:srgbClr val="586D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IMAGE BASICS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94944" y="576072"/>
            <a:ext cx="1088136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1930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Why image size matters</a:t>
            </a:r>
            <a:endParaRPr lang="en-US" sz="2850" dirty="0"/>
          </a:p>
        </p:txBody>
      </p:sp>
      <p:sp>
        <p:nvSpPr>
          <p:cNvPr id="6" name="Shape 4"/>
          <p:cNvSpPr/>
          <p:nvPr/>
        </p:nvSpPr>
        <p:spPr>
          <a:xfrm>
            <a:off x="685800" y="6446520"/>
            <a:ext cx="10789920" cy="0"/>
          </a:xfrm>
          <a:prstGeom prst="line">
            <a:avLst/>
          </a:prstGeom>
          <a:noFill/>
          <a:ln w="10160">
            <a:solidFill>
              <a:srgbClr val="D2E2E8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13232" y="6510528"/>
            <a:ext cx="8229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586D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DESKTOP PUBLISHING  •  LECTURE 02  •  2026/2027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972800" y="6510528"/>
            <a:ext cx="4297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586D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</a:t>
            </a:r>
            <a:endParaRPr lang="en-US" sz="900" dirty="0"/>
          </a:p>
        </p:txBody>
      </p:sp>
      <p:pic>
        <p:nvPicPr>
          <p:cNvPr id="9" name="Image 0" descr="/mnt/data/ITT06105_Condensed_L02_Package/assets/Raster_Original_Detai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2011680"/>
            <a:ext cx="4892040" cy="3154680"/>
          </a:xfrm>
          <a:prstGeom prst="rect">
            <a:avLst/>
          </a:prstGeom>
        </p:spPr>
      </p:pic>
      <p:pic>
        <p:nvPicPr>
          <p:cNvPr id="10" name="Image 1" descr="/mnt/data/ITT06105_Condensed_L02_Package/assets/Raster_Pixelat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2011680"/>
            <a:ext cx="4892040" cy="315468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097280" y="1682496"/>
            <a:ext cx="4480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008C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More original detail</a:t>
            </a:r>
            <a:endParaRPr lang="en-US" sz="1900" dirty="0"/>
          </a:p>
        </p:txBody>
      </p:sp>
      <p:sp>
        <p:nvSpPr>
          <p:cNvPr id="12" name="Text 8"/>
          <p:cNvSpPr/>
          <p:nvPr/>
        </p:nvSpPr>
        <p:spPr>
          <a:xfrm>
            <a:off x="6400800" y="1682496"/>
            <a:ext cx="4754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B34C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Enlarged low-resolution version</a:t>
            </a:r>
            <a:endParaRPr lang="en-US" sz="1900" dirty="0"/>
          </a:p>
        </p:txBody>
      </p:sp>
      <p:sp>
        <p:nvSpPr>
          <p:cNvPr id="13" name="Shape 9"/>
          <p:cNvSpPr/>
          <p:nvPr/>
        </p:nvSpPr>
        <p:spPr>
          <a:xfrm>
            <a:off x="713232" y="5650992"/>
            <a:ext cx="10744200" cy="502920"/>
          </a:xfrm>
          <a:prstGeom prst="roundRect">
            <a:avLst>
              <a:gd name="adj" fmla="val 23636"/>
            </a:avLst>
          </a:prstGeom>
          <a:solidFill>
            <a:srgbClr val="E7F5F1"/>
          </a:solidFill>
          <a:ln w="8890">
            <a:solidFill>
              <a:srgbClr val="E7F5F1"/>
            </a:solidFill>
            <a:prstDash val="solid"/>
          </a:ln>
        </p:spPr>
        <p:txBody>
          <a:bodyPr/>
          <a:p/>
        </p:txBody>
      </p:sp>
      <p:sp>
        <p:nvSpPr>
          <p:cNvPr id="14" name="Text 10"/>
          <p:cNvSpPr/>
          <p:nvPr/>
        </p:nvSpPr>
        <p:spPr>
          <a:xfrm>
            <a:off x="914400" y="5760720"/>
            <a:ext cx="102961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19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large printed photograph needs enough pixels for its intended physical size.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08C86"/>
          </a:solidFill>
          <a:ln w="12700">
            <a:solidFill>
              <a:srgbClr val="008C86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685800" y="164592"/>
            <a:ext cx="6400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spc="160" kern="0" dirty="0">
                <a:solidFill>
                  <a:srgbClr val="008C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ITT06105  /  DESKTOP PUBLISHING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9144000" y="164592"/>
            <a:ext cx="2286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900" b="1" spc="100" kern="0" dirty="0">
                <a:solidFill>
                  <a:srgbClr val="586D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KEY CONCEPT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94944" y="576072"/>
            <a:ext cx="1088136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1930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is a vector graphic?</a:t>
            </a:r>
            <a:endParaRPr lang="en-US" sz="2850" dirty="0"/>
          </a:p>
        </p:txBody>
      </p:sp>
      <p:sp>
        <p:nvSpPr>
          <p:cNvPr id="6" name="Shape 4"/>
          <p:cNvSpPr/>
          <p:nvPr/>
        </p:nvSpPr>
        <p:spPr>
          <a:xfrm>
            <a:off x="685800" y="6446520"/>
            <a:ext cx="10789920" cy="0"/>
          </a:xfrm>
          <a:prstGeom prst="line">
            <a:avLst/>
          </a:prstGeom>
          <a:noFill/>
          <a:ln w="10160">
            <a:solidFill>
              <a:srgbClr val="D2E2E8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13232" y="6510528"/>
            <a:ext cx="8229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586D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DESKTOP PUBLISHING  •  LECTURE 02  •  2026/2027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972800" y="6510528"/>
            <a:ext cx="4297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586D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08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713232" y="1664208"/>
            <a:ext cx="10716768" cy="2331720"/>
          </a:xfrm>
          <a:prstGeom prst="roundRect">
            <a:avLst>
              <a:gd name="adj" fmla="val 5098"/>
            </a:avLst>
          </a:prstGeom>
          <a:solidFill>
            <a:srgbClr val="FFFFFF"/>
          </a:solidFill>
          <a:ln w="8890">
            <a:solidFill>
              <a:srgbClr val="CADDE4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024128" y="1993392"/>
            <a:ext cx="1007668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19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vector graphic is made from points, lines, curves and shapes described mathematically. These shapes can be scaled without the blocky edges associated with enlarged raster images.</a:t>
            </a:r>
            <a:endParaRPr lang="en-US" sz="2400" dirty="0"/>
          </a:p>
        </p:txBody>
      </p:sp>
      <p:sp>
        <p:nvSpPr>
          <p:cNvPr id="11" name="Shape 9"/>
          <p:cNvSpPr/>
          <p:nvPr/>
        </p:nvSpPr>
        <p:spPr>
          <a:xfrm>
            <a:off x="731520" y="4315968"/>
            <a:ext cx="10643616" cy="960120"/>
          </a:xfrm>
          <a:prstGeom prst="roundRect">
            <a:avLst>
              <a:gd name="adj" fmla="val 12381"/>
            </a:avLst>
          </a:prstGeom>
          <a:solidFill>
            <a:srgbClr val="E7F5F1"/>
          </a:solidFill>
          <a:ln w="8890">
            <a:solidFill>
              <a:srgbClr val="E7F5F1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960120" y="4526280"/>
            <a:ext cx="101864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9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Examples: logos, simple icons, diagrams and illustrations.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777240" y="5541264"/>
            <a:ext cx="10515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586D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vector file may also contain an embedded raster photograph, so check its actual content.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08C86"/>
          </a:solidFill>
          <a:ln w="12700">
            <a:solidFill>
              <a:srgbClr val="008C86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685800" y="164592"/>
            <a:ext cx="6400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spc="160" kern="0" dirty="0">
                <a:solidFill>
                  <a:srgbClr val="008C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ITT06105  /  DESKTOP PUBLISHING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9144000" y="164592"/>
            <a:ext cx="2286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900" b="1" spc="100" kern="0" dirty="0">
                <a:solidFill>
                  <a:srgbClr val="586D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IMAGE BASICS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94944" y="576072"/>
            <a:ext cx="1088136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1930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Vectors use paths and shapes</a:t>
            </a:r>
            <a:endParaRPr lang="en-US" sz="2850" dirty="0"/>
          </a:p>
        </p:txBody>
      </p:sp>
      <p:sp>
        <p:nvSpPr>
          <p:cNvPr id="6" name="Text 4"/>
          <p:cNvSpPr/>
          <p:nvPr/>
        </p:nvSpPr>
        <p:spPr>
          <a:xfrm>
            <a:off x="713232" y="1234440"/>
            <a:ext cx="10652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586D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Changing a vector shape means changing its geometry, rather than colouring individual pixels.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85800" y="6446520"/>
            <a:ext cx="10789920" cy="0"/>
          </a:xfrm>
          <a:prstGeom prst="line">
            <a:avLst/>
          </a:prstGeom>
          <a:noFill/>
          <a:ln w="10160">
            <a:solidFill>
              <a:srgbClr val="D2E2E8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713232" y="6510528"/>
            <a:ext cx="8229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586D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DESKTOP PUBLISHING  •  LECTURE 02  •  2026/2027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0972800" y="6510528"/>
            <a:ext cx="4297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586D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09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722376" y="1709928"/>
            <a:ext cx="5266944" cy="3813048"/>
          </a:xfrm>
          <a:prstGeom prst="roundRect">
            <a:avLst>
              <a:gd name="adj" fmla="val 3118"/>
            </a:avLst>
          </a:prstGeom>
          <a:solidFill>
            <a:srgbClr val="FFFFFF"/>
          </a:solidFill>
          <a:ln w="8890">
            <a:solidFill>
              <a:srgbClr val="CADDE4"/>
            </a:solidFill>
            <a:prstDash val="solid"/>
          </a:ln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1325880" y="2295144"/>
            <a:ext cx="2404872" cy="1801368"/>
          </a:xfrm>
          <a:prstGeom prst="rect">
            <a:avLst/>
          </a:prstGeom>
          <a:solidFill>
            <a:srgbClr val="DBF4EF"/>
          </a:solidFill>
          <a:ln w="38100">
            <a:solidFill>
              <a:srgbClr val="008C86"/>
            </a:solidFill>
            <a:prstDash val="solid"/>
          </a:ln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1993392" y="1938528"/>
            <a:ext cx="2286000" cy="2286000"/>
          </a:xfrm>
          <a:prstGeom prst="ellipse">
            <a:avLst/>
          </a:prstGeom>
          <a:solidFill>
            <a:srgbClr val="9ADDD3"/>
          </a:solidFill>
          <a:ln w="38100">
            <a:solidFill>
              <a:srgbClr val="224D64"/>
            </a:solidFill>
            <a:prstDash val="solid"/>
          </a:ln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3081528" y="2606040"/>
            <a:ext cx="1307592" cy="941832"/>
          </a:xfrm>
          <a:prstGeom prst="chevron">
            <a:avLst/>
          </a:prstGeom>
          <a:solidFill>
            <a:srgbClr val="F0AC4A"/>
          </a:solidFill>
          <a:ln w="25400">
            <a:solidFill>
              <a:srgbClr val="F0AC4A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1234440" y="4773168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008C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Editable objects</a:t>
            </a:r>
            <a:endParaRPr lang="en-US" sz="1900" dirty="0"/>
          </a:p>
        </p:txBody>
      </p:sp>
      <p:sp>
        <p:nvSpPr>
          <p:cNvPr id="15" name="Shape 13"/>
          <p:cNvSpPr/>
          <p:nvPr/>
        </p:nvSpPr>
        <p:spPr>
          <a:xfrm>
            <a:off x="6245352" y="1709928"/>
            <a:ext cx="5166360" cy="3813048"/>
          </a:xfrm>
          <a:prstGeom prst="roundRect">
            <a:avLst>
              <a:gd name="adj" fmla="val 3118"/>
            </a:avLst>
          </a:prstGeom>
          <a:solidFill>
            <a:srgbClr val="FFFFFF"/>
          </a:solidFill>
          <a:ln w="8890">
            <a:solidFill>
              <a:srgbClr val="CADDE4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6537960" y="1993392"/>
            <a:ext cx="45628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008C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 scaling is different</a:t>
            </a:r>
            <a:endParaRPr lang="en-US" sz="2100" dirty="0"/>
          </a:p>
        </p:txBody>
      </p:sp>
      <p:sp>
        <p:nvSpPr>
          <p:cNvPr id="17" name="Text 15"/>
          <p:cNvSpPr/>
          <p:nvPr/>
        </p:nvSpPr>
        <p:spPr>
          <a:xfrm>
            <a:off x="6547104" y="2679192"/>
            <a:ext cx="452628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900" dirty="0">
                <a:solidFill>
                  <a:srgbClr val="19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software redraws each path at the new size. The icon can be displayed on a small badge or a large sign while retaining smooth edges.</a:t>
            </a:r>
            <a:endParaRPr lang="en-US" sz="1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08C86"/>
          </a:solidFill>
          <a:ln w="12700">
            <a:solidFill>
              <a:srgbClr val="008C86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685800" y="164592"/>
            <a:ext cx="6400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spc="160" kern="0" dirty="0">
                <a:solidFill>
                  <a:srgbClr val="008C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ITT06105  /  DESKTOP PUBLISHING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9144000" y="164592"/>
            <a:ext cx="2286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900" b="1" spc="100" kern="0" dirty="0">
                <a:solidFill>
                  <a:srgbClr val="586D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COMPARE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94944" y="576072"/>
            <a:ext cx="1088136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1930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Raster versus vector at a glance</a:t>
            </a:r>
            <a:endParaRPr lang="en-US" sz="2850" dirty="0"/>
          </a:p>
        </p:txBody>
      </p:sp>
      <p:sp>
        <p:nvSpPr>
          <p:cNvPr id="6" name="Shape 4"/>
          <p:cNvSpPr/>
          <p:nvPr/>
        </p:nvSpPr>
        <p:spPr>
          <a:xfrm>
            <a:off x="685800" y="6446520"/>
            <a:ext cx="10789920" cy="0"/>
          </a:xfrm>
          <a:prstGeom prst="line">
            <a:avLst/>
          </a:prstGeom>
          <a:noFill/>
          <a:ln w="10160">
            <a:solidFill>
              <a:srgbClr val="D2E2E8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13232" y="6510528"/>
            <a:ext cx="8229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586D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DESKTOP PUBLISHING  •  LECTURE 02  •  2026/2027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972800" y="6510528"/>
            <a:ext cx="4297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586D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886200" y="1746504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B34C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RASTER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7635240" y="1746504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8C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VECTOR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731520" y="2139696"/>
            <a:ext cx="10698480" cy="667512"/>
          </a:xfrm>
          <a:prstGeom prst="rect">
            <a:avLst/>
          </a:prstGeom>
          <a:solidFill>
            <a:srgbClr val="EAF4F6"/>
          </a:solidFill>
          <a:ln w="8890">
            <a:solidFill>
              <a:srgbClr val="DAE7EB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941832" y="2304288"/>
            <a:ext cx="192024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9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Best for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008376" y="2286000"/>
            <a:ext cx="38679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19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Photographs and detailed images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132320" y="2286000"/>
            <a:ext cx="3931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19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Icons, logos and simple artwork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731520" y="2926080"/>
            <a:ext cx="10698480" cy="667512"/>
          </a:xfrm>
          <a:prstGeom prst="rect">
            <a:avLst/>
          </a:prstGeom>
          <a:solidFill>
            <a:srgbClr val="FFFFFF"/>
          </a:solidFill>
          <a:ln w="8890">
            <a:solidFill>
              <a:srgbClr val="DAE7EB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941832" y="3090672"/>
            <a:ext cx="192024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9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Built from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3008376" y="3072384"/>
            <a:ext cx="38679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19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Pixels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7132320" y="3072384"/>
            <a:ext cx="3931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19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Paths, points and shapes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731520" y="3712464"/>
            <a:ext cx="10698480" cy="667512"/>
          </a:xfrm>
          <a:prstGeom prst="rect">
            <a:avLst/>
          </a:prstGeom>
          <a:solidFill>
            <a:srgbClr val="EAF4F6"/>
          </a:solidFill>
          <a:ln w="8890">
            <a:solidFill>
              <a:srgbClr val="DAE7EB"/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941832" y="3877056"/>
            <a:ext cx="192024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9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Enlargement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3008376" y="3858768"/>
            <a:ext cx="38679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19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Can show pixelation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7132320" y="3858768"/>
            <a:ext cx="3931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19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Usually stays crisp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731520" y="4498848"/>
            <a:ext cx="10698480" cy="667512"/>
          </a:xfrm>
          <a:prstGeom prst="rect">
            <a:avLst/>
          </a:prstGeom>
          <a:solidFill>
            <a:srgbClr val="FFFFFF"/>
          </a:solidFill>
          <a:ln w="8890">
            <a:solidFill>
              <a:srgbClr val="DAE7EB"/>
            </a:solidFill>
            <a:prstDash val="solid"/>
          </a:ln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941832" y="4663440"/>
            <a:ext cx="192024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9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Typical formats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3008376" y="4645152"/>
            <a:ext cx="38679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19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JPEG, PNG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7132320" y="4645152"/>
            <a:ext cx="3931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19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SVG, AI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08C86"/>
          </a:solidFill>
          <a:ln w="12700">
            <a:solidFill>
              <a:srgbClr val="008C86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685800" y="164592"/>
            <a:ext cx="6400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spc="160" kern="0" dirty="0">
                <a:solidFill>
                  <a:srgbClr val="008C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ITT06105  /  DESKTOP PUBLISHING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9144000" y="164592"/>
            <a:ext cx="2286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900" b="1" spc="100" kern="0" dirty="0">
                <a:solidFill>
                  <a:srgbClr val="586D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COMPARE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94944" y="576072"/>
            <a:ext cx="1088136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1930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Choose the right graphic for the job</a:t>
            </a:r>
            <a:endParaRPr lang="en-US" sz="2850" dirty="0"/>
          </a:p>
        </p:txBody>
      </p:sp>
      <p:sp>
        <p:nvSpPr>
          <p:cNvPr id="6" name="Text 4"/>
          <p:cNvSpPr/>
          <p:nvPr/>
        </p:nvSpPr>
        <p:spPr>
          <a:xfrm>
            <a:off x="713232" y="1234440"/>
            <a:ext cx="10652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586D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same publication often includes both raster and vector content.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85800" y="6446520"/>
            <a:ext cx="10789920" cy="0"/>
          </a:xfrm>
          <a:prstGeom prst="line">
            <a:avLst/>
          </a:prstGeom>
          <a:noFill/>
          <a:ln w="10160">
            <a:solidFill>
              <a:srgbClr val="D2E2E8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713232" y="6510528"/>
            <a:ext cx="8229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586D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DESKTOP PUBLISHING  •  LECTURE 02  •  2026/2027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0972800" y="6510528"/>
            <a:ext cx="4297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586D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731520" y="1755648"/>
            <a:ext cx="5093208" cy="3886200"/>
          </a:xfrm>
          <a:prstGeom prst="roundRect">
            <a:avLst>
              <a:gd name="adj" fmla="val 3059"/>
            </a:avLst>
          </a:prstGeom>
          <a:solidFill>
            <a:srgbClr val="FFFFFF"/>
          </a:solidFill>
          <a:ln w="8890">
            <a:solidFill>
              <a:srgbClr val="CADDE4"/>
            </a:solidFill>
            <a:prstDash val="solid"/>
          </a:ln>
        </p:spPr>
        <p:txBody>
          <a:bodyPr/>
          <a:p/>
        </p:txBody>
      </p:sp>
      <p:pic>
        <p:nvPicPr>
          <p:cNvPr id="11" name="Image 0" descr="/mnt/data/ITT06105_Condensed_L02_Package/assets/Tumaini_Illustra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" y="2185416"/>
            <a:ext cx="4517136" cy="2688336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005840" y="5029200"/>
            <a:ext cx="4480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9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Workshop photograph or illustration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6062472" y="1755648"/>
            <a:ext cx="5349240" cy="3886200"/>
          </a:xfrm>
          <a:prstGeom prst="roundRect">
            <a:avLst>
              <a:gd name="adj" fmla="val 3059"/>
            </a:avLst>
          </a:prstGeom>
          <a:solidFill>
            <a:srgbClr val="FFFFFF"/>
          </a:solidFill>
          <a:ln w="8890">
            <a:solidFill>
              <a:srgbClr val="CADDE4"/>
            </a:solidFill>
            <a:prstDash val="solid"/>
          </a:ln>
        </p:spPr>
        <p:txBody>
          <a:bodyPr/>
          <a:p/>
        </p:txBody>
      </p:sp>
      <p:pic>
        <p:nvPicPr>
          <p:cNvPr id="14" name="Image 1" descr="/mnt/data/ITT06105_Condensed_L02_Package/assets/Tumaini_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2672" y="2249424"/>
            <a:ext cx="2057400" cy="205740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6483096" y="4901184"/>
            <a:ext cx="445312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9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Organisation identity</a:t>
            </a:r>
            <a:endParaRPr lang="en-US" sz="1700" dirty="0"/>
          </a:p>
        </p:txBody>
      </p:sp>
      <p:sp>
        <p:nvSpPr>
          <p:cNvPr id="16" name="Shape 12"/>
          <p:cNvSpPr/>
          <p:nvPr/>
        </p:nvSpPr>
        <p:spPr>
          <a:xfrm>
            <a:off x="713232" y="5742432"/>
            <a:ext cx="10744200" cy="502920"/>
          </a:xfrm>
          <a:prstGeom prst="roundRect">
            <a:avLst>
              <a:gd name="adj" fmla="val 23636"/>
            </a:avLst>
          </a:prstGeom>
          <a:solidFill>
            <a:srgbClr val="E7F5F1"/>
          </a:solidFill>
          <a:ln w="8890">
            <a:solidFill>
              <a:srgbClr val="E7F5F1"/>
            </a:solidFill>
            <a:prstDash val="solid"/>
          </a:ln>
        </p:spPr>
        <p:txBody>
          <a:bodyPr/>
          <a:p/>
        </p:txBody>
      </p:sp>
      <p:sp>
        <p:nvSpPr>
          <p:cNvPr id="17" name="Text 13"/>
          <p:cNvSpPr/>
          <p:nvPr/>
        </p:nvSpPr>
        <p:spPr>
          <a:xfrm>
            <a:off x="914400" y="5852160"/>
            <a:ext cx="102961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19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detailed raster images for scenes; retain editable vectors for simple symbols and logos.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08C86"/>
          </a:solidFill>
          <a:ln w="12700">
            <a:solidFill>
              <a:srgbClr val="008C86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685800" y="164592"/>
            <a:ext cx="6400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spc="160" kern="0" dirty="0">
                <a:solidFill>
                  <a:srgbClr val="008C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ITT06105  /  DESKTOP PUBLISHING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9144000" y="164592"/>
            <a:ext cx="2286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900" b="1" spc="100" kern="0" dirty="0">
                <a:solidFill>
                  <a:srgbClr val="586D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FILE FORMATS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94944" y="576072"/>
            <a:ext cx="1088136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1930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Four file formats you will meet often</a:t>
            </a:r>
            <a:endParaRPr lang="en-US" sz="2850" dirty="0"/>
          </a:p>
        </p:txBody>
      </p:sp>
      <p:sp>
        <p:nvSpPr>
          <p:cNvPr id="6" name="Shape 4"/>
          <p:cNvSpPr/>
          <p:nvPr/>
        </p:nvSpPr>
        <p:spPr>
          <a:xfrm>
            <a:off x="685800" y="6446520"/>
            <a:ext cx="10789920" cy="0"/>
          </a:xfrm>
          <a:prstGeom prst="line">
            <a:avLst/>
          </a:prstGeom>
          <a:noFill/>
          <a:ln w="10160">
            <a:solidFill>
              <a:srgbClr val="D2E2E8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13232" y="6510528"/>
            <a:ext cx="8229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586D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DESKTOP PUBLISHING  •  LECTURE 02  •  2026/2027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972800" y="6510528"/>
            <a:ext cx="4297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586D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731520" y="1792224"/>
            <a:ext cx="3383280" cy="3648456"/>
          </a:xfrm>
          <a:prstGeom prst="roundRect">
            <a:avLst>
              <a:gd name="adj" fmla="val 3514"/>
            </a:avLst>
          </a:prstGeom>
          <a:solidFill>
            <a:srgbClr val="FFFFFF"/>
          </a:solidFill>
          <a:ln w="8890">
            <a:solidFill>
              <a:srgbClr val="CADDE4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950976" y="1975104"/>
            <a:ext cx="29443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08C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JPEG / JPG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950976" y="2523744"/>
            <a:ext cx="2944368" cy="2761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30" dirty="0">
                <a:solidFill>
                  <a:srgbClr val="19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Usually suited to photographs. Small files are possible, but saving with lossy compression can discard image detail.</a:t>
            </a:r>
            <a:endParaRPr lang="en-US" sz="1630" dirty="0"/>
          </a:p>
        </p:txBody>
      </p:sp>
      <p:sp>
        <p:nvSpPr>
          <p:cNvPr id="12" name="Shape 10"/>
          <p:cNvSpPr/>
          <p:nvPr/>
        </p:nvSpPr>
        <p:spPr>
          <a:xfrm>
            <a:off x="4407408" y="1792224"/>
            <a:ext cx="3383280" cy="3648456"/>
          </a:xfrm>
          <a:prstGeom prst="roundRect">
            <a:avLst>
              <a:gd name="adj" fmla="val 3514"/>
            </a:avLst>
          </a:prstGeom>
          <a:solidFill>
            <a:srgbClr val="F0F8F9"/>
          </a:solidFill>
          <a:ln w="8890">
            <a:solidFill>
              <a:srgbClr val="CADDE4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4626864" y="1975104"/>
            <a:ext cx="29443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08C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PNG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4626864" y="2523744"/>
            <a:ext cx="2944368" cy="2761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30" dirty="0">
                <a:solidFill>
                  <a:srgbClr val="19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Useful for sharp graphics and transparency. PNG uses lossless compression for its stored pixels.</a:t>
            </a:r>
            <a:endParaRPr lang="en-US" sz="1630" dirty="0"/>
          </a:p>
        </p:txBody>
      </p:sp>
      <p:sp>
        <p:nvSpPr>
          <p:cNvPr id="15" name="Shape 13"/>
          <p:cNvSpPr/>
          <p:nvPr/>
        </p:nvSpPr>
        <p:spPr>
          <a:xfrm>
            <a:off x="8083296" y="1792224"/>
            <a:ext cx="3383280" cy="3648456"/>
          </a:xfrm>
          <a:prstGeom prst="roundRect">
            <a:avLst>
              <a:gd name="adj" fmla="val 3514"/>
            </a:avLst>
          </a:prstGeom>
          <a:solidFill>
            <a:srgbClr val="FFFFFF"/>
          </a:solidFill>
          <a:ln w="8890">
            <a:solidFill>
              <a:srgbClr val="CADDE4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302752" y="1975104"/>
            <a:ext cx="29443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08C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SVG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8302752" y="2523744"/>
            <a:ext cx="2944368" cy="2761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30" dirty="0">
                <a:solidFill>
                  <a:srgbClr val="19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 editable, scalable vector format suited to simple drawings and logos. It can contain embedded raster images.</a:t>
            </a:r>
            <a:endParaRPr lang="en-US" sz="1630" dirty="0"/>
          </a:p>
        </p:txBody>
      </p:sp>
      <p:sp>
        <p:nvSpPr>
          <p:cNvPr id="18" name="Shape 16"/>
          <p:cNvSpPr/>
          <p:nvPr/>
        </p:nvSpPr>
        <p:spPr>
          <a:xfrm>
            <a:off x="713232" y="5715000"/>
            <a:ext cx="10744200" cy="502920"/>
          </a:xfrm>
          <a:prstGeom prst="roundRect">
            <a:avLst>
              <a:gd name="adj" fmla="val 23636"/>
            </a:avLst>
          </a:prstGeom>
          <a:solidFill>
            <a:srgbClr val="E7F5F1"/>
          </a:solidFill>
          <a:ln w="8890">
            <a:solidFill>
              <a:srgbClr val="E7F5F1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914400" y="5824728"/>
            <a:ext cx="102961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19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PDF is a document container: it may hold text, raster images and vector shapes.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08C86"/>
          </a:solidFill>
          <a:ln w="12700">
            <a:solidFill>
              <a:srgbClr val="008C86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685800" y="164592"/>
            <a:ext cx="6400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spc="160" kern="0" dirty="0">
                <a:solidFill>
                  <a:srgbClr val="008C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ITT06105  /  DESKTOP PUBLISHING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9144000" y="164592"/>
            <a:ext cx="2286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900" b="1" spc="100" kern="0" dirty="0">
                <a:solidFill>
                  <a:srgbClr val="586D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FILE FORMATS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94944" y="576072"/>
            <a:ext cx="1088136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1930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JPEG and PNG are not interchangeable</a:t>
            </a:r>
            <a:endParaRPr lang="en-US" sz="2850" dirty="0"/>
          </a:p>
        </p:txBody>
      </p:sp>
      <p:sp>
        <p:nvSpPr>
          <p:cNvPr id="6" name="Shape 4"/>
          <p:cNvSpPr/>
          <p:nvPr/>
        </p:nvSpPr>
        <p:spPr>
          <a:xfrm>
            <a:off x="685800" y="6446520"/>
            <a:ext cx="10789920" cy="0"/>
          </a:xfrm>
          <a:prstGeom prst="line">
            <a:avLst/>
          </a:prstGeom>
          <a:noFill/>
          <a:ln w="10160">
            <a:solidFill>
              <a:srgbClr val="D2E2E8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13232" y="6510528"/>
            <a:ext cx="8229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586D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DESKTOP PUBLISHING  •  LECTURE 02  •  2026/2027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972800" y="6510528"/>
            <a:ext cx="4297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586D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13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713232" y="1746504"/>
            <a:ext cx="5184648" cy="3520440"/>
          </a:xfrm>
          <a:prstGeom prst="roundRect">
            <a:avLst>
              <a:gd name="adj" fmla="val 3377"/>
            </a:avLst>
          </a:prstGeom>
          <a:solidFill>
            <a:srgbClr val="FFFFFF"/>
          </a:solidFill>
          <a:ln w="8890">
            <a:solidFill>
              <a:srgbClr val="CADDE4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932688" y="1929384"/>
            <a:ext cx="47457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08C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Choose JPEG when …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932688" y="2478024"/>
            <a:ext cx="4745736" cy="2633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70" dirty="0">
                <a:solidFill>
                  <a:srgbClr val="19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You are sharing a photograph that has many colours and gradual transitions. Adjust the quality setting and check whether the result still looks acceptable.</a:t>
            </a:r>
            <a:endParaRPr lang="en-US" sz="1770" dirty="0"/>
          </a:p>
        </p:txBody>
      </p:sp>
      <p:sp>
        <p:nvSpPr>
          <p:cNvPr id="12" name="Shape 10"/>
          <p:cNvSpPr/>
          <p:nvPr/>
        </p:nvSpPr>
        <p:spPr>
          <a:xfrm>
            <a:off x="6144768" y="1746504"/>
            <a:ext cx="5312664" cy="3520440"/>
          </a:xfrm>
          <a:prstGeom prst="roundRect">
            <a:avLst>
              <a:gd name="adj" fmla="val 3377"/>
            </a:avLst>
          </a:prstGeom>
          <a:solidFill>
            <a:srgbClr val="FFFFFF"/>
          </a:solidFill>
          <a:ln w="8890">
            <a:solidFill>
              <a:srgbClr val="CADDE4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364224" y="1929384"/>
            <a:ext cx="48737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08C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Choose PNG when …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6364224" y="2478024"/>
            <a:ext cx="4873752" cy="2633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70" dirty="0">
                <a:solidFill>
                  <a:srgbClr val="19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You need transparent backgrounds, clear edges or text-like artwork. A PNG is still raster-based even when its edges look sharp.</a:t>
            </a:r>
            <a:endParaRPr lang="en-US" sz="1770" dirty="0"/>
          </a:p>
        </p:txBody>
      </p:sp>
      <p:sp>
        <p:nvSpPr>
          <p:cNvPr id="15" name="Shape 13"/>
          <p:cNvSpPr/>
          <p:nvPr/>
        </p:nvSpPr>
        <p:spPr>
          <a:xfrm>
            <a:off x="713232" y="5715000"/>
            <a:ext cx="10744200" cy="502920"/>
          </a:xfrm>
          <a:prstGeom prst="roundRect">
            <a:avLst>
              <a:gd name="adj" fmla="val 23636"/>
            </a:avLst>
          </a:prstGeom>
          <a:solidFill>
            <a:srgbClr val="E7F5F1"/>
          </a:solidFill>
          <a:ln w="8890">
            <a:solidFill>
              <a:srgbClr val="E7F5F1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914400" y="5824728"/>
            <a:ext cx="102961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19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 not repeatedly save a working photograph as a low-quality JPEG; keep an original or editable source.</a:t>
            </a:r>
            <a:endParaRPr lang="en-US" sz="1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08C86"/>
          </a:solidFill>
          <a:ln w="12700">
            <a:solidFill>
              <a:srgbClr val="008C86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685800" y="164592"/>
            <a:ext cx="6400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spc="160" kern="0" dirty="0">
                <a:solidFill>
                  <a:srgbClr val="008C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ITT06105  /  DESKTOP PUBLISHING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9144000" y="164592"/>
            <a:ext cx="2286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900" b="1" spc="100" kern="0" dirty="0">
                <a:solidFill>
                  <a:srgbClr val="586D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FILE FORMATS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94944" y="576072"/>
            <a:ext cx="1088136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1930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about SVG and PDF?</a:t>
            </a:r>
            <a:endParaRPr lang="en-US" sz="2850" dirty="0"/>
          </a:p>
        </p:txBody>
      </p:sp>
      <p:sp>
        <p:nvSpPr>
          <p:cNvPr id="6" name="Shape 4"/>
          <p:cNvSpPr/>
          <p:nvPr/>
        </p:nvSpPr>
        <p:spPr>
          <a:xfrm>
            <a:off x="685800" y="6446520"/>
            <a:ext cx="10789920" cy="0"/>
          </a:xfrm>
          <a:prstGeom prst="line">
            <a:avLst/>
          </a:prstGeom>
          <a:noFill/>
          <a:ln w="10160">
            <a:solidFill>
              <a:srgbClr val="D2E2E8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13232" y="6510528"/>
            <a:ext cx="8229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586D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DESKTOP PUBLISHING  •  LECTURE 02  •  2026/2027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972800" y="6510528"/>
            <a:ext cx="4297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586D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14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713232" y="1746504"/>
            <a:ext cx="5184648" cy="3520440"/>
          </a:xfrm>
          <a:prstGeom prst="roundRect">
            <a:avLst>
              <a:gd name="adj" fmla="val 3377"/>
            </a:avLst>
          </a:prstGeom>
          <a:solidFill>
            <a:srgbClr val="FFFFFF"/>
          </a:solidFill>
          <a:ln w="8890">
            <a:solidFill>
              <a:srgbClr val="CADDE4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932688" y="1929384"/>
            <a:ext cx="47457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08C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SVG: an artwork format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932688" y="2478024"/>
            <a:ext cx="4745736" cy="2633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30" dirty="0">
                <a:solidFill>
                  <a:srgbClr val="19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SVG stores shapes and paths. Use it for a scalable icon or logo when the receiving software supports it. Keep the original design editable.</a:t>
            </a:r>
            <a:endParaRPr lang="en-US" sz="1730" dirty="0"/>
          </a:p>
        </p:txBody>
      </p:sp>
      <p:sp>
        <p:nvSpPr>
          <p:cNvPr id="12" name="Shape 10"/>
          <p:cNvSpPr/>
          <p:nvPr/>
        </p:nvSpPr>
        <p:spPr>
          <a:xfrm>
            <a:off x="6144768" y="1746504"/>
            <a:ext cx="5312664" cy="3520440"/>
          </a:xfrm>
          <a:prstGeom prst="roundRect">
            <a:avLst>
              <a:gd name="adj" fmla="val 3377"/>
            </a:avLst>
          </a:prstGeom>
          <a:solidFill>
            <a:srgbClr val="FFFFFF"/>
          </a:solidFill>
          <a:ln w="8890">
            <a:solidFill>
              <a:srgbClr val="CADDE4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364224" y="1929384"/>
            <a:ext cx="48737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08C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PDF: a publication format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6364224" y="2478024"/>
            <a:ext cx="4873752" cy="2633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30" dirty="0">
                <a:solidFill>
                  <a:srgbClr val="19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PDF is commonly used for sharing completed layouts and print proofs. A PDF can contain several kinds of content; the extension does not guarantee high quality.</a:t>
            </a:r>
            <a:endParaRPr lang="en-US" sz="1730" dirty="0"/>
          </a:p>
        </p:txBody>
      </p:sp>
      <p:sp>
        <p:nvSpPr>
          <p:cNvPr id="15" name="Shape 13"/>
          <p:cNvSpPr/>
          <p:nvPr/>
        </p:nvSpPr>
        <p:spPr>
          <a:xfrm>
            <a:off x="713232" y="5715000"/>
            <a:ext cx="10744200" cy="502920"/>
          </a:xfrm>
          <a:prstGeom prst="roundRect">
            <a:avLst>
              <a:gd name="adj" fmla="val 23636"/>
            </a:avLst>
          </a:prstGeom>
          <a:solidFill>
            <a:srgbClr val="E7F5F1"/>
          </a:solidFill>
          <a:ln w="8890">
            <a:solidFill>
              <a:srgbClr val="E7F5F1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914400" y="5824728"/>
            <a:ext cx="102961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19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Always inspect the final exported file: filenames do not prove that the content is correct.</a:t>
            </a:r>
            <a:endParaRPr lang="en-US" sz="15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08C86"/>
          </a:solidFill>
          <a:ln w="12700">
            <a:solidFill>
              <a:srgbClr val="008C86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685800" y="164592"/>
            <a:ext cx="6400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spc="160" kern="0" dirty="0">
                <a:solidFill>
                  <a:srgbClr val="008C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ITT06105  /  DESKTOP PUBLISHING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9144000" y="164592"/>
            <a:ext cx="2286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900" b="1" spc="100" kern="0" dirty="0">
                <a:solidFill>
                  <a:srgbClr val="586D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APPLY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94944" y="576072"/>
            <a:ext cx="1088136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1930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Quick format decisions</a:t>
            </a:r>
            <a:endParaRPr lang="en-US" sz="2850" dirty="0"/>
          </a:p>
        </p:txBody>
      </p:sp>
      <p:sp>
        <p:nvSpPr>
          <p:cNvPr id="6" name="Shape 4"/>
          <p:cNvSpPr/>
          <p:nvPr/>
        </p:nvSpPr>
        <p:spPr>
          <a:xfrm>
            <a:off x="685800" y="6446520"/>
            <a:ext cx="10789920" cy="0"/>
          </a:xfrm>
          <a:prstGeom prst="line">
            <a:avLst/>
          </a:prstGeom>
          <a:noFill/>
          <a:ln w="10160">
            <a:solidFill>
              <a:srgbClr val="D2E2E8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13232" y="6510528"/>
            <a:ext cx="8229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586D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DESKTOP PUBLISHING  •  LECTURE 02  •  2026/2027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972800" y="6510528"/>
            <a:ext cx="4297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586D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15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731520" y="1801368"/>
            <a:ext cx="10680192" cy="1060704"/>
          </a:xfrm>
          <a:prstGeom prst="roundRect">
            <a:avLst>
              <a:gd name="adj" fmla="val 11207"/>
            </a:avLst>
          </a:prstGeom>
          <a:solidFill>
            <a:srgbClr val="FFFFFF"/>
          </a:solidFill>
          <a:ln w="8890">
            <a:solidFill>
              <a:srgbClr val="CADDE4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987552" y="2002536"/>
            <a:ext cx="4096512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9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school-event photograph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5102352" y="2020824"/>
            <a:ext cx="5897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9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JPEG is a sensible starting choice.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731520" y="3063240"/>
            <a:ext cx="10680192" cy="1060704"/>
          </a:xfrm>
          <a:prstGeom prst="roundRect">
            <a:avLst>
              <a:gd name="adj" fmla="val 11207"/>
            </a:avLst>
          </a:prstGeom>
          <a:solidFill>
            <a:srgbClr val="E7F5F1"/>
          </a:solidFill>
          <a:ln w="8890">
            <a:solidFill>
              <a:srgbClr val="CADDE4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987552" y="3264408"/>
            <a:ext cx="4096512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9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logo with no background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5102352" y="3282696"/>
            <a:ext cx="5897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9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SVG, or a PNG when a raster file is required.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731520" y="4325112"/>
            <a:ext cx="10680192" cy="1060704"/>
          </a:xfrm>
          <a:prstGeom prst="roundRect">
            <a:avLst>
              <a:gd name="adj" fmla="val 11207"/>
            </a:avLst>
          </a:prstGeom>
          <a:solidFill>
            <a:srgbClr val="FFFFFF"/>
          </a:solidFill>
          <a:ln w="8890">
            <a:solidFill>
              <a:srgbClr val="CADDE4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987552" y="4526280"/>
            <a:ext cx="4096512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9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finished two-page hand-out</a:t>
            </a:r>
            <a:endParaRPr lang="en-US" sz="1900" dirty="0"/>
          </a:p>
        </p:txBody>
      </p:sp>
      <p:sp>
        <p:nvSpPr>
          <p:cNvPr id="17" name="Text 15"/>
          <p:cNvSpPr/>
          <p:nvPr/>
        </p:nvSpPr>
        <p:spPr>
          <a:xfrm>
            <a:off x="5102352" y="4544568"/>
            <a:ext cx="5897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9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PDF for reliable sharing and printing.</a:t>
            </a:r>
            <a:endParaRPr lang="en-US" sz="1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08C86"/>
          </a:solidFill>
          <a:ln w="12700">
            <a:solidFill>
              <a:srgbClr val="008C86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685800" y="164592"/>
            <a:ext cx="6400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spc="160" kern="0" dirty="0">
                <a:solidFill>
                  <a:srgbClr val="008C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ITT06105  /  DESKTOP PUBLISHING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9144000" y="164592"/>
            <a:ext cx="2286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900" b="1" spc="100" kern="0" dirty="0">
                <a:solidFill>
                  <a:srgbClr val="586D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IMAGE BASICS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94944" y="576072"/>
            <a:ext cx="1088136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1930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Pixel dimensions are not file size</a:t>
            </a:r>
            <a:endParaRPr lang="en-US" sz="2850" dirty="0"/>
          </a:p>
        </p:txBody>
      </p:sp>
      <p:sp>
        <p:nvSpPr>
          <p:cNvPr id="6" name="Shape 4"/>
          <p:cNvSpPr/>
          <p:nvPr/>
        </p:nvSpPr>
        <p:spPr>
          <a:xfrm>
            <a:off x="685800" y="6446520"/>
            <a:ext cx="10789920" cy="0"/>
          </a:xfrm>
          <a:prstGeom prst="line">
            <a:avLst/>
          </a:prstGeom>
          <a:noFill/>
          <a:ln w="10160">
            <a:solidFill>
              <a:srgbClr val="D2E2E8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13232" y="6510528"/>
            <a:ext cx="8229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586D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DESKTOP PUBLISHING  •  LECTURE 02  •  2026/2027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972800" y="6510528"/>
            <a:ext cx="4297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586D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16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713232" y="1746504"/>
            <a:ext cx="5184648" cy="3520440"/>
          </a:xfrm>
          <a:prstGeom prst="roundRect">
            <a:avLst>
              <a:gd name="adj" fmla="val 3377"/>
            </a:avLst>
          </a:prstGeom>
          <a:solidFill>
            <a:srgbClr val="FFFFFF"/>
          </a:solidFill>
          <a:ln w="8890">
            <a:solidFill>
              <a:srgbClr val="CADDE4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932688" y="1929384"/>
            <a:ext cx="47457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08C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Pixel dimensions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932688" y="2478024"/>
            <a:ext cx="4745736" cy="2633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40" dirty="0">
                <a:solidFill>
                  <a:srgbClr val="19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1,200 × 800 pixel image contains 960,000 pixels. These values describe its image dimensions, not the size of the saved file on a drive.</a:t>
            </a:r>
            <a:endParaRPr lang="en-US" sz="1740" dirty="0"/>
          </a:p>
        </p:txBody>
      </p:sp>
      <p:sp>
        <p:nvSpPr>
          <p:cNvPr id="12" name="Shape 10"/>
          <p:cNvSpPr/>
          <p:nvPr/>
        </p:nvSpPr>
        <p:spPr>
          <a:xfrm>
            <a:off x="6144768" y="1746504"/>
            <a:ext cx="5312664" cy="3520440"/>
          </a:xfrm>
          <a:prstGeom prst="roundRect">
            <a:avLst>
              <a:gd name="adj" fmla="val 3377"/>
            </a:avLst>
          </a:prstGeom>
          <a:solidFill>
            <a:srgbClr val="FFFFFF"/>
          </a:solidFill>
          <a:ln w="8890">
            <a:solidFill>
              <a:srgbClr val="CADDE4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364224" y="1929384"/>
            <a:ext cx="48737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08C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File size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6364224" y="2478024"/>
            <a:ext cx="4873752" cy="2633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40" dirty="0">
                <a:solidFill>
                  <a:srgbClr val="19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File size depends on dimensions, format, compression settings and other data. Two 1,200 × 800 pictures can occupy very different amounts of storage.</a:t>
            </a:r>
            <a:endParaRPr lang="en-US" sz="1740" dirty="0"/>
          </a:p>
        </p:txBody>
      </p:sp>
      <p:sp>
        <p:nvSpPr>
          <p:cNvPr id="15" name="Shape 13"/>
          <p:cNvSpPr/>
          <p:nvPr/>
        </p:nvSpPr>
        <p:spPr>
          <a:xfrm>
            <a:off x="713232" y="5715000"/>
            <a:ext cx="10744200" cy="502920"/>
          </a:xfrm>
          <a:prstGeom prst="roundRect">
            <a:avLst>
              <a:gd name="adj" fmla="val 23636"/>
            </a:avLst>
          </a:prstGeom>
          <a:solidFill>
            <a:srgbClr val="E7F5F1"/>
          </a:solidFill>
          <a:ln w="8890">
            <a:solidFill>
              <a:srgbClr val="E7F5F1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914400" y="5824728"/>
            <a:ext cx="102961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19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smaller file is useful only if it still meets the publication’s quality needs.</a:t>
            </a:r>
            <a:endParaRPr lang="en-US" sz="15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08C86"/>
          </a:solidFill>
          <a:ln w="12700">
            <a:solidFill>
              <a:srgbClr val="008C86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685800" y="164592"/>
            <a:ext cx="6400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spc="160" kern="0" dirty="0">
                <a:solidFill>
                  <a:srgbClr val="008C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ITT06105  /  DESKTOP PUBLISHING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9144000" y="164592"/>
            <a:ext cx="2286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900" b="1" spc="100" kern="0" dirty="0">
                <a:solidFill>
                  <a:srgbClr val="586D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IMAGE BASICS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94944" y="576072"/>
            <a:ext cx="1088136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1930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Cropping and resizing are different</a:t>
            </a:r>
            <a:endParaRPr lang="en-US" sz="2850" dirty="0"/>
          </a:p>
        </p:txBody>
      </p:sp>
      <p:sp>
        <p:nvSpPr>
          <p:cNvPr id="6" name="Shape 4"/>
          <p:cNvSpPr/>
          <p:nvPr/>
        </p:nvSpPr>
        <p:spPr>
          <a:xfrm>
            <a:off x="685800" y="6446520"/>
            <a:ext cx="10789920" cy="0"/>
          </a:xfrm>
          <a:prstGeom prst="line">
            <a:avLst/>
          </a:prstGeom>
          <a:noFill/>
          <a:ln w="10160">
            <a:solidFill>
              <a:srgbClr val="D2E2E8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13232" y="6510528"/>
            <a:ext cx="8229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586D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DESKTOP PUBLISHING  •  LECTURE 02  •  2026/2027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972800" y="6510528"/>
            <a:ext cx="4297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586D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17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713232" y="1746504"/>
            <a:ext cx="5184648" cy="3520440"/>
          </a:xfrm>
          <a:prstGeom prst="roundRect">
            <a:avLst>
              <a:gd name="adj" fmla="val 3377"/>
            </a:avLst>
          </a:prstGeom>
          <a:solidFill>
            <a:srgbClr val="FFFFFF"/>
          </a:solidFill>
          <a:ln w="8890">
            <a:solidFill>
              <a:srgbClr val="CADDE4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932688" y="1929384"/>
            <a:ext cx="47457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08C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Cropping changes what is visible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932688" y="2478024"/>
            <a:ext cx="4745736" cy="2633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20" dirty="0">
                <a:solidFill>
                  <a:srgbClr val="19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Cropping removes content near the edges to improve composition or fit a different shape. An unneeded background can disappear.</a:t>
            </a:r>
            <a:endParaRPr lang="en-US" sz="1720" dirty="0"/>
          </a:p>
        </p:txBody>
      </p:sp>
      <p:sp>
        <p:nvSpPr>
          <p:cNvPr id="12" name="Shape 10"/>
          <p:cNvSpPr/>
          <p:nvPr/>
        </p:nvSpPr>
        <p:spPr>
          <a:xfrm>
            <a:off x="6144768" y="1746504"/>
            <a:ext cx="5312664" cy="3520440"/>
          </a:xfrm>
          <a:prstGeom prst="roundRect">
            <a:avLst>
              <a:gd name="adj" fmla="val 3377"/>
            </a:avLst>
          </a:prstGeom>
          <a:solidFill>
            <a:srgbClr val="FFFFFF"/>
          </a:solidFill>
          <a:ln w="8890">
            <a:solidFill>
              <a:srgbClr val="CADDE4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364224" y="1929384"/>
            <a:ext cx="48737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08C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Resizing changes dimensions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6364224" y="2478024"/>
            <a:ext cx="4873752" cy="2633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20" dirty="0">
                <a:solidFill>
                  <a:srgbClr val="19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Resizing changes the pixel dimensions or intended physical size. It does not necessarily remove content, but enlarging may reduce apparent quality.</a:t>
            </a:r>
            <a:endParaRPr lang="en-US" sz="1720" dirty="0"/>
          </a:p>
        </p:txBody>
      </p:sp>
      <p:sp>
        <p:nvSpPr>
          <p:cNvPr id="15" name="Shape 13"/>
          <p:cNvSpPr/>
          <p:nvPr/>
        </p:nvSpPr>
        <p:spPr>
          <a:xfrm>
            <a:off x="713232" y="5715000"/>
            <a:ext cx="10744200" cy="502920"/>
          </a:xfrm>
          <a:prstGeom prst="roundRect">
            <a:avLst>
              <a:gd name="adj" fmla="val 23636"/>
            </a:avLst>
          </a:prstGeom>
          <a:solidFill>
            <a:srgbClr val="E7F5F1"/>
          </a:solidFill>
          <a:ln w="8890">
            <a:solidFill>
              <a:srgbClr val="E7F5F1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914400" y="5824728"/>
            <a:ext cx="102961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19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Before editing an important image, save a working copy and preserve the original.</a:t>
            </a:r>
            <a:endParaRPr lang="en-US" sz="15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08C86"/>
          </a:solidFill>
          <a:ln w="12700">
            <a:solidFill>
              <a:srgbClr val="008C86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685800" y="164592"/>
            <a:ext cx="6400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spc="160" kern="0" dirty="0">
                <a:solidFill>
                  <a:srgbClr val="008C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ITT06105  /  DESKTOP PUBLISHING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9144000" y="164592"/>
            <a:ext cx="2286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900" b="1" spc="100" kern="0" dirty="0">
                <a:solidFill>
                  <a:srgbClr val="586D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KEY CONCEPT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94944" y="576072"/>
            <a:ext cx="1088136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1930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is typography?</a:t>
            </a:r>
            <a:endParaRPr lang="en-US" sz="2850" dirty="0"/>
          </a:p>
        </p:txBody>
      </p:sp>
      <p:sp>
        <p:nvSpPr>
          <p:cNvPr id="6" name="Shape 4"/>
          <p:cNvSpPr/>
          <p:nvPr/>
        </p:nvSpPr>
        <p:spPr>
          <a:xfrm>
            <a:off x="685800" y="6446520"/>
            <a:ext cx="10789920" cy="0"/>
          </a:xfrm>
          <a:prstGeom prst="line">
            <a:avLst/>
          </a:prstGeom>
          <a:noFill/>
          <a:ln w="10160">
            <a:solidFill>
              <a:srgbClr val="D2E2E8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13232" y="6510528"/>
            <a:ext cx="8229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586D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DESKTOP PUBLISHING  •  LECTURE 02  •  2026/2027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972800" y="6510528"/>
            <a:ext cx="4297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586D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18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713232" y="1664208"/>
            <a:ext cx="10716768" cy="2331720"/>
          </a:xfrm>
          <a:prstGeom prst="roundRect">
            <a:avLst>
              <a:gd name="adj" fmla="val 5098"/>
            </a:avLst>
          </a:prstGeom>
          <a:solidFill>
            <a:srgbClr val="FFFFFF"/>
          </a:solidFill>
          <a:ln w="8890">
            <a:solidFill>
              <a:srgbClr val="CADDE4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024128" y="1993392"/>
            <a:ext cx="1007668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19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Typography is the selection and arrangement of written characters so that information is readable, organised and appropriate for its audience.</a:t>
            </a:r>
            <a:endParaRPr lang="en-US" sz="2400" dirty="0"/>
          </a:p>
        </p:txBody>
      </p:sp>
      <p:sp>
        <p:nvSpPr>
          <p:cNvPr id="11" name="Shape 9"/>
          <p:cNvSpPr/>
          <p:nvPr/>
        </p:nvSpPr>
        <p:spPr>
          <a:xfrm>
            <a:off x="731520" y="4315968"/>
            <a:ext cx="10643616" cy="960120"/>
          </a:xfrm>
          <a:prstGeom prst="roundRect">
            <a:avLst>
              <a:gd name="adj" fmla="val 12381"/>
            </a:avLst>
          </a:prstGeom>
          <a:solidFill>
            <a:srgbClr val="E7F5F1"/>
          </a:solidFill>
          <a:ln w="8890">
            <a:solidFill>
              <a:srgbClr val="E7F5F1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960120" y="4526280"/>
            <a:ext cx="101864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9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Typography includes typeface choice, size, weight, alignment, spacing and line length.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777240" y="5541264"/>
            <a:ext cx="10515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586D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Good typography is not only decorative: it helps the reader find and understand information.</a:t>
            </a:r>
            <a:endParaRPr lang="en-US" sz="15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08C86"/>
          </a:solidFill>
          <a:ln w="12700">
            <a:solidFill>
              <a:srgbClr val="008C86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685800" y="164592"/>
            <a:ext cx="6400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spc="160" kern="0" dirty="0">
                <a:solidFill>
                  <a:srgbClr val="008C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ITT06105  /  DESKTOP PUBLISHING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9144000" y="164592"/>
            <a:ext cx="2286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900" b="1" spc="100" kern="0" dirty="0">
                <a:solidFill>
                  <a:srgbClr val="586D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TYPOGRAPHY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94944" y="576072"/>
            <a:ext cx="1088136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1930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Typeface, font and style</a:t>
            </a:r>
            <a:endParaRPr lang="en-US" sz="2850" dirty="0"/>
          </a:p>
        </p:txBody>
      </p:sp>
      <p:sp>
        <p:nvSpPr>
          <p:cNvPr id="6" name="Shape 4"/>
          <p:cNvSpPr/>
          <p:nvPr/>
        </p:nvSpPr>
        <p:spPr>
          <a:xfrm>
            <a:off x="685800" y="6446520"/>
            <a:ext cx="10789920" cy="0"/>
          </a:xfrm>
          <a:prstGeom prst="line">
            <a:avLst/>
          </a:prstGeom>
          <a:noFill/>
          <a:ln w="10160">
            <a:solidFill>
              <a:srgbClr val="D2E2E8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13232" y="6510528"/>
            <a:ext cx="8229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586D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DESKTOP PUBLISHING  •  LECTURE 02  •  2026/2027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972800" y="6510528"/>
            <a:ext cx="4297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586D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19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713232" y="1746504"/>
            <a:ext cx="5184648" cy="3520440"/>
          </a:xfrm>
          <a:prstGeom prst="roundRect">
            <a:avLst>
              <a:gd name="adj" fmla="val 3377"/>
            </a:avLst>
          </a:prstGeom>
          <a:solidFill>
            <a:srgbClr val="FFFFFF"/>
          </a:solidFill>
          <a:ln w="8890">
            <a:solidFill>
              <a:srgbClr val="CADDE4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932688" y="1929384"/>
            <a:ext cx="47457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08C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Typeface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932688" y="2478024"/>
            <a:ext cx="4745736" cy="2633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90" dirty="0">
                <a:solidFill>
                  <a:srgbClr val="19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typeface is a family of letter designs, such as Arial or Georgia. A serif design has small finishing strokes; a sans-serif design does not.</a:t>
            </a:r>
            <a:endParaRPr lang="en-US" sz="1690" dirty="0"/>
          </a:p>
        </p:txBody>
      </p:sp>
      <p:sp>
        <p:nvSpPr>
          <p:cNvPr id="12" name="Shape 10"/>
          <p:cNvSpPr/>
          <p:nvPr/>
        </p:nvSpPr>
        <p:spPr>
          <a:xfrm>
            <a:off x="6144768" y="1746504"/>
            <a:ext cx="5312664" cy="3520440"/>
          </a:xfrm>
          <a:prstGeom prst="roundRect">
            <a:avLst>
              <a:gd name="adj" fmla="val 3377"/>
            </a:avLst>
          </a:prstGeom>
          <a:solidFill>
            <a:srgbClr val="FFFFFF"/>
          </a:solidFill>
          <a:ln w="8890">
            <a:solidFill>
              <a:srgbClr val="CADDE4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364224" y="1929384"/>
            <a:ext cx="48737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08C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Font and style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6364224" y="2478024"/>
            <a:ext cx="4873752" cy="2633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90" dirty="0">
                <a:solidFill>
                  <a:srgbClr val="19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font is a particular implementation or variation of a typeface, such as a bold or italic style. In everyday software, the words are often used loosely.</a:t>
            </a:r>
            <a:endParaRPr lang="en-US" sz="1690" dirty="0"/>
          </a:p>
        </p:txBody>
      </p:sp>
      <p:sp>
        <p:nvSpPr>
          <p:cNvPr id="15" name="Shape 13"/>
          <p:cNvSpPr/>
          <p:nvPr/>
        </p:nvSpPr>
        <p:spPr>
          <a:xfrm>
            <a:off x="713232" y="5715000"/>
            <a:ext cx="10744200" cy="502920"/>
          </a:xfrm>
          <a:prstGeom prst="roundRect">
            <a:avLst>
              <a:gd name="adj" fmla="val 23636"/>
            </a:avLst>
          </a:prstGeom>
          <a:solidFill>
            <a:srgbClr val="E7F5F1"/>
          </a:solidFill>
          <a:ln w="8890">
            <a:solidFill>
              <a:srgbClr val="E7F5F1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914400" y="5824728"/>
            <a:ext cx="102961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19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 beginner publications, one readable type family with clear sizes and weights is often enough.</a:t>
            </a:r>
            <a:endParaRPr lang="en-US" sz="15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08C86"/>
          </a:solidFill>
          <a:ln w="12700">
            <a:solidFill>
              <a:srgbClr val="008C86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685800" y="164592"/>
            <a:ext cx="6400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spc="160" kern="0" dirty="0">
                <a:solidFill>
                  <a:srgbClr val="008C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ITT06105  /  DESKTOP PUBLISHING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9144000" y="164592"/>
            <a:ext cx="2286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900" b="1" spc="100" kern="0" dirty="0">
                <a:solidFill>
                  <a:srgbClr val="586D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TYPOGRAPHY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94944" y="576072"/>
            <a:ext cx="1088136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1930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Serif and sans-serif: compare</a:t>
            </a:r>
            <a:endParaRPr lang="en-US" sz="2850" dirty="0"/>
          </a:p>
        </p:txBody>
      </p:sp>
      <p:sp>
        <p:nvSpPr>
          <p:cNvPr id="6" name="Shape 4"/>
          <p:cNvSpPr/>
          <p:nvPr/>
        </p:nvSpPr>
        <p:spPr>
          <a:xfrm>
            <a:off x="685800" y="6446520"/>
            <a:ext cx="10789920" cy="0"/>
          </a:xfrm>
          <a:prstGeom prst="line">
            <a:avLst/>
          </a:prstGeom>
          <a:noFill/>
          <a:ln w="10160">
            <a:solidFill>
              <a:srgbClr val="D2E2E8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13232" y="6510528"/>
            <a:ext cx="8229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586D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DESKTOP PUBLISHING  •  LECTURE 02  •  2026/2027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972800" y="6510528"/>
            <a:ext cx="4297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586D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722376" y="1700784"/>
            <a:ext cx="5257800" cy="3648456"/>
          </a:xfrm>
          <a:prstGeom prst="roundRect">
            <a:avLst>
              <a:gd name="adj" fmla="val 3258"/>
            </a:avLst>
          </a:prstGeom>
          <a:solidFill>
            <a:srgbClr val="FFFFFF"/>
          </a:solidFill>
          <a:ln w="8890">
            <a:solidFill>
              <a:srgbClr val="CADDE4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197864" y="2148840"/>
            <a:ext cx="429768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4100" dirty="0">
                <a:solidFill>
                  <a:srgbClr val="1930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Aa  Gg  Rr</a:t>
            </a:r>
            <a:endParaRPr lang="en-US" sz="4100" dirty="0"/>
          </a:p>
        </p:txBody>
      </p:sp>
      <p:sp>
        <p:nvSpPr>
          <p:cNvPr id="11" name="Text 9"/>
          <p:cNvSpPr/>
          <p:nvPr/>
        </p:nvSpPr>
        <p:spPr>
          <a:xfrm>
            <a:off x="1188720" y="3474720"/>
            <a:ext cx="43708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008C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SERIF TYPE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1188720" y="4069080"/>
            <a:ext cx="4453128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19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Example: Georgia. The letter ends have small finishing strokes.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181344" y="1700784"/>
            <a:ext cx="5239512" cy="3648456"/>
          </a:xfrm>
          <a:prstGeom prst="roundRect">
            <a:avLst>
              <a:gd name="adj" fmla="val 3258"/>
            </a:avLst>
          </a:prstGeom>
          <a:solidFill>
            <a:srgbClr val="FFFFFF"/>
          </a:solidFill>
          <a:ln w="8890">
            <a:solidFill>
              <a:srgbClr val="CADDE4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6629400" y="2148840"/>
            <a:ext cx="429768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4100" dirty="0">
                <a:solidFill>
                  <a:srgbClr val="1930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  Gg  Rr</a:t>
            </a:r>
            <a:endParaRPr lang="en-US" sz="4100" dirty="0"/>
          </a:p>
        </p:txBody>
      </p:sp>
      <p:sp>
        <p:nvSpPr>
          <p:cNvPr id="15" name="Text 13"/>
          <p:cNvSpPr/>
          <p:nvPr/>
        </p:nvSpPr>
        <p:spPr>
          <a:xfrm>
            <a:off x="6629400" y="3474720"/>
            <a:ext cx="43708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008C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SANS-SERIF TYPE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6629400" y="4069080"/>
            <a:ext cx="448056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19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Example: Arial. The letterforms have simpler endings.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713232" y="5751576"/>
            <a:ext cx="10744200" cy="502920"/>
          </a:xfrm>
          <a:prstGeom prst="roundRect">
            <a:avLst>
              <a:gd name="adj" fmla="val 23636"/>
            </a:avLst>
          </a:prstGeom>
          <a:solidFill>
            <a:srgbClr val="E7F5F1"/>
          </a:solidFill>
          <a:ln w="8890">
            <a:solidFill>
              <a:srgbClr val="E7F5F1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14400" y="5861304"/>
            <a:ext cx="102961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19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Neither family is automatically better. Choose a typeface that suits the reader and the setting.</a:t>
            </a:r>
            <a:endParaRPr lang="en-US" sz="15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08C86"/>
          </a:solidFill>
          <a:ln w="12700">
            <a:solidFill>
              <a:srgbClr val="008C86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685800" y="164592"/>
            <a:ext cx="6400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spc="160" kern="0" dirty="0">
                <a:solidFill>
                  <a:srgbClr val="008C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ITT06105  /  DESKTOP PUBLISHING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9144000" y="164592"/>
            <a:ext cx="2286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900" b="1" spc="100" kern="0" dirty="0">
                <a:solidFill>
                  <a:srgbClr val="586D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TYPOGRAPHY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94944" y="576072"/>
            <a:ext cx="1088136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1930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Create a clear text hierarchy</a:t>
            </a:r>
            <a:endParaRPr lang="en-US" sz="2850" dirty="0"/>
          </a:p>
        </p:txBody>
      </p:sp>
      <p:sp>
        <p:nvSpPr>
          <p:cNvPr id="6" name="Text 4"/>
          <p:cNvSpPr/>
          <p:nvPr/>
        </p:nvSpPr>
        <p:spPr>
          <a:xfrm>
            <a:off x="713232" y="1234440"/>
            <a:ext cx="10652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586D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Readers should be able to find the most important detail first.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85800" y="6446520"/>
            <a:ext cx="10789920" cy="0"/>
          </a:xfrm>
          <a:prstGeom prst="line">
            <a:avLst/>
          </a:prstGeom>
          <a:noFill/>
          <a:ln w="10160">
            <a:solidFill>
              <a:srgbClr val="D2E2E8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713232" y="6510528"/>
            <a:ext cx="8229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586D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DESKTOP PUBLISHING  •  LECTURE 02  •  2026/2027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0972800" y="6510528"/>
            <a:ext cx="4297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586D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21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758952" y="1728216"/>
            <a:ext cx="5559552" cy="4050792"/>
          </a:xfrm>
          <a:prstGeom prst="roundRect">
            <a:avLst>
              <a:gd name="adj" fmla="val 2935"/>
            </a:avLst>
          </a:prstGeom>
          <a:solidFill>
            <a:srgbClr val="FFFFFF"/>
          </a:solidFill>
          <a:ln w="8890">
            <a:solidFill>
              <a:srgbClr val="CADDE4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1188720" y="2057400"/>
            <a:ext cx="4572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19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DIGITAL SKILLS</a:t>
            </a:r>
            <a:endParaRPr lang="en-US" sz="3300" dirty="0"/>
          </a:p>
        </p:txBody>
      </p:sp>
      <p:sp>
        <p:nvSpPr>
          <p:cNvPr id="12" name="Text 10"/>
          <p:cNvSpPr/>
          <p:nvPr/>
        </p:nvSpPr>
        <p:spPr>
          <a:xfrm>
            <a:off x="1197864" y="2779776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008C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Open training day</a:t>
            </a:r>
            <a:endParaRPr lang="en-US" sz="2300" dirty="0"/>
          </a:p>
        </p:txBody>
      </p:sp>
      <p:sp>
        <p:nvSpPr>
          <p:cNvPr id="13" name="Text 11"/>
          <p:cNvSpPr/>
          <p:nvPr/>
        </p:nvSpPr>
        <p:spPr>
          <a:xfrm>
            <a:off x="1216152" y="3502152"/>
            <a:ext cx="458114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19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Learn to use a computer, write documents and organise files.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1216152" y="4599432"/>
            <a:ext cx="46268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586D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Saturday • 10:00 • Main Hall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6574536" y="1728216"/>
            <a:ext cx="4855464" cy="4050792"/>
          </a:xfrm>
          <a:prstGeom prst="roundRect">
            <a:avLst>
              <a:gd name="adj" fmla="val 2935"/>
            </a:avLst>
          </a:prstGeom>
          <a:solidFill>
            <a:srgbClr val="FFFFFF"/>
          </a:solidFill>
          <a:ln w="8890">
            <a:solidFill>
              <a:srgbClr val="CADDE4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6876288" y="2029968"/>
            <a:ext cx="4242816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008C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 hierarchy works</a:t>
            </a:r>
            <a:endParaRPr lang="en-US" sz="2100" dirty="0"/>
          </a:p>
        </p:txBody>
      </p:sp>
      <p:sp>
        <p:nvSpPr>
          <p:cNvPr id="17" name="Text 15"/>
          <p:cNvSpPr/>
          <p:nvPr/>
        </p:nvSpPr>
        <p:spPr>
          <a:xfrm>
            <a:off x="6876288" y="2697480"/>
            <a:ext cx="4114800" cy="18653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50" dirty="0">
                <a:solidFill>
                  <a:srgbClr val="19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title attracts attention. The second line explains the event. The paragraph gives context. The smaller line provides details.</a:t>
            </a:r>
            <a:endParaRPr lang="en-US" sz="18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08C86"/>
          </a:solidFill>
          <a:ln w="12700">
            <a:solidFill>
              <a:srgbClr val="008C86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685800" y="164592"/>
            <a:ext cx="6400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spc="160" kern="0" dirty="0">
                <a:solidFill>
                  <a:srgbClr val="008C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ITT06105  /  DESKTOP PUBLISHING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9144000" y="164592"/>
            <a:ext cx="2286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900" b="1" spc="100" kern="0" dirty="0">
                <a:solidFill>
                  <a:srgbClr val="586D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TYPOGRAPHY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94944" y="576072"/>
            <a:ext cx="1088136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1930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Make body text comfortable to read</a:t>
            </a:r>
            <a:endParaRPr lang="en-US" sz="2850" dirty="0"/>
          </a:p>
        </p:txBody>
      </p:sp>
      <p:sp>
        <p:nvSpPr>
          <p:cNvPr id="6" name="Shape 4"/>
          <p:cNvSpPr/>
          <p:nvPr/>
        </p:nvSpPr>
        <p:spPr>
          <a:xfrm>
            <a:off x="685800" y="6446520"/>
            <a:ext cx="10789920" cy="0"/>
          </a:xfrm>
          <a:prstGeom prst="line">
            <a:avLst/>
          </a:prstGeom>
          <a:noFill/>
          <a:ln w="10160">
            <a:solidFill>
              <a:srgbClr val="D2E2E8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13232" y="6510528"/>
            <a:ext cx="8229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586D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DESKTOP PUBLISHING  •  LECTURE 02  •  2026/2027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972800" y="6510528"/>
            <a:ext cx="4297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586D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22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731520" y="1792224"/>
            <a:ext cx="3383280" cy="3648456"/>
          </a:xfrm>
          <a:prstGeom prst="roundRect">
            <a:avLst>
              <a:gd name="adj" fmla="val 3514"/>
            </a:avLst>
          </a:prstGeom>
          <a:solidFill>
            <a:srgbClr val="FFFFFF"/>
          </a:solidFill>
          <a:ln w="8890">
            <a:solidFill>
              <a:srgbClr val="CADDE4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950976" y="1975104"/>
            <a:ext cx="29443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08C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SIZE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950976" y="2523744"/>
            <a:ext cx="2944368" cy="2761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30" dirty="0">
                <a:solidFill>
                  <a:srgbClr val="19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sufficiently large body text for the intended medium. Small text may be difficult to read on a classroom screen or printed notice.</a:t>
            </a:r>
            <a:endParaRPr lang="en-US" sz="1630" dirty="0"/>
          </a:p>
        </p:txBody>
      </p:sp>
      <p:sp>
        <p:nvSpPr>
          <p:cNvPr id="12" name="Shape 10"/>
          <p:cNvSpPr/>
          <p:nvPr/>
        </p:nvSpPr>
        <p:spPr>
          <a:xfrm>
            <a:off x="4407408" y="1792224"/>
            <a:ext cx="3383280" cy="3648456"/>
          </a:xfrm>
          <a:prstGeom prst="roundRect">
            <a:avLst>
              <a:gd name="adj" fmla="val 3514"/>
            </a:avLst>
          </a:prstGeom>
          <a:solidFill>
            <a:srgbClr val="F0F8F9"/>
          </a:solidFill>
          <a:ln w="8890">
            <a:solidFill>
              <a:srgbClr val="CADDE4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4626864" y="1975104"/>
            <a:ext cx="29443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08C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SPACING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4626864" y="2523744"/>
            <a:ext cx="2944368" cy="2761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30" dirty="0">
                <a:solidFill>
                  <a:srgbClr val="19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Leave clear space between lines and separate different kinds of information. Crowded text slows down reading.</a:t>
            </a:r>
            <a:endParaRPr lang="en-US" sz="1630" dirty="0"/>
          </a:p>
        </p:txBody>
      </p:sp>
      <p:sp>
        <p:nvSpPr>
          <p:cNvPr id="15" name="Shape 13"/>
          <p:cNvSpPr/>
          <p:nvPr/>
        </p:nvSpPr>
        <p:spPr>
          <a:xfrm>
            <a:off x="8083296" y="1792224"/>
            <a:ext cx="3383280" cy="3648456"/>
          </a:xfrm>
          <a:prstGeom prst="roundRect">
            <a:avLst>
              <a:gd name="adj" fmla="val 3514"/>
            </a:avLst>
          </a:prstGeom>
          <a:solidFill>
            <a:srgbClr val="FFFFFF"/>
          </a:solidFill>
          <a:ln w="8890">
            <a:solidFill>
              <a:srgbClr val="CADDE4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302752" y="1975104"/>
            <a:ext cx="29443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08C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ALIGNMENT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8302752" y="2523744"/>
            <a:ext cx="2944368" cy="2761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30" dirty="0">
                <a:solidFill>
                  <a:srgbClr val="19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Keep related text aligned consistently. For ordinary paragraphs, left alignment is often easier to follow than centring every line.</a:t>
            </a:r>
            <a:endParaRPr lang="en-US" sz="1630" dirty="0"/>
          </a:p>
        </p:txBody>
      </p:sp>
      <p:sp>
        <p:nvSpPr>
          <p:cNvPr id="18" name="Shape 16"/>
          <p:cNvSpPr/>
          <p:nvPr/>
        </p:nvSpPr>
        <p:spPr>
          <a:xfrm>
            <a:off x="713232" y="5715000"/>
            <a:ext cx="10744200" cy="502920"/>
          </a:xfrm>
          <a:prstGeom prst="roundRect">
            <a:avLst>
              <a:gd name="adj" fmla="val 23636"/>
            </a:avLst>
          </a:prstGeom>
          <a:solidFill>
            <a:srgbClr val="E7F5F1"/>
          </a:solidFill>
          <a:ln w="8890">
            <a:solidFill>
              <a:srgbClr val="E7F5F1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914400" y="5824728"/>
            <a:ext cx="102961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19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Readability depends on size, spacing, contrast, line length and the viewing conditions.</a:t>
            </a:r>
            <a:endParaRPr lang="en-US" sz="15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08C86"/>
          </a:solidFill>
          <a:ln w="12700">
            <a:solidFill>
              <a:srgbClr val="008C86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685800" y="164592"/>
            <a:ext cx="6400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spc="160" kern="0" dirty="0">
                <a:solidFill>
                  <a:srgbClr val="008C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ITT06105  /  DESKTOP PUBLISHING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9144000" y="164592"/>
            <a:ext cx="2286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900" b="1" spc="100" kern="0" dirty="0">
                <a:solidFill>
                  <a:srgbClr val="586D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TYPOGRAPHY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94944" y="576072"/>
            <a:ext cx="1088136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1930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 few consistent styles beat many fonts</a:t>
            </a:r>
            <a:endParaRPr lang="en-US" sz="2850" dirty="0"/>
          </a:p>
        </p:txBody>
      </p:sp>
      <p:sp>
        <p:nvSpPr>
          <p:cNvPr id="6" name="Shape 4"/>
          <p:cNvSpPr/>
          <p:nvPr/>
        </p:nvSpPr>
        <p:spPr>
          <a:xfrm>
            <a:off x="685800" y="6446520"/>
            <a:ext cx="10789920" cy="0"/>
          </a:xfrm>
          <a:prstGeom prst="line">
            <a:avLst/>
          </a:prstGeom>
          <a:noFill/>
          <a:ln w="10160">
            <a:solidFill>
              <a:srgbClr val="D2E2E8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13232" y="6510528"/>
            <a:ext cx="8229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586D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DESKTOP PUBLISHING  •  LECTURE 02  •  2026/2027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972800" y="6510528"/>
            <a:ext cx="4297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586D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23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713232" y="1746504"/>
            <a:ext cx="5184648" cy="3520440"/>
          </a:xfrm>
          <a:prstGeom prst="roundRect">
            <a:avLst>
              <a:gd name="adj" fmla="val 3377"/>
            </a:avLst>
          </a:prstGeom>
          <a:solidFill>
            <a:srgbClr val="FFFFFF"/>
          </a:solidFill>
          <a:ln w="8890">
            <a:solidFill>
              <a:srgbClr val="CADDE4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932688" y="1929384"/>
            <a:ext cx="47457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08C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Too many styles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932688" y="2478024"/>
            <a:ext cx="4745736" cy="2633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40" dirty="0">
                <a:solidFill>
                  <a:srgbClr val="19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Several unrelated typefaces, colours and sizes create competition. Readers spend effort decoding the page rather than understanding the message.</a:t>
            </a:r>
            <a:endParaRPr lang="en-US" sz="1740" dirty="0"/>
          </a:p>
        </p:txBody>
      </p:sp>
      <p:sp>
        <p:nvSpPr>
          <p:cNvPr id="12" name="Shape 10"/>
          <p:cNvSpPr/>
          <p:nvPr/>
        </p:nvSpPr>
        <p:spPr>
          <a:xfrm>
            <a:off x="6144768" y="1746504"/>
            <a:ext cx="5312664" cy="3520440"/>
          </a:xfrm>
          <a:prstGeom prst="roundRect">
            <a:avLst>
              <a:gd name="adj" fmla="val 3377"/>
            </a:avLst>
          </a:prstGeom>
          <a:solidFill>
            <a:srgbClr val="FFFFFF"/>
          </a:solidFill>
          <a:ln w="8890">
            <a:solidFill>
              <a:srgbClr val="CADDE4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364224" y="1929384"/>
            <a:ext cx="48737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08C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restrained system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6364224" y="2478024"/>
            <a:ext cx="4873752" cy="2633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40" dirty="0">
                <a:solidFill>
                  <a:srgbClr val="19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one type family, perhaps two when necessary. Give headings a clear size or weight difference, then keep body text consistent.</a:t>
            </a:r>
            <a:endParaRPr lang="en-US" sz="1740" dirty="0"/>
          </a:p>
        </p:txBody>
      </p:sp>
      <p:sp>
        <p:nvSpPr>
          <p:cNvPr id="15" name="Shape 13"/>
          <p:cNvSpPr/>
          <p:nvPr/>
        </p:nvSpPr>
        <p:spPr>
          <a:xfrm>
            <a:off x="713232" y="5715000"/>
            <a:ext cx="10744200" cy="502920"/>
          </a:xfrm>
          <a:prstGeom prst="roundRect">
            <a:avLst>
              <a:gd name="adj" fmla="val 23636"/>
            </a:avLst>
          </a:prstGeom>
          <a:solidFill>
            <a:srgbClr val="E7F5F1"/>
          </a:solidFill>
          <a:ln w="8890">
            <a:solidFill>
              <a:srgbClr val="E7F5F1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914400" y="5824728"/>
            <a:ext cx="102961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19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Bold text should identify important information—not every sentence.</a:t>
            </a:r>
            <a:endParaRPr lang="en-US" sz="15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08C86"/>
          </a:solidFill>
          <a:ln w="12700">
            <a:solidFill>
              <a:srgbClr val="008C86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685800" y="164592"/>
            <a:ext cx="6400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spc="160" kern="0" dirty="0">
                <a:solidFill>
                  <a:srgbClr val="008C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ITT06105  /  DESKTOP PUBLISHING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9144000" y="164592"/>
            <a:ext cx="2286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900" b="1" spc="100" kern="0" dirty="0">
                <a:solidFill>
                  <a:srgbClr val="586D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TYPOGRAPHY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94944" y="576072"/>
            <a:ext cx="1088136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1930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Typography can guide or confuse</a:t>
            </a:r>
            <a:endParaRPr lang="en-US" sz="2850" dirty="0"/>
          </a:p>
        </p:txBody>
      </p:sp>
      <p:sp>
        <p:nvSpPr>
          <p:cNvPr id="6" name="Shape 4"/>
          <p:cNvSpPr/>
          <p:nvPr/>
        </p:nvSpPr>
        <p:spPr>
          <a:xfrm>
            <a:off x="685800" y="6446520"/>
            <a:ext cx="10789920" cy="0"/>
          </a:xfrm>
          <a:prstGeom prst="line">
            <a:avLst/>
          </a:prstGeom>
          <a:noFill/>
          <a:ln w="10160">
            <a:solidFill>
              <a:srgbClr val="D2E2E8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13232" y="6510528"/>
            <a:ext cx="8229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586D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DESKTOP PUBLISHING  •  LECTURE 02  •  2026/2027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972800" y="6510528"/>
            <a:ext cx="4297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586D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24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740664" y="1691640"/>
            <a:ext cx="5184648" cy="4096512"/>
          </a:xfrm>
          <a:prstGeom prst="roundRect">
            <a:avLst>
              <a:gd name="adj" fmla="val 2902"/>
            </a:avLst>
          </a:prstGeom>
          <a:solidFill>
            <a:srgbClr val="FFFFFF"/>
          </a:solidFill>
          <a:ln w="8890">
            <a:solidFill>
              <a:srgbClr val="CADDE4"/>
            </a:solidFill>
            <a:prstDash val="solid"/>
          </a:ln>
        </p:spPr>
        <p:txBody>
          <a:bodyPr/>
          <a:p/>
        </p:txBody>
      </p:sp>
      <p:pic>
        <p:nvPicPr>
          <p:cNvPr id="10" name="Image 0" descr="/mnt/data/ITT06105_Condensed_L02_Package/assets/Notice_wea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0" y="1828800"/>
            <a:ext cx="2788920" cy="3602736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6181344" y="1691640"/>
            <a:ext cx="5239512" cy="4096512"/>
          </a:xfrm>
          <a:prstGeom prst="roundRect">
            <a:avLst>
              <a:gd name="adj" fmla="val 2902"/>
            </a:avLst>
          </a:prstGeom>
          <a:solidFill>
            <a:srgbClr val="FFFFFF"/>
          </a:solidFill>
          <a:ln w="8890">
            <a:solidFill>
              <a:srgbClr val="CADDE4"/>
            </a:solidFill>
            <a:prstDash val="solid"/>
          </a:ln>
        </p:spPr>
        <p:txBody>
          <a:bodyPr/>
          <a:p/>
        </p:txBody>
      </p:sp>
      <p:pic>
        <p:nvPicPr>
          <p:cNvPr id="12" name="Image 1" descr="/mnt/data/ITT06105_Condensed_L02_Package/assets/Notice_improv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79208" y="1828800"/>
            <a:ext cx="2743200" cy="360273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914400" y="5861304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B34C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UNCLEAR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6409944" y="5861304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8C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CLEARER</a:t>
            </a:r>
            <a:endParaRPr lang="en-US" sz="13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08C86"/>
          </a:solidFill>
          <a:ln w="12700">
            <a:solidFill>
              <a:srgbClr val="008C86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685800" y="164592"/>
            <a:ext cx="6400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spc="160" kern="0" dirty="0">
                <a:solidFill>
                  <a:srgbClr val="008C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ITT06105  /  DESKTOP PUBLISHING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9144000" y="164592"/>
            <a:ext cx="2286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900" b="1" spc="100" kern="0" dirty="0">
                <a:solidFill>
                  <a:srgbClr val="586D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TYPOGRAPHY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94944" y="576072"/>
            <a:ext cx="1088136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1930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Why the improved notice reads better</a:t>
            </a:r>
            <a:endParaRPr lang="en-US" sz="2850" dirty="0"/>
          </a:p>
        </p:txBody>
      </p:sp>
      <p:sp>
        <p:nvSpPr>
          <p:cNvPr id="6" name="Shape 4"/>
          <p:cNvSpPr/>
          <p:nvPr/>
        </p:nvSpPr>
        <p:spPr>
          <a:xfrm>
            <a:off x="685800" y="6446520"/>
            <a:ext cx="10789920" cy="0"/>
          </a:xfrm>
          <a:prstGeom prst="line">
            <a:avLst/>
          </a:prstGeom>
          <a:noFill/>
          <a:ln w="10160">
            <a:solidFill>
              <a:srgbClr val="D2E2E8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13232" y="6510528"/>
            <a:ext cx="8229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586D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DESKTOP PUBLISHING  •  LECTURE 02  •  2026/2027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972800" y="6510528"/>
            <a:ext cx="4297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586D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25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731520" y="1792224"/>
            <a:ext cx="3383280" cy="3648456"/>
          </a:xfrm>
          <a:prstGeom prst="roundRect">
            <a:avLst>
              <a:gd name="adj" fmla="val 3514"/>
            </a:avLst>
          </a:prstGeom>
          <a:solidFill>
            <a:srgbClr val="FFFFFF"/>
          </a:solidFill>
          <a:ln w="8890">
            <a:solidFill>
              <a:srgbClr val="CADDE4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950976" y="1975104"/>
            <a:ext cx="29443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08C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HEADLINE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950976" y="2523744"/>
            <a:ext cx="2944368" cy="2761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30" dirty="0">
                <a:solidFill>
                  <a:srgbClr val="19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event name is visibly larger than supporting text. Readers recognise the main message first.</a:t>
            </a:r>
            <a:endParaRPr lang="en-US" sz="1630" dirty="0"/>
          </a:p>
        </p:txBody>
      </p:sp>
      <p:sp>
        <p:nvSpPr>
          <p:cNvPr id="12" name="Shape 10"/>
          <p:cNvSpPr/>
          <p:nvPr/>
        </p:nvSpPr>
        <p:spPr>
          <a:xfrm>
            <a:off x="4407408" y="1792224"/>
            <a:ext cx="3383280" cy="3648456"/>
          </a:xfrm>
          <a:prstGeom prst="roundRect">
            <a:avLst>
              <a:gd name="adj" fmla="val 3514"/>
            </a:avLst>
          </a:prstGeom>
          <a:solidFill>
            <a:srgbClr val="F0F8F9"/>
          </a:solidFill>
          <a:ln w="8890">
            <a:solidFill>
              <a:srgbClr val="CADDE4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4626864" y="1975104"/>
            <a:ext cx="29443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08C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GROUPING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4626864" y="2523744"/>
            <a:ext cx="2944368" cy="2761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30" dirty="0">
                <a:solidFill>
                  <a:srgbClr val="19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Date and time appear together. Information with the same purpose occupies the same area.</a:t>
            </a:r>
            <a:endParaRPr lang="en-US" sz="1630" dirty="0"/>
          </a:p>
        </p:txBody>
      </p:sp>
      <p:sp>
        <p:nvSpPr>
          <p:cNvPr id="15" name="Shape 13"/>
          <p:cNvSpPr/>
          <p:nvPr/>
        </p:nvSpPr>
        <p:spPr>
          <a:xfrm>
            <a:off x="8083296" y="1792224"/>
            <a:ext cx="3383280" cy="3648456"/>
          </a:xfrm>
          <a:prstGeom prst="roundRect">
            <a:avLst>
              <a:gd name="adj" fmla="val 3514"/>
            </a:avLst>
          </a:prstGeom>
          <a:solidFill>
            <a:srgbClr val="FFFFFF"/>
          </a:solidFill>
          <a:ln w="8890">
            <a:solidFill>
              <a:srgbClr val="CADDE4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302752" y="1975104"/>
            <a:ext cx="29443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08C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CONSISTENCY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8302752" y="2523744"/>
            <a:ext cx="2944368" cy="2761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30" dirty="0">
                <a:solidFill>
                  <a:srgbClr val="19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notice uses a limited set of type styles, clear alignment and enough empty space.</a:t>
            </a:r>
            <a:endParaRPr lang="en-US" sz="1630" dirty="0"/>
          </a:p>
        </p:txBody>
      </p:sp>
      <p:sp>
        <p:nvSpPr>
          <p:cNvPr id="18" name="Shape 16"/>
          <p:cNvSpPr/>
          <p:nvPr/>
        </p:nvSpPr>
        <p:spPr>
          <a:xfrm>
            <a:off x="713232" y="5715000"/>
            <a:ext cx="10744200" cy="502920"/>
          </a:xfrm>
          <a:prstGeom prst="roundRect">
            <a:avLst>
              <a:gd name="adj" fmla="val 23636"/>
            </a:avLst>
          </a:prstGeom>
          <a:solidFill>
            <a:srgbClr val="E7F5F1"/>
          </a:solidFill>
          <a:ln w="8890">
            <a:solidFill>
              <a:srgbClr val="E7F5F1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914400" y="5824728"/>
            <a:ext cx="102961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19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Typography and layout principles from Lecture 1 work together here.</a:t>
            </a:r>
            <a:endParaRPr lang="en-US" sz="15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08C86"/>
          </a:solidFill>
          <a:ln w="12700">
            <a:solidFill>
              <a:srgbClr val="008C86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685800" y="164592"/>
            <a:ext cx="6400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spc="160" kern="0" dirty="0">
                <a:solidFill>
                  <a:srgbClr val="008C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ITT06105  /  DESKTOP PUBLISHING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9144000" y="164592"/>
            <a:ext cx="2286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900" b="1" spc="100" kern="0" dirty="0">
                <a:solidFill>
                  <a:srgbClr val="586D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KEY CONCEPT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94944" y="576072"/>
            <a:ext cx="1088136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1930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does colour do in DTP?</a:t>
            </a:r>
            <a:endParaRPr lang="en-US" sz="2850" dirty="0"/>
          </a:p>
        </p:txBody>
      </p:sp>
      <p:sp>
        <p:nvSpPr>
          <p:cNvPr id="6" name="Shape 4"/>
          <p:cNvSpPr/>
          <p:nvPr/>
        </p:nvSpPr>
        <p:spPr>
          <a:xfrm>
            <a:off x="685800" y="6446520"/>
            <a:ext cx="10789920" cy="0"/>
          </a:xfrm>
          <a:prstGeom prst="line">
            <a:avLst/>
          </a:prstGeom>
          <a:noFill/>
          <a:ln w="10160">
            <a:solidFill>
              <a:srgbClr val="D2E2E8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13232" y="6510528"/>
            <a:ext cx="8229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586D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DESKTOP PUBLISHING  •  LECTURE 02  •  2026/2027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972800" y="6510528"/>
            <a:ext cx="4297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586D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26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713232" y="1664208"/>
            <a:ext cx="10716768" cy="2331720"/>
          </a:xfrm>
          <a:prstGeom prst="roundRect">
            <a:avLst>
              <a:gd name="adj" fmla="val 5098"/>
            </a:avLst>
          </a:prstGeom>
          <a:solidFill>
            <a:srgbClr val="FFFFFF"/>
          </a:solidFill>
          <a:ln w="8890">
            <a:solidFill>
              <a:srgbClr val="CADDE4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024128" y="1993392"/>
            <a:ext cx="1007668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19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Colour is a visual tool that can attract attention, separate sections, improve recognition and create a particular mood. Its purpose should support the message.</a:t>
            </a:r>
            <a:endParaRPr lang="en-US" sz="2400" dirty="0"/>
          </a:p>
        </p:txBody>
      </p:sp>
      <p:sp>
        <p:nvSpPr>
          <p:cNvPr id="11" name="Shape 9"/>
          <p:cNvSpPr/>
          <p:nvPr/>
        </p:nvSpPr>
        <p:spPr>
          <a:xfrm>
            <a:off x="731520" y="4315968"/>
            <a:ext cx="10643616" cy="960120"/>
          </a:xfrm>
          <a:prstGeom prst="roundRect">
            <a:avLst>
              <a:gd name="adj" fmla="val 12381"/>
            </a:avLst>
          </a:prstGeom>
          <a:solidFill>
            <a:srgbClr val="E7F5F1"/>
          </a:solidFill>
          <a:ln w="8890">
            <a:solidFill>
              <a:srgbClr val="E7F5F1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960120" y="4526280"/>
            <a:ext cx="101864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9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Example: one accent colour can draw attention to the date of an event while darker text keeps the details readable.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777240" y="5541264"/>
            <a:ext cx="10515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586D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colourful page is not necessarily a clear page; readability comes first.</a:t>
            </a:r>
            <a:endParaRPr lang="en-US" sz="15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08C86"/>
          </a:solidFill>
          <a:ln w="12700">
            <a:solidFill>
              <a:srgbClr val="008C86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685800" y="164592"/>
            <a:ext cx="6400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spc="160" kern="0" dirty="0">
                <a:solidFill>
                  <a:srgbClr val="008C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ITT06105  /  DESKTOP PUBLISHING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9144000" y="164592"/>
            <a:ext cx="2286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900" b="1" spc="100" kern="0" dirty="0">
                <a:solidFill>
                  <a:srgbClr val="586D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COLOUR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94944" y="576072"/>
            <a:ext cx="1088136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1930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Three useful colour properties</a:t>
            </a:r>
            <a:endParaRPr lang="en-US" sz="2850" dirty="0"/>
          </a:p>
        </p:txBody>
      </p:sp>
      <p:sp>
        <p:nvSpPr>
          <p:cNvPr id="6" name="Shape 4"/>
          <p:cNvSpPr/>
          <p:nvPr/>
        </p:nvSpPr>
        <p:spPr>
          <a:xfrm>
            <a:off x="685800" y="6446520"/>
            <a:ext cx="10789920" cy="0"/>
          </a:xfrm>
          <a:prstGeom prst="line">
            <a:avLst/>
          </a:prstGeom>
          <a:noFill/>
          <a:ln w="10160">
            <a:solidFill>
              <a:srgbClr val="D2E2E8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13232" y="6510528"/>
            <a:ext cx="8229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586D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DESKTOP PUBLISHING  •  LECTURE 02  •  2026/2027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972800" y="6510528"/>
            <a:ext cx="4297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586D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27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731520" y="1792224"/>
            <a:ext cx="3383280" cy="3648456"/>
          </a:xfrm>
          <a:prstGeom prst="roundRect">
            <a:avLst>
              <a:gd name="adj" fmla="val 3514"/>
            </a:avLst>
          </a:prstGeom>
          <a:solidFill>
            <a:srgbClr val="FFFFFF"/>
          </a:solidFill>
          <a:ln w="8890">
            <a:solidFill>
              <a:srgbClr val="CADDE4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950976" y="1975104"/>
            <a:ext cx="29443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08C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HUE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950976" y="2523744"/>
            <a:ext cx="2944368" cy="2761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30" dirty="0">
                <a:solidFill>
                  <a:srgbClr val="19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colour family we recognise, such as red, yellow, green or blue.</a:t>
            </a:r>
            <a:endParaRPr lang="en-US" sz="1630" dirty="0"/>
          </a:p>
        </p:txBody>
      </p:sp>
      <p:sp>
        <p:nvSpPr>
          <p:cNvPr id="12" name="Shape 10"/>
          <p:cNvSpPr/>
          <p:nvPr/>
        </p:nvSpPr>
        <p:spPr>
          <a:xfrm>
            <a:off x="4407408" y="1792224"/>
            <a:ext cx="3383280" cy="3648456"/>
          </a:xfrm>
          <a:prstGeom prst="roundRect">
            <a:avLst>
              <a:gd name="adj" fmla="val 3514"/>
            </a:avLst>
          </a:prstGeom>
          <a:solidFill>
            <a:srgbClr val="F0F8F9"/>
          </a:solidFill>
          <a:ln w="8890">
            <a:solidFill>
              <a:srgbClr val="CADDE4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4626864" y="1975104"/>
            <a:ext cx="29443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08C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SATURATION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4626864" y="2523744"/>
            <a:ext cx="2944368" cy="2761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30" dirty="0">
                <a:solidFill>
                  <a:srgbClr val="19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 vivid or muted a colour appears. Highly saturated colours stand out but can be tiring if overused.</a:t>
            </a:r>
            <a:endParaRPr lang="en-US" sz="1630" dirty="0"/>
          </a:p>
        </p:txBody>
      </p:sp>
      <p:sp>
        <p:nvSpPr>
          <p:cNvPr id="15" name="Shape 13"/>
          <p:cNvSpPr/>
          <p:nvPr/>
        </p:nvSpPr>
        <p:spPr>
          <a:xfrm>
            <a:off x="8083296" y="1792224"/>
            <a:ext cx="3383280" cy="3648456"/>
          </a:xfrm>
          <a:prstGeom prst="roundRect">
            <a:avLst>
              <a:gd name="adj" fmla="val 3514"/>
            </a:avLst>
          </a:prstGeom>
          <a:solidFill>
            <a:srgbClr val="FFFFFF"/>
          </a:solidFill>
          <a:ln w="8890">
            <a:solidFill>
              <a:srgbClr val="CADDE4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302752" y="1975104"/>
            <a:ext cx="29443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08C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LIGHTNESS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8302752" y="2523744"/>
            <a:ext cx="2944368" cy="2761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30" dirty="0">
                <a:solidFill>
                  <a:srgbClr val="19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 light or dark a colour appears. Differences in lightness often help make text easier to read.</a:t>
            </a:r>
            <a:endParaRPr lang="en-US" sz="1630" dirty="0"/>
          </a:p>
        </p:txBody>
      </p:sp>
      <p:sp>
        <p:nvSpPr>
          <p:cNvPr id="18" name="Shape 16"/>
          <p:cNvSpPr/>
          <p:nvPr/>
        </p:nvSpPr>
        <p:spPr>
          <a:xfrm>
            <a:off x="713232" y="5715000"/>
            <a:ext cx="10744200" cy="502920"/>
          </a:xfrm>
          <a:prstGeom prst="roundRect">
            <a:avLst>
              <a:gd name="adj" fmla="val 23636"/>
            </a:avLst>
          </a:prstGeom>
          <a:solidFill>
            <a:srgbClr val="E7F5F1"/>
          </a:solidFill>
          <a:ln w="8890">
            <a:solidFill>
              <a:srgbClr val="E7F5F1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914400" y="5824728"/>
            <a:ext cx="102961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19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You do not need advanced colour mathematics to choose a practical classroom palette.</a:t>
            </a:r>
            <a:endParaRPr lang="en-US" sz="15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08C86"/>
          </a:solidFill>
          <a:ln w="12700">
            <a:solidFill>
              <a:srgbClr val="008C86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685800" y="164592"/>
            <a:ext cx="6400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spc="160" kern="0" dirty="0">
                <a:solidFill>
                  <a:srgbClr val="008C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ITT06105  /  DESKTOP PUBLISHING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9144000" y="164592"/>
            <a:ext cx="2286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900" b="1" spc="100" kern="0" dirty="0">
                <a:solidFill>
                  <a:srgbClr val="586D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COLOUR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94944" y="576072"/>
            <a:ext cx="1088136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1930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RGB and CMYK describe different uses</a:t>
            </a:r>
            <a:endParaRPr lang="en-US" sz="2850" dirty="0"/>
          </a:p>
        </p:txBody>
      </p:sp>
      <p:sp>
        <p:nvSpPr>
          <p:cNvPr id="6" name="Shape 4"/>
          <p:cNvSpPr/>
          <p:nvPr/>
        </p:nvSpPr>
        <p:spPr>
          <a:xfrm>
            <a:off x="685800" y="6446520"/>
            <a:ext cx="10789920" cy="0"/>
          </a:xfrm>
          <a:prstGeom prst="line">
            <a:avLst/>
          </a:prstGeom>
          <a:noFill/>
          <a:ln w="10160">
            <a:solidFill>
              <a:srgbClr val="D2E2E8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13232" y="6510528"/>
            <a:ext cx="8229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586D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DESKTOP PUBLISHING  •  LECTURE 02  •  2026/2027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972800" y="6510528"/>
            <a:ext cx="4297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586D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28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713232" y="1746504"/>
            <a:ext cx="5184648" cy="3520440"/>
          </a:xfrm>
          <a:prstGeom prst="roundRect">
            <a:avLst>
              <a:gd name="adj" fmla="val 3377"/>
            </a:avLst>
          </a:prstGeom>
          <a:solidFill>
            <a:srgbClr val="FFFFFF"/>
          </a:solidFill>
          <a:ln w="8890">
            <a:solidFill>
              <a:srgbClr val="CADDE4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932688" y="1929384"/>
            <a:ext cx="47457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08C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RGB — light on screens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932688" y="2478024"/>
            <a:ext cx="4745736" cy="2633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60" dirty="0">
                <a:solidFill>
                  <a:srgbClr val="19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Red, green and blue light are combined by digital displays. RGB is a common colour mode for photographs and digital graphics.</a:t>
            </a:r>
            <a:endParaRPr lang="en-US" sz="1760" dirty="0"/>
          </a:p>
        </p:txBody>
      </p:sp>
      <p:sp>
        <p:nvSpPr>
          <p:cNvPr id="12" name="Shape 10"/>
          <p:cNvSpPr/>
          <p:nvPr/>
        </p:nvSpPr>
        <p:spPr>
          <a:xfrm>
            <a:off x="6144768" y="1746504"/>
            <a:ext cx="5312664" cy="3520440"/>
          </a:xfrm>
          <a:prstGeom prst="roundRect">
            <a:avLst>
              <a:gd name="adj" fmla="val 3377"/>
            </a:avLst>
          </a:prstGeom>
          <a:solidFill>
            <a:srgbClr val="FFFFFF"/>
          </a:solidFill>
          <a:ln w="8890">
            <a:solidFill>
              <a:srgbClr val="CADDE4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364224" y="1929384"/>
            <a:ext cx="48737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08C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CMYK — printing inks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6364224" y="2478024"/>
            <a:ext cx="4873752" cy="2633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60" dirty="0">
                <a:solidFill>
                  <a:srgbClr val="19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Cyan, magenta, yellow and black inks are used in many printing processes. Colours may shift between screen and paper depending on devices and settings.</a:t>
            </a:r>
            <a:endParaRPr lang="en-US" sz="1760" dirty="0"/>
          </a:p>
        </p:txBody>
      </p:sp>
      <p:sp>
        <p:nvSpPr>
          <p:cNvPr id="15" name="Shape 13"/>
          <p:cNvSpPr/>
          <p:nvPr/>
        </p:nvSpPr>
        <p:spPr>
          <a:xfrm>
            <a:off x="713232" y="5715000"/>
            <a:ext cx="10744200" cy="502920"/>
          </a:xfrm>
          <a:prstGeom prst="roundRect">
            <a:avLst>
              <a:gd name="adj" fmla="val 23636"/>
            </a:avLst>
          </a:prstGeom>
          <a:solidFill>
            <a:srgbClr val="E7F5F1"/>
          </a:solidFill>
          <a:ln w="8890">
            <a:solidFill>
              <a:srgbClr val="E7F5F1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914400" y="5824728"/>
            <a:ext cx="102961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19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 beginner work, choose suitable export settings and inspect proofs instead of memorising colour profiles.</a:t>
            </a:r>
            <a:endParaRPr lang="en-US" sz="15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08C86"/>
          </a:solidFill>
          <a:ln w="12700">
            <a:solidFill>
              <a:srgbClr val="008C86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685800" y="164592"/>
            <a:ext cx="6400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spc="160" kern="0" dirty="0">
                <a:solidFill>
                  <a:srgbClr val="008C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ITT06105  /  DESKTOP PUBLISHING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9144000" y="164592"/>
            <a:ext cx="2286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900" b="1" spc="100" kern="0" dirty="0">
                <a:solidFill>
                  <a:srgbClr val="586D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COLOUR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94944" y="576072"/>
            <a:ext cx="1088136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1930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Build a small, usable palette</a:t>
            </a:r>
            <a:endParaRPr lang="en-US" sz="2850" dirty="0"/>
          </a:p>
        </p:txBody>
      </p:sp>
      <p:sp>
        <p:nvSpPr>
          <p:cNvPr id="6" name="Shape 4"/>
          <p:cNvSpPr/>
          <p:nvPr/>
        </p:nvSpPr>
        <p:spPr>
          <a:xfrm>
            <a:off x="685800" y="6446520"/>
            <a:ext cx="10789920" cy="0"/>
          </a:xfrm>
          <a:prstGeom prst="line">
            <a:avLst/>
          </a:prstGeom>
          <a:noFill/>
          <a:ln w="10160">
            <a:solidFill>
              <a:srgbClr val="D2E2E8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13232" y="6510528"/>
            <a:ext cx="8229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586D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DESKTOP PUBLISHING  •  LECTURE 02  •  2026/2027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972800" y="6510528"/>
            <a:ext cx="4297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586D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29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731520" y="1737360"/>
            <a:ext cx="10661904" cy="1426464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8890">
            <a:solidFill>
              <a:srgbClr val="CADDE4"/>
            </a:solidFill>
            <a:prstDash val="solid"/>
          </a:ln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1097280" y="2011680"/>
            <a:ext cx="1243584" cy="676656"/>
          </a:xfrm>
          <a:prstGeom prst="roundRect">
            <a:avLst>
              <a:gd name="adj" fmla="val 17568"/>
            </a:avLst>
          </a:prstGeom>
          <a:solidFill>
            <a:srgbClr val="193047"/>
          </a:solidFill>
          <a:ln w="8890">
            <a:solidFill>
              <a:srgbClr val="193047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2432304" y="201168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9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Dark navy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432304" y="2350008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30" dirty="0">
                <a:solidFill>
                  <a:srgbClr val="586D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Main text</a:t>
            </a:r>
            <a:endParaRPr lang="en-US" sz="1230" dirty="0"/>
          </a:p>
        </p:txBody>
      </p:sp>
      <p:sp>
        <p:nvSpPr>
          <p:cNvPr id="13" name="Shape 11"/>
          <p:cNvSpPr/>
          <p:nvPr/>
        </p:nvSpPr>
        <p:spPr>
          <a:xfrm>
            <a:off x="3721608" y="2011680"/>
            <a:ext cx="1243584" cy="676656"/>
          </a:xfrm>
          <a:prstGeom prst="roundRect">
            <a:avLst>
              <a:gd name="adj" fmla="val 17568"/>
            </a:avLst>
          </a:prstGeom>
          <a:solidFill>
            <a:srgbClr val="008C86"/>
          </a:solidFill>
          <a:ln w="8890">
            <a:solidFill>
              <a:srgbClr val="008C86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5056632" y="201168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9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Teal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056632" y="2350008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30" dirty="0">
                <a:solidFill>
                  <a:srgbClr val="586D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Headings / accent</a:t>
            </a:r>
            <a:endParaRPr lang="en-US" sz="1230" dirty="0"/>
          </a:p>
        </p:txBody>
      </p:sp>
      <p:sp>
        <p:nvSpPr>
          <p:cNvPr id="16" name="Shape 14"/>
          <p:cNvSpPr/>
          <p:nvPr/>
        </p:nvSpPr>
        <p:spPr>
          <a:xfrm>
            <a:off x="6345936" y="2011680"/>
            <a:ext cx="1243584" cy="676656"/>
          </a:xfrm>
          <a:prstGeom prst="roundRect">
            <a:avLst>
              <a:gd name="adj" fmla="val 17568"/>
            </a:avLst>
          </a:prstGeom>
          <a:solidFill>
            <a:srgbClr val="E7F5F1"/>
          </a:solidFill>
          <a:ln w="8890">
            <a:solidFill>
              <a:srgbClr val="E7F5F1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7680960" y="201168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9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Pale mint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7680960" y="2350008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30" dirty="0">
                <a:solidFill>
                  <a:srgbClr val="586D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Background</a:t>
            </a:r>
            <a:endParaRPr lang="en-US" sz="1230" dirty="0"/>
          </a:p>
        </p:txBody>
      </p:sp>
      <p:sp>
        <p:nvSpPr>
          <p:cNvPr id="19" name="Shape 17"/>
          <p:cNvSpPr/>
          <p:nvPr/>
        </p:nvSpPr>
        <p:spPr>
          <a:xfrm>
            <a:off x="8970264" y="2011680"/>
            <a:ext cx="1243584" cy="676656"/>
          </a:xfrm>
          <a:prstGeom prst="roundRect">
            <a:avLst>
              <a:gd name="adj" fmla="val 17568"/>
            </a:avLst>
          </a:prstGeom>
          <a:solidFill>
            <a:srgbClr val="F0AC4A"/>
          </a:solidFill>
          <a:ln w="8890">
            <a:solidFill>
              <a:srgbClr val="F0AC4A"/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10305288" y="201168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9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Warm orange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0305288" y="2350008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30" dirty="0">
                <a:solidFill>
                  <a:srgbClr val="586D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Small highlight</a:t>
            </a:r>
            <a:endParaRPr lang="en-US" sz="1230" dirty="0"/>
          </a:p>
        </p:txBody>
      </p:sp>
      <p:sp>
        <p:nvSpPr>
          <p:cNvPr id="22" name="Shape 20"/>
          <p:cNvSpPr/>
          <p:nvPr/>
        </p:nvSpPr>
        <p:spPr>
          <a:xfrm>
            <a:off x="731520" y="3493008"/>
            <a:ext cx="10661904" cy="1847088"/>
          </a:xfrm>
          <a:prstGeom prst="roundRect">
            <a:avLst>
              <a:gd name="adj" fmla="val 6436"/>
            </a:avLst>
          </a:prstGeom>
          <a:solidFill>
            <a:srgbClr val="E7F5F1"/>
          </a:solidFill>
          <a:ln w="8890">
            <a:solidFill>
              <a:srgbClr val="E7F5F1"/>
            </a:solidFill>
            <a:prstDash val="solid"/>
          </a:ln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996696" y="3749040"/>
            <a:ext cx="9966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008C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reliable starting rule</a:t>
            </a:r>
            <a:endParaRPr lang="en-US" sz="2100" dirty="0"/>
          </a:p>
        </p:txBody>
      </p:sp>
      <p:sp>
        <p:nvSpPr>
          <p:cNvPr id="24" name="Text 22"/>
          <p:cNvSpPr/>
          <p:nvPr/>
        </p:nvSpPr>
        <p:spPr>
          <a:xfrm>
            <a:off x="1005840" y="4398264"/>
            <a:ext cx="99669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9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Choose one dark colour for most text, one light background, and one or two accents. Repeat those choices consistently rather than introducing a new colour for every line.</a:t>
            </a:r>
            <a:endParaRPr lang="en-US" sz="18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08C86"/>
          </a:solidFill>
          <a:ln w="12700">
            <a:solidFill>
              <a:srgbClr val="008C86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685800" y="164592"/>
            <a:ext cx="6400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spc="160" kern="0" dirty="0">
                <a:solidFill>
                  <a:srgbClr val="008C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ITT06105  /  DESKTOP PUBLISHING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9144000" y="164592"/>
            <a:ext cx="2286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900" b="1" spc="100" kern="0" dirty="0">
                <a:solidFill>
                  <a:srgbClr val="586D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COLOUR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94944" y="576072"/>
            <a:ext cx="1088136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1930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Check contrast before decoration</a:t>
            </a:r>
            <a:endParaRPr lang="en-US" sz="2850" dirty="0"/>
          </a:p>
        </p:txBody>
      </p:sp>
      <p:sp>
        <p:nvSpPr>
          <p:cNvPr id="6" name="Shape 4"/>
          <p:cNvSpPr/>
          <p:nvPr/>
        </p:nvSpPr>
        <p:spPr>
          <a:xfrm>
            <a:off x="685800" y="6446520"/>
            <a:ext cx="10789920" cy="0"/>
          </a:xfrm>
          <a:prstGeom prst="line">
            <a:avLst/>
          </a:prstGeom>
          <a:noFill/>
          <a:ln w="10160">
            <a:solidFill>
              <a:srgbClr val="D2E2E8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13232" y="6510528"/>
            <a:ext cx="8229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586D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DESKTOP PUBLISHING  •  LECTURE 02  •  2026/2027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972800" y="6510528"/>
            <a:ext cx="4297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586D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30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749808" y="1691640"/>
            <a:ext cx="5193792" cy="3575304"/>
          </a:xfrm>
          <a:prstGeom prst="roundRect">
            <a:avLst>
              <a:gd name="adj" fmla="val 3325"/>
            </a:avLst>
          </a:prstGeom>
          <a:solidFill>
            <a:srgbClr val="F0F7F6"/>
          </a:solidFill>
          <a:ln w="8890">
            <a:solidFill>
              <a:srgbClr val="D5E8E8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069848" y="2039112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B1D0D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LOW CONTRAST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088136" y="2871216"/>
            <a:ext cx="45262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BCD7D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Important information should not disappear into the background.</a:t>
            </a:r>
            <a:endParaRPr lang="en-US" sz="2100" dirty="0"/>
          </a:p>
        </p:txBody>
      </p:sp>
      <p:sp>
        <p:nvSpPr>
          <p:cNvPr id="12" name="Shape 10"/>
          <p:cNvSpPr/>
          <p:nvPr/>
        </p:nvSpPr>
        <p:spPr>
          <a:xfrm>
            <a:off x="6181344" y="1691640"/>
            <a:ext cx="5221224" cy="3575304"/>
          </a:xfrm>
          <a:prstGeom prst="roundRect">
            <a:avLst>
              <a:gd name="adj" fmla="val 3325"/>
            </a:avLst>
          </a:prstGeom>
          <a:solidFill>
            <a:srgbClr val="193047"/>
          </a:solidFill>
          <a:ln w="8890">
            <a:solidFill>
              <a:srgbClr val="193047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501384" y="2039112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HIGH CONTRAST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6519672" y="2871216"/>
            <a:ext cx="4498848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Dark and light colours can create a clear reading difference.</a:t>
            </a:r>
            <a:endParaRPr lang="en-US" sz="2100" dirty="0"/>
          </a:p>
        </p:txBody>
      </p:sp>
      <p:sp>
        <p:nvSpPr>
          <p:cNvPr id="15" name="Shape 13"/>
          <p:cNvSpPr/>
          <p:nvPr/>
        </p:nvSpPr>
        <p:spPr>
          <a:xfrm>
            <a:off x="713232" y="5696712"/>
            <a:ext cx="10744200" cy="502920"/>
          </a:xfrm>
          <a:prstGeom prst="roundRect">
            <a:avLst>
              <a:gd name="adj" fmla="val 23636"/>
            </a:avLst>
          </a:prstGeom>
          <a:solidFill>
            <a:srgbClr val="E7F5F1"/>
          </a:solidFill>
          <a:ln w="8890">
            <a:solidFill>
              <a:srgbClr val="E7F5F1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914400" y="5806440"/>
            <a:ext cx="102961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19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Colour contrast must be checked for body text as well as headlines.</a:t>
            </a:r>
            <a:endParaRPr lang="en-US" sz="15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08C86"/>
          </a:solidFill>
          <a:ln w="12700">
            <a:solidFill>
              <a:srgbClr val="008C86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685800" y="164592"/>
            <a:ext cx="6400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spc="160" kern="0" dirty="0">
                <a:solidFill>
                  <a:srgbClr val="008C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ITT06105  /  DESKTOP PUBLISHING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9144000" y="164592"/>
            <a:ext cx="2286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900" b="1" spc="100" kern="0" dirty="0">
                <a:solidFill>
                  <a:srgbClr val="586D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COLOUR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94944" y="576072"/>
            <a:ext cx="1088136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1930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Do not communicate with colour alone</a:t>
            </a:r>
            <a:endParaRPr lang="en-US" sz="2850" dirty="0"/>
          </a:p>
        </p:txBody>
      </p:sp>
      <p:sp>
        <p:nvSpPr>
          <p:cNvPr id="6" name="Shape 4"/>
          <p:cNvSpPr/>
          <p:nvPr/>
        </p:nvSpPr>
        <p:spPr>
          <a:xfrm>
            <a:off x="685800" y="6446520"/>
            <a:ext cx="10789920" cy="0"/>
          </a:xfrm>
          <a:prstGeom prst="line">
            <a:avLst/>
          </a:prstGeom>
          <a:noFill/>
          <a:ln w="10160">
            <a:solidFill>
              <a:srgbClr val="D2E2E8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13232" y="6510528"/>
            <a:ext cx="8229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586D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DESKTOP PUBLISHING  •  LECTURE 02  •  2026/2027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972800" y="6510528"/>
            <a:ext cx="4297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586D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31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713232" y="1746504"/>
            <a:ext cx="5184648" cy="3520440"/>
          </a:xfrm>
          <a:prstGeom prst="roundRect">
            <a:avLst>
              <a:gd name="adj" fmla="val 3377"/>
            </a:avLst>
          </a:prstGeom>
          <a:solidFill>
            <a:srgbClr val="FFFFFF"/>
          </a:solidFill>
          <a:ln w="8890">
            <a:solidFill>
              <a:srgbClr val="CADDE4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932688" y="1929384"/>
            <a:ext cx="47457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08C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Weak instruction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932688" y="2478024"/>
            <a:ext cx="4745736" cy="2633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30" dirty="0">
                <a:solidFill>
                  <a:srgbClr val="19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“Students in red must submit today.” A reader may not distinguish the colours, or may be viewing a black-and-white printout.</a:t>
            </a:r>
            <a:endParaRPr lang="en-US" sz="1730" dirty="0"/>
          </a:p>
        </p:txBody>
      </p:sp>
      <p:sp>
        <p:nvSpPr>
          <p:cNvPr id="12" name="Shape 10"/>
          <p:cNvSpPr/>
          <p:nvPr/>
        </p:nvSpPr>
        <p:spPr>
          <a:xfrm>
            <a:off x="6144768" y="1746504"/>
            <a:ext cx="5312664" cy="3520440"/>
          </a:xfrm>
          <a:prstGeom prst="roundRect">
            <a:avLst>
              <a:gd name="adj" fmla="val 3377"/>
            </a:avLst>
          </a:prstGeom>
          <a:solidFill>
            <a:srgbClr val="FFFFFF"/>
          </a:solidFill>
          <a:ln w="8890">
            <a:solidFill>
              <a:srgbClr val="CADDE4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364224" y="1929384"/>
            <a:ext cx="48737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08C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More accessible instruction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6364224" y="2478024"/>
            <a:ext cx="4873752" cy="2633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30" dirty="0">
                <a:solidFill>
                  <a:srgbClr val="19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“Submit today” with a visible label or icon and adequate contrast. Colour may reinforce the priority, but the words carry the message.</a:t>
            </a:r>
            <a:endParaRPr lang="en-US" sz="1730" dirty="0"/>
          </a:p>
        </p:txBody>
      </p:sp>
      <p:sp>
        <p:nvSpPr>
          <p:cNvPr id="15" name="Shape 13"/>
          <p:cNvSpPr/>
          <p:nvPr/>
        </p:nvSpPr>
        <p:spPr>
          <a:xfrm>
            <a:off x="713232" y="5715000"/>
            <a:ext cx="10744200" cy="502920"/>
          </a:xfrm>
          <a:prstGeom prst="roundRect">
            <a:avLst>
              <a:gd name="adj" fmla="val 23636"/>
            </a:avLst>
          </a:prstGeom>
          <a:solidFill>
            <a:srgbClr val="E7F5F1"/>
          </a:solidFill>
          <a:ln w="8890">
            <a:solidFill>
              <a:srgbClr val="E7F5F1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914400" y="5824728"/>
            <a:ext cx="102961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19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Also check whether your notice still makes sense when photocopied in greyscale.</a:t>
            </a:r>
            <a:endParaRPr lang="en-US" sz="15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08C86"/>
          </a:solidFill>
          <a:ln w="12700">
            <a:solidFill>
              <a:srgbClr val="008C86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685800" y="164592"/>
            <a:ext cx="6400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spc="160" kern="0" dirty="0">
                <a:solidFill>
                  <a:srgbClr val="008C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ITT06105  /  DESKTOP PUBLISHING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9144000" y="164592"/>
            <a:ext cx="2286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900" b="1" spc="100" kern="0" dirty="0">
                <a:solidFill>
                  <a:srgbClr val="586D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APPLY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94944" y="576072"/>
            <a:ext cx="1088136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1930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Bring text, graphics and colour together</a:t>
            </a:r>
            <a:endParaRPr lang="en-US" sz="2850" dirty="0"/>
          </a:p>
        </p:txBody>
      </p:sp>
      <p:sp>
        <p:nvSpPr>
          <p:cNvPr id="6" name="Shape 4"/>
          <p:cNvSpPr/>
          <p:nvPr/>
        </p:nvSpPr>
        <p:spPr>
          <a:xfrm>
            <a:off x="685800" y="6446520"/>
            <a:ext cx="10789920" cy="0"/>
          </a:xfrm>
          <a:prstGeom prst="line">
            <a:avLst/>
          </a:prstGeom>
          <a:noFill/>
          <a:ln w="10160">
            <a:solidFill>
              <a:srgbClr val="D2E2E8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13232" y="6510528"/>
            <a:ext cx="8229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586D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DESKTOP PUBLISHING  •  LECTURE 02  •  2026/2027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972800" y="6510528"/>
            <a:ext cx="4297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586D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32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731520" y="1792224"/>
            <a:ext cx="3383280" cy="3648456"/>
          </a:xfrm>
          <a:prstGeom prst="roundRect">
            <a:avLst>
              <a:gd name="adj" fmla="val 3514"/>
            </a:avLst>
          </a:prstGeom>
          <a:solidFill>
            <a:srgbClr val="FFFFFF"/>
          </a:solidFill>
          <a:ln w="8890">
            <a:solidFill>
              <a:srgbClr val="CADDE4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950976" y="1975104"/>
            <a:ext cx="29443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08C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IMAGE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950976" y="2523744"/>
            <a:ext cx="2944368" cy="2761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30" dirty="0">
                <a:solidFill>
                  <a:srgbClr val="19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one relevant picture or symbol. Choose a suitable file format and avoid stretching a small image far beyond its size.</a:t>
            </a:r>
            <a:endParaRPr lang="en-US" sz="1630" dirty="0"/>
          </a:p>
        </p:txBody>
      </p:sp>
      <p:sp>
        <p:nvSpPr>
          <p:cNvPr id="12" name="Shape 10"/>
          <p:cNvSpPr/>
          <p:nvPr/>
        </p:nvSpPr>
        <p:spPr>
          <a:xfrm>
            <a:off x="4407408" y="1792224"/>
            <a:ext cx="3383280" cy="3648456"/>
          </a:xfrm>
          <a:prstGeom prst="roundRect">
            <a:avLst>
              <a:gd name="adj" fmla="val 3514"/>
            </a:avLst>
          </a:prstGeom>
          <a:solidFill>
            <a:srgbClr val="F0F8F9"/>
          </a:solidFill>
          <a:ln w="8890">
            <a:solidFill>
              <a:srgbClr val="CADDE4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4626864" y="1975104"/>
            <a:ext cx="29443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08C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TEXT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4626864" y="2523744"/>
            <a:ext cx="2944368" cy="2761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30" dirty="0">
                <a:solidFill>
                  <a:srgbClr val="19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a strong heading and a short supporting explanation. Group date, location and action details logically.</a:t>
            </a:r>
            <a:endParaRPr lang="en-US" sz="1630" dirty="0"/>
          </a:p>
        </p:txBody>
      </p:sp>
      <p:sp>
        <p:nvSpPr>
          <p:cNvPr id="15" name="Shape 13"/>
          <p:cNvSpPr/>
          <p:nvPr/>
        </p:nvSpPr>
        <p:spPr>
          <a:xfrm>
            <a:off x="8083296" y="1792224"/>
            <a:ext cx="3383280" cy="3648456"/>
          </a:xfrm>
          <a:prstGeom prst="roundRect">
            <a:avLst>
              <a:gd name="adj" fmla="val 3514"/>
            </a:avLst>
          </a:prstGeom>
          <a:solidFill>
            <a:srgbClr val="FFFFFF"/>
          </a:solidFill>
          <a:ln w="8890">
            <a:solidFill>
              <a:srgbClr val="CADDE4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302752" y="1975104"/>
            <a:ext cx="29443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08C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COLOUR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8302752" y="2523744"/>
            <a:ext cx="2944368" cy="2761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30" dirty="0">
                <a:solidFill>
                  <a:srgbClr val="19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restrained colours, consistent highlights and clear text/background contrast.</a:t>
            </a:r>
            <a:endParaRPr lang="en-US" sz="1630" dirty="0"/>
          </a:p>
        </p:txBody>
      </p:sp>
      <p:sp>
        <p:nvSpPr>
          <p:cNvPr id="18" name="Shape 16"/>
          <p:cNvSpPr/>
          <p:nvPr/>
        </p:nvSpPr>
        <p:spPr>
          <a:xfrm>
            <a:off x="713232" y="5715000"/>
            <a:ext cx="10744200" cy="502920"/>
          </a:xfrm>
          <a:prstGeom prst="roundRect">
            <a:avLst>
              <a:gd name="adj" fmla="val 23636"/>
            </a:avLst>
          </a:prstGeom>
          <a:solidFill>
            <a:srgbClr val="E7F5F1"/>
          </a:solidFill>
          <a:ln w="8890">
            <a:solidFill>
              <a:srgbClr val="E7F5F1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914400" y="5824728"/>
            <a:ext cx="102961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19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reader should recognise the purpose and locate the key information in a few seconds.</a:t>
            </a:r>
            <a:endParaRPr lang="en-US" sz="15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08C86"/>
          </a:solidFill>
          <a:ln w="12700">
            <a:solidFill>
              <a:srgbClr val="008C86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685800" y="164592"/>
            <a:ext cx="6400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spc="160" kern="0" dirty="0">
                <a:solidFill>
                  <a:srgbClr val="008C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ITT06105  /  DESKTOP PUBLISHING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9144000" y="164592"/>
            <a:ext cx="2286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900" b="1" spc="100" kern="0" dirty="0">
                <a:solidFill>
                  <a:srgbClr val="586D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ACTIVITY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94944" y="576072"/>
            <a:ext cx="1088136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1930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Design review: what is going wrong?</a:t>
            </a:r>
            <a:endParaRPr lang="en-US" sz="2850" dirty="0"/>
          </a:p>
        </p:txBody>
      </p:sp>
      <p:sp>
        <p:nvSpPr>
          <p:cNvPr id="6" name="Shape 4"/>
          <p:cNvSpPr/>
          <p:nvPr/>
        </p:nvSpPr>
        <p:spPr>
          <a:xfrm>
            <a:off x="685800" y="6446520"/>
            <a:ext cx="10789920" cy="0"/>
          </a:xfrm>
          <a:prstGeom prst="line">
            <a:avLst/>
          </a:prstGeom>
          <a:noFill/>
          <a:ln w="10160">
            <a:solidFill>
              <a:srgbClr val="D2E2E8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13232" y="6510528"/>
            <a:ext cx="8229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586D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DESKTOP PUBLISHING  •  LECTURE 02  •  2026/2027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972800" y="6510528"/>
            <a:ext cx="4297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586D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33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731520" y="1682496"/>
            <a:ext cx="5193792" cy="4197096"/>
          </a:xfrm>
          <a:prstGeom prst="roundRect">
            <a:avLst>
              <a:gd name="adj" fmla="val 2832"/>
            </a:avLst>
          </a:prstGeom>
          <a:solidFill>
            <a:srgbClr val="FFFFFF"/>
          </a:solidFill>
          <a:ln w="8890">
            <a:solidFill>
              <a:srgbClr val="CADDE4"/>
            </a:solidFill>
            <a:prstDash val="solid"/>
          </a:ln>
        </p:spPr>
        <p:txBody>
          <a:bodyPr/>
          <a:p/>
        </p:txBody>
      </p:sp>
      <p:pic>
        <p:nvPicPr>
          <p:cNvPr id="10" name="Image 0" descr="/mnt/data/ITT06105_Condensed_L02_Package/assets/Notice_wea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0" y="1819656"/>
            <a:ext cx="2798064" cy="3621024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6163056" y="1682496"/>
            <a:ext cx="5230368" cy="4197096"/>
          </a:xfrm>
          <a:prstGeom prst="roundRect">
            <a:avLst>
              <a:gd name="adj" fmla="val 2832"/>
            </a:avLst>
          </a:prstGeom>
          <a:solidFill>
            <a:srgbClr val="FFFFFF"/>
          </a:solidFill>
          <a:ln w="8890">
            <a:solidFill>
              <a:srgbClr val="CADDE4"/>
            </a:solidFill>
            <a:prstDash val="solid"/>
          </a:ln>
        </p:spPr>
        <p:txBody>
          <a:bodyPr/>
          <a:p/>
        </p:txBody>
      </p:sp>
      <p:sp>
        <p:nvSpPr>
          <p:cNvPr id="12" name="Text 9"/>
          <p:cNvSpPr/>
          <p:nvPr/>
        </p:nvSpPr>
        <p:spPr>
          <a:xfrm>
            <a:off x="6473952" y="1938528"/>
            <a:ext cx="4608576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008C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Ask these questions</a:t>
            </a:r>
            <a:endParaRPr lang="en-US" sz="2100" dirty="0"/>
          </a:p>
        </p:txBody>
      </p:sp>
      <p:sp>
        <p:nvSpPr>
          <p:cNvPr id="13" name="Text 10"/>
          <p:cNvSpPr/>
          <p:nvPr/>
        </p:nvSpPr>
        <p:spPr>
          <a:xfrm>
            <a:off x="6492240" y="2514600"/>
            <a:ext cx="4507992" cy="28895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70" dirty="0">
                <a:solidFill>
                  <a:srgbClr val="19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 Can you find the main message quickly?</a:t>
            </a:r>
            <a:endParaRPr lang="en-US" sz="1770" dirty="0"/>
          </a:p>
          <a:p>
            <a:pPr algn="l" indent="0" marL="0">
              <a:buNone/>
            </a:pPr>
            <a:endParaRPr lang="en-US" sz="1770" dirty="0"/>
          </a:p>
          <a:p>
            <a:pPr algn="l" indent="0" marL="0">
              <a:buNone/>
            </a:pPr>
            <a:r>
              <a:rPr lang="en-US" sz="1770" dirty="0">
                <a:solidFill>
                  <a:srgbClr val="19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 Are the date and time easy to locate?</a:t>
            </a:r>
            <a:endParaRPr lang="en-US" sz="1770" dirty="0"/>
          </a:p>
          <a:p>
            <a:pPr algn="l" indent="0" marL="0">
              <a:buNone/>
            </a:pPr>
            <a:endParaRPr lang="en-US" sz="1770" dirty="0"/>
          </a:p>
          <a:p>
            <a:pPr algn="l" indent="0" marL="0">
              <a:buNone/>
            </a:pPr>
            <a:r>
              <a:rPr lang="en-US" sz="1770" dirty="0">
                <a:solidFill>
                  <a:srgbClr val="19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 Which colours or type styles make reading harder?</a:t>
            </a:r>
            <a:endParaRPr lang="en-US" sz="1770" dirty="0"/>
          </a:p>
          <a:p>
            <a:pPr algn="l" indent="0" marL="0">
              <a:buNone/>
            </a:pPr>
            <a:endParaRPr lang="en-US" sz="1770" dirty="0"/>
          </a:p>
          <a:p>
            <a:pPr algn="l" indent="0" marL="0">
              <a:buNone/>
            </a:pPr>
            <a:r>
              <a:rPr lang="en-US" sz="1770" dirty="0">
                <a:solidFill>
                  <a:srgbClr val="19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 What should be grouped together?</a:t>
            </a:r>
            <a:endParaRPr lang="en-US" sz="177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08C86"/>
          </a:solidFill>
          <a:ln w="12700">
            <a:solidFill>
              <a:srgbClr val="008C86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685800" y="164592"/>
            <a:ext cx="6400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spc="160" kern="0" dirty="0">
                <a:solidFill>
                  <a:srgbClr val="008C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ITT06105  /  DESKTOP PUBLISHING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9144000" y="164592"/>
            <a:ext cx="2286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900" b="1" spc="100" kern="0" dirty="0">
                <a:solidFill>
                  <a:srgbClr val="586D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ACTIVITY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94944" y="576072"/>
            <a:ext cx="1088136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1930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 clearer version of the same notice</a:t>
            </a:r>
            <a:endParaRPr lang="en-US" sz="2850" dirty="0"/>
          </a:p>
        </p:txBody>
      </p:sp>
      <p:sp>
        <p:nvSpPr>
          <p:cNvPr id="6" name="Shape 4"/>
          <p:cNvSpPr/>
          <p:nvPr/>
        </p:nvSpPr>
        <p:spPr>
          <a:xfrm>
            <a:off x="685800" y="6446520"/>
            <a:ext cx="10789920" cy="0"/>
          </a:xfrm>
          <a:prstGeom prst="line">
            <a:avLst/>
          </a:prstGeom>
          <a:noFill/>
          <a:ln w="10160">
            <a:solidFill>
              <a:srgbClr val="D2E2E8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13232" y="6510528"/>
            <a:ext cx="8229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586D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DESKTOP PUBLISHING  •  LECTURE 02  •  2026/2027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972800" y="6510528"/>
            <a:ext cx="4297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586D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34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740664" y="1673352"/>
            <a:ext cx="5175504" cy="4270248"/>
          </a:xfrm>
          <a:prstGeom prst="roundRect">
            <a:avLst>
              <a:gd name="adj" fmla="val 2784"/>
            </a:avLst>
          </a:prstGeom>
          <a:solidFill>
            <a:srgbClr val="FFFFFF"/>
          </a:solidFill>
          <a:ln w="8890">
            <a:solidFill>
              <a:srgbClr val="CADDE4"/>
            </a:solidFill>
            <a:prstDash val="solid"/>
          </a:ln>
        </p:spPr>
        <p:txBody>
          <a:bodyPr/>
          <a:p/>
        </p:txBody>
      </p:sp>
      <p:pic>
        <p:nvPicPr>
          <p:cNvPr id="10" name="Image 0" descr="/mnt/data/ITT06105_Condensed_L02_Package/assets/Notice_improv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74520" y="1837944"/>
            <a:ext cx="2734056" cy="3611880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6144768" y="1673352"/>
            <a:ext cx="5285232" cy="4270248"/>
          </a:xfrm>
          <a:prstGeom prst="roundRect">
            <a:avLst>
              <a:gd name="adj" fmla="val 2784"/>
            </a:avLst>
          </a:prstGeom>
          <a:solidFill>
            <a:srgbClr val="FFFFFF"/>
          </a:solidFill>
          <a:ln w="8890">
            <a:solidFill>
              <a:srgbClr val="CADDE4"/>
            </a:solidFill>
            <a:prstDash val="solid"/>
          </a:ln>
        </p:spPr>
        <p:txBody>
          <a:bodyPr/>
          <a:p/>
        </p:txBody>
      </p:sp>
      <p:sp>
        <p:nvSpPr>
          <p:cNvPr id="12" name="Text 9"/>
          <p:cNvSpPr/>
          <p:nvPr/>
        </p:nvSpPr>
        <p:spPr>
          <a:xfrm>
            <a:off x="6455664" y="1947672"/>
            <a:ext cx="4572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008C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Notice the changes</a:t>
            </a:r>
            <a:endParaRPr lang="en-US" sz="2100" dirty="0"/>
          </a:p>
        </p:txBody>
      </p:sp>
      <p:sp>
        <p:nvSpPr>
          <p:cNvPr id="13" name="Text 10"/>
          <p:cNvSpPr/>
          <p:nvPr/>
        </p:nvSpPr>
        <p:spPr>
          <a:xfrm>
            <a:off x="6455664" y="2642616"/>
            <a:ext cx="4617720" cy="23500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900" dirty="0">
                <a:solidFill>
                  <a:srgbClr val="19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clear headline starts the reading order. The message is shorter. Date and time sit together. The limited palette gives the notice a consistent appearance.</a:t>
            </a:r>
            <a:endParaRPr lang="en-US" sz="19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08C86"/>
          </a:solidFill>
          <a:ln w="12700">
            <a:solidFill>
              <a:srgbClr val="008C86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685800" y="164592"/>
            <a:ext cx="6400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spc="160" kern="0" dirty="0">
                <a:solidFill>
                  <a:srgbClr val="008C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ITT06105  /  DESKTOP PUBLISHING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9144000" y="164592"/>
            <a:ext cx="2286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900" b="1" spc="100" kern="0" dirty="0">
                <a:solidFill>
                  <a:srgbClr val="586D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PRACTICAL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94944" y="576072"/>
            <a:ext cx="1088136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1930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Your practical: redesign a notice</a:t>
            </a:r>
            <a:endParaRPr lang="en-US" sz="2850" dirty="0"/>
          </a:p>
        </p:txBody>
      </p:sp>
      <p:sp>
        <p:nvSpPr>
          <p:cNvPr id="6" name="Shape 4"/>
          <p:cNvSpPr/>
          <p:nvPr/>
        </p:nvSpPr>
        <p:spPr>
          <a:xfrm>
            <a:off x="685800" y="6446520"/>
            <a:ext cx="10789920" cy="0"/>
          </a:xfrm>
          <a:prstGeom prst="line">
            <a:avLst/>
          </a:prstGeom>
          <a:noFill/>
          <a:ln w="10160">
            <a:solidFill>
              <a:srgbClr val="D2E2E8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13232" y="6510528"/>
            <a:ext cx="8229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586D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DESKTOP PUBLISHING  •  LECTURE 02  •  2026/2027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972800" y="6510528"/>
            <a:ext cx="4297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586D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35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713232" y="1691640"/>
            <a:ext cx="10689336" cy="877824"/>
          </a:xfrm>
          <a:prstGeom prst="roundRect">
            <a:avLst>
              <a:gd name="adj" fmla="val 13542"/>
            </a:avLst>
          </a:prstGeom>
          <a:solidFill>
            <a:srgbClr val="FFFFFF"/>
          </a:solidFill>
          <a:ln w="8890">
            <a:solidFill>
              <a:srgbClr val="CADDE4"/>
            </a:solidFill>
            <a:prstDash val="solid"/>
          </a:ln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914400" y="1847088"/>
            <a:ext cx="521208" cy="530352"/>
          </a:xfrm>
          <a:prstGeom prst="roundRect">
            <a:avLst>
              <a:gd name="adj" fmla="val 22807"/>
            </a:avLst>
          </a:prstGeom>
          <a:solidFill>
            <a:srgbClr val="008C86"/>
          </a:solidFill>
          <a:ln w="8890">
            <a:solidFill>
              <a:srgbClr val="008C86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1005840" y="2011680"/>
            <a:ext cx="34747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673352" y="1865376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008C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Read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3657600" y="1892808"/>
            <a:ext cx="7242048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50" dirty="0">
                <a:solidFill>
                  <a:srgbClr val="19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Identify the audience, message and action.</a:t>
            </a:r>
            <a:endParaRPr lang="en-US" sz="1750" dirty="0"/>
          </a:p>
        </p:txBody>
      </p:sp>
      <p:sp>
        <p:nvSpPr>
          <p:cNvPr id="14" name="Shape 12"/>
          <p:cNvSpPr/>
          <p:nvPr/>
        </p:nvSpPr>
        <p:spPr>
          <a:xfrm>
            <a:off x="713232" y="2724912"/>
            <a:ext cx="10689336" cy="877824"/>
          </a:xfrm>
          <a:prstGeom prst="roundRect">
            <a:avLst>
              <a:gd name="adj" fmla="val 13542"/>
            </a:avLst>
          </a:prstGeom>
          <a:solidFill>
            <a:srgbClr val="E7F5F1"/>
          </a:solidFill>
          <a:ln w="8890">
            <a:solidFill>
              <a:srgbClr val="CADDE4"/>
            </a:solidFill>
            <a:prstDash val="solid"/>
          </a:ln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914400" y="2880360"/>
            <a:ext cx="521208" cy="530352"/>
          </a:xfrm>
          <a:prstGeom prst="roundRect">
            <a:avLst>
              <a:gd name="adj" fmla="val 22807"/>
            </a:avLst>
          </a:prstGeom>
          <a:solidFill>
            <a:srgbClr val="008C86"/>
          </a:solidFill>
          <a:ln w="8890">
            <a:solidFill>
              <a:srgbClr val="008C86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1005840" y="3044952"/>
            <a:ext cx="34747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673352" y="289864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008C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Plan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3657600" y="2926080"/>
            <a:ext cx="7242048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50" dirty="0">
                <a:solidFill>
                  <a:srgbClr val="19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Sketch a heading, supporting line and details.</a:t>
            </a:r>
            <a:endParaRPr lang="en-US" sz="1750" dirty="0"/>
          </a:p>
        </p:txBody>
      </p:sp>
      <p:sp>
        <p:nvSpPr>
          <p:cNvPr id="19" name="Shape 17"/>
          <p:cNvSpPr/>
          <p:nvPr/>
        </p:nvSpPr>
        <p:spPr>
          <a:xfrm>
            <a:off x="713232" y="3758184"/>
            <a:ext cx="10689336" cy="877824"/>
          </a:xfrm>
          <a:prstGeom prst="roundRect">
            <a:avLst>
              <a:gd name="adj" fmla="val 13542"/>
            </a:avLst>
          </a:prstGeom>
          <a:solidFill>
            <a:srgbClr val="FFFFFF"/>
          </a:solidFill>
          <a:ln w="8890">
            <a:solidFill>
              <a:srgbClr val="CADDE4"/>
            </a:solidFill>
            <a:prstDash val="solid"/>
          </a:ln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914400" y="3913632"/>
            <a:ext cx="521208" cy="530352"/>
          </a:xfrm>
          <a:prstGeom prst="roundRect">
            <a:avLst>
              <a:gd name="adj" fmla="val 22807"/>
            </a:avLst>
          </a:prstGeom>
          <a:solidFill>
            <a:srgbClr val="008C86"/>
          </a:solidFill>
          <a:ln w="8890">
            <a:solidFill>
              <a:srgbClr val="008C86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078224"/>
            <a:ext cx="34747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673352" y="393192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008C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Choose</a:t>
            </a:r>
            <a:endParaRPr lang="en-US" sz="1900" dirty="0"/>
          </a:p>
        </p:txBody>
      </p:sp>
      <p:sp>
        <p:nvSpPr>
          <p:cNvPr id="23" name="Text 21"/>
          <p:cNvSpPr/>
          <p:nvPr/>
        </p:nvSpPr>
        <p:spPr>
          <a:xfrm>
            <a:off x="3657600" y="3959352"/>
            <a:ext cx="7242048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50" dirty="0">
                <a:solidFill>
                  <a:srgbClr val="19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Select one or two type styles and a limited palette.</a:t>
            </a:r>
            <a:endParaRPr lang="en-US" sz="1750" dirty="0"/>
          </a:p>
        </p:txBody>
      </p:sp>
      <p:sp>
        <p:nvSpPr>
          <p:cNvPr id="24" name="Shape 22"/>
          <p:cNvSpPr/>
          <p:nvPr/>
        </p:nvSpPr>
        <p:spPr>
          <a:xfrm>
            <a:off x="713232" y="4791456"/>
            <a:ext cx="10689336" cy="877824"/>
          </a:xfrm>
          <a:prstGeom prst="roundRect">
            <a:avLst>
              <a:gd name="adj" fmla="val 13542"/>
            </a:avLst>
          </a:prstGeom>
          <a:solidFill>
            <a:srgbClr val="E7F5F1"/>
          </a:solidFill>
          <a:ln w="8890">
            <a:solidFill>
              <a:srgbClr val="CADDE4"/>
            </a:solidFill>
            <a:prstDash val="solid"/>
          </a:ln>
        </p:spPr>
        <p:txBody>
          <a:bodyPr/>
          <a:p/>
        </p:txBody>
      </p:sp>
      <p:sp>
        <p:nvSpPr>
          <p:cNvPr id="25" name="Shape 23"/>
          <p:cNvSpPr/>
          <p:nvPr/>
        </p:nvSpPr>
        <p:spPr>
          <a:xfrm>
            <a:off x="914400" y="4946904"/>
            <a:ext cx="521208" cy="530352"/>
          </a:xfrm>
          <a:prstGeom prst="roundRect">
            <a:avLst>
              <a:gd name="adj" fmla="val 22807"/>
            </a:avLst>
          </a:prstGeom>
          <a:solidFill>
            <a:srgbClr val="008C86"/>
          </a:solidFill>
          <a:ln w="8890">
            <a:solidFill>
              <a:srgbClr val="008C86"/>
            </a:solidFill>
            <a:prstDash val="solid"/>
          </a:ln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1005840" y="5111496"/>
            <a:ext cx="34747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673352" y="4965192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008C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Explain</a:t>
            </a:r>
            <a:endParaRPr lang="en-US" sz="1900" dirty="0"/>
          </a:p>
        </p:txBody>
      </p:sp>
      <p:sp>
        <p:nvSpPr>
          <p:cNvPr id="28" name="Text 26"/>
          <p:cNvSpPr/>
          <p:nvPr/>
        </p:nvSpPr>
        <p:spPr>
          <a:xfrm>
            <a:off x="3657600" y="4992624"/>
            <a:ext cx="7242048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50" dirty="0">
                <a:solidFill>
                  <a:srgbClr val="19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Give three reasons why your version is clearer.</a:t>
            </a:r>
            <a:endParaRPr lang="en-US" sz="175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08C86"/>
          </a:solidFill>
          <a:ln w="12700">
            <a:solidFill>
              <a:srgbClr val="008C86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685800" y="164592"/>
            <a:ext cx="6400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spc="160" kern="0" dirty="0">
                <a:solidFill>
                  <a:srgbClr val="008C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ITT06105  /  DESKTOP PUBLISHING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9144000" y="164592"/>
            <a:ext cx="2286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900" b="1" spc="100" kern="0" dirty="0">
                <a:solidFill>
                  <a:srgbClr val="586D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PRACTICAL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94944" y="576072"/>
            <a:ext cx="1088136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1930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Self-check before submitting your sketch</a:t>
            </a:r>
            <a:endParaRPr lang="en-US" sz="2850" dirty="0"/>
          </a:p>
        </p:txBody>
      </p:sp>
      <p:sp>
        <p:nvSpPr>
          <p:cNvPr id="6" name="Shape 4"/>
          <p:cNvSpPr/>
          <p:nvPr/>
        </p:nvSpPr>
        <p:spPr>
          <a:xfrm>
            <a:off x="685800" y="6446520"/>
            <a:ext cx="10789920" cy="0"/>
          </a:xfrm>
          <a:prstGeom prst="line">
            <a:avLst/>
          </a:prstGeom>
          <a:noFill/>
          <a:ln w="10160">
            <a:solidFill>
              <a:srgbClr val="D2E2E8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13232" y="6510528"/>
            <a:ext cx="8229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586D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DESKTOP PUBLISHING  •  LECTURE 02  •  2026/2027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972800" y="6510528"/>
            <a:ext cx="4297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586D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36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713232" y="1746504"/>
            <a:ext cx="5184648" cy="3520440"/>
          </a:xfrm>
          <a:prstGeom prst="roundRect">
            <a:avLst>
              <a:gd name="adj" fmla="val 3377"/>
            </a:avLst>
          </a:prstGeom>
          <a:solidFill>
            <a:srgbClr val="FFFFFF"/>
          </a:solidFill>
          <a:ln w="8890">
            <a:solidFill>
              <a:srgbClr val="CADDE4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932688" y="1929384"/>
            <a:ext cx="47457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08C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Content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932688" y="2478024"/>
            <a:ext cx="4745736" cy="2633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40" dirty="0">
                <a:solidFill>
                  <a:srgbClr val="19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Can a reader identify the title, date, time and organisation without searching? Is any essential information missing?</a:t>
            </a:r>
            <a:endParaRPr lang="en-US" sz="1740" dirty="0"/>
          </a:p>
        </p:txBody>
      </p:sp>
      <p:sp>
        <p:nvSpPr>
          <p:cNvPr id="12" name="Shape 10"/>
          <p:cNvSpPr/>
          <p:nvPr/>
        </p:nvSpPr>
        <p:spPr>
          <a:xfrm>
            <a:off x="6144768" y="1746504"/>
            <a:ext cx="5312664" cy="3520440"/>
          </a:xfrm>
          <a:prstGeom prst="roundRect">
            <a:avLst>
              <a:gd name="adj" fmla="val 3377"/>
            </a:avLst>
          </a:prstGeom>
          <a:solidFill>
            <a:srgbClr val="FFFFFF"/>
          </a:solidFill>
          <a:ln w="8890">
            <a:solidFill>
              <a:srgbClr val="CADDE4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364224" y="1929384"/>
            <a:ext cx="48737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08C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Design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6364224" y="2478024"/>
            <a:ext cx="4873752" cy="2633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40" dirty="0">
                <a:solidFill>
                  <a:srgbClr val="19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Is the heading clearly larger than the body? Are alignments consistent? Is contrast sufficient? Have you avoided too many fonts or colours?</a:t>
            </a:r>
            <a:endParaRPr lang="en-US" sz="1740" dirty="0"/>
          </a:p>
        </p:txBody>
      </p:sp>
      <p:sp>
        <p:nvSpPr>
          <p:cNvPr id="15" name="Shape 13"/>
          <p:cNvSpPr/>
          <p:nvPr/>
        </p:nvSpPr>
        <p:spPr>
          <a:xfrm>
            <a:off x="713232" y="5715000"/>
            <a:ext cx="10744200" cy="502920"/>
          </a:xfrm>
          <a:prstGeom prst="roundRect">
            <a:avLst>
              <a:gd name="adj" fmla="val 23636"/>
            </a:avLst>
          </a:prstGeom>
          <a:solidFill>
            <a:srgbClr val="E7F5F1"/>
          </a:solidFill>
          <a:ln w="8890">
            <a:solidFill>
              <a:srgbClr val="E7F5F1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914400" y="5824728"/>
            <a:ext cx="102961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19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You may complete this first design on paper; software is not required for the essential activity.</a:t>
            </a:r>
            <a:endParaRPr lang="en-US" sz="15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08C86"/>
          </a:solidFill>
          <a:ln w="12700">
            <a:solidFill>
              <a:srgbClr val="008C86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685800" y="164592"/>
            <a:ext cx="6400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spc="160" kern="0" dirty="0">
                <a:solidFill>
                  <a:srgbClr val="008C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ITT06105  /  DESKTOP PUBLISHING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9144000" y="164592"/>
            <a:ext cx="2286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900" b="1" spc="100" kern="0" dirty="0">
                <a:solidFill>
                  <a:srgbClr val="586D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REVISION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94944" y="576072"/>
            <a:ext cx="1088136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1930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Essential terms to remember</a:t>
            </a:r>
            <a:endParaRPr lang="en-US" sz="2850" dirty="0"/>
          </a:p>
        </p:txBody>
      </p:sp>
      <p:sp>
        <p:nvSpPr>
          <p:cNvPr id="6" name="Shape 4"/>
          <p:cNvSpPr/>
          <p:nvPr/>
        </p:nvSpPr>
        <p:spPr>
          <a:xfrm>
            <a:off x="685800" y="6446520"/>
            <a:ext cx="10789920" cy="0"/>
          </a:xfrm>
          <a:prstGeom prst="line">
            <a:avLst/>
          </a:prstGeom>
          <a:noFill/>
          <a:ln w="10160">
            <a:solidFill>
              <a:srgbClr val="D2E2E8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13232" y="6510528"/>
            <a:ext cx="8229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586D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DESKTOP PUBLISHING  •  LECTURE 02  •  2026/2027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972800" y="6510528"/>
            <a:ext cx="4297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586D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37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749808" y="1700784"/>
            <a:ext cx="5184648" cy="795528"/>
          </a:xfrm>
          <a:prstGeom prst="roundRect">
            <a:avLst>
              <a:gd name="adj" fmla="val 14943"/>
            </a:avLst>
          </a:prstGeom>
          <a:solidFill>
            <a:srgbClr val="FFFFFF"/>
          </a:solidFill>
          <a:ln w="8890">
            <a:solidFill>
              <a:srgbClr val="CADDE4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950976" y="1883664"/>
            <a:ext cx="14813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008C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Raster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2423160" y="1883664"/>
            <a:ext cx="3255264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19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Pixels; photographs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163056" y="1700784"/>
            <a:ext cx="5184648" cy="795528"/>
          </a:xfrm>
          <a:prstGeom prst="roundRect">
            <a:avLst>
              <a:gd name="adj" fmla="val 14943"/>
            </a:avLst>
          </a:prstGeom>
          <a:solidFill>
            <a:srgbClr val="FFFFFF"/>
          </a:solidFill>
          <a:ln w="8890">
            <a:solidFill>
              <a:srgbClr val="CADDE4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364224" y="1883664"/>
            <a:ext cx="14813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008C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Vector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7836408" y="1883664"/>
            <a:ext cx="3255264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19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Paths; scalable icons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749808" y="2679192"/>
            <a:ext cx="5184648" cy="795528"/>
          </a:xfrm>
          <a:prstGeom prst="roundRect">
            <a:avLst>
              <a:gd name="adj" fmla="val 14943"/>
            </a:avLst>
          </a:prstGeom>
          <a:solidFill>
            <a:srgbClr val="FFFFFF"/>
          </a:solidFill>
          <a:ln w="8890">
            <a:solidFill>
              <a:srgbClr val="CADDE4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950976" y="2862072"/>
            <a:ext cx="14813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008C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Typography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2423160" y="2862072"/>
            <a:ext cx="3255264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19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Readable arrangement of text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6163056" y="2679192"/>
            <a:ext cx="5184648" cy="795528"/>
          </a:xfrm>
          <a:prstGeom prst="roundRect">
            <a:avLst>
              <a:gd name="adj" fmla="val 14943"/>
            </a:avLst>
          </a:prstGeom>
          <a:solidFill>
            <a:srgbClr val="FFFFFF"/>
          </a:solidFill>
          <a:ln w="8890">
            <a:solidFill>
              <a:srgbClr val="CADDE4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6364224" y="2862072"/>
            <a:ext cx="14813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008C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Contrast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7836408" y="2862072"/>
            <a:ext cx="3255264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19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Difference that improves visibility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749808" y="3657600"/>
            <a:ext cx="5184648" cy="795528"/>
          </a:xfrm>
          <a:prstGeom prst="roundRect">
            <a:avLst>
              <a:gd name="adj" fmla="val 14943"/>
            </a:avLst>
          </a:prstGeom>
          <a:solidFill>
            <a:srgbClr val="FFFFFF"/>
          </a:solidFill>
          <a:ln w="8890">
            <a:solidFill>
              <a:srgbClr val="CADDE4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950976" y="3840480"/>
            <a:ext cx="14813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008C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JPEG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2423160" y="3840480"/>
            <a:ext cx="3255264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19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Common lossy photo format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6163056" y="3657600"/>
            <a:ext cx="5184648" cy="795528"/>
          </a:xfrm>
          <a:prstGeom prst="roundRect">
            <a:avLst>
              <a:gd name="adj" fmla="val 14943"/>
            </a:avLst>
          </a:prstGeom>
          <a:solidFill>
            <a:srgbClr val="FFFFFF"/>
          </a:solidFill>
          <a:ln w="8890">
            <a:solidFill>
              <a:srgbClr val="CADDE4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6364224" y="3840480"/>
            <a:ext cx="14813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008C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PNG</a:t>
            </a:r>
            <a:endParaRPr lang="en-US" sz="1700" dirty="0"/>
          </a:p>
        </p:txBody>
      </p:sp>
      <p:sp>
        <p:nvSpPr>
          <p:cNvPr id="26" name="Text 24"/>
          <p:cNvSpPr/>
          <p:nvPr/>
        </p:nvSpPr>
        <p:spPr>
          <a:xfrm>
            <a:off x="7836408" y="3840480"/>
            <a:ext cx="3255264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19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Lossless raster with transparency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749808" y="4636008"/>
            <a:ext cx="5184648" cy="795528"/>
          </a:xfrm>
          <a:prstGeom prst="roundRect">
            <a:avLst>
              <a:gd name="adj" fmla="val 14943"/>
            </a:avLst>
          </a:prstGeom>
          <a:solidFill>
            <a:srgbClr val="FFFFFF"/>
          </a:solidFill>
          <a:ln w="8890">
            <a:solidFill>
              <a:srgbClr val="CADDE4"/>
            </a:solidFill>
            <a:prstDash val="solid"/>
          </a:ln>
        </p:spPr>
        <p:txBody>
          <a:bodyPr/>
          <a:p/>
        </p:txBody>
      </p:sp>
      <p:sp>
        <p:nvSpPr>
          <p:cNvPr id="28" name="Text 26"/>
          <p:cNvSpPr/>
          <p:nvPr/>
        </p:nvSpPr>
        <p:spPr>
          <a:xfrm>
            <a:off x="950976" y="4818888"/>
            <a:ext cx="14813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008C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SVG</a:t>
            </a:r>
            <a:endParaRPr lang="en-US" sz="1700" dirty="0"/>
          </a:p>
        </p:txBody>
      </p:sp>
      <p:sp>
        <p:nvSpPr>
          <p:cNvPr id="29" name="Text 27"/>
          <p:cNvSpPr/>
          <p:nvPr/>
        </p:nvSpPr>
        <p:spPr>
          <a:xfrm>
            <a:off x="2423160" y="4818888"/>
            <a:ext cx="3255264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19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Scalable vector graphic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6163056" y="4636008"/>
            <a:ext cx="5184648" cy="795528"/>
          </a:xfrm>
          <a:prstGeom prst="roundRect">
            <a:avLst>
              <a:gd name="adj" fmla="val 14943"/>
            </a:avLst>
          </a:prstGeom>
          <a:solidFill>
            <a:srgbClr val="FFFFFF"/>
          </a:solidFill>
          <a:ln w="8890">
            <a:solidFill>
              <a:srgbClr val="CADDE4"/>
            </a:solidFill>
            <a:prstDash val="solid"/>
          </a:ln>
        </p:spPr>
        <p:txBody>
          <a:bodyPr/>
          <a:p/>
        </p:txBody>
      </p:sp>
      <p:sp>
        <p:nvSpPr>
          <p:cNvPr id="31" name="Text 29"/>
          <p:cNvSpPr/>
          <p:nvPr/>
        </p:nvSpPr>
        <p:spPr>
          <a:xfrm>
            <a:off x="6364224" y="4818888"/>
            <a:ext cx="14813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008C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Hierarchy</a:t>
            </a:r>
            <a:endParaRPr lang="en-US" sz="1700" dirty="0"/>
          </a:p>
        </p:txBody>
      </p:sp>
      <p:sp>
        <p:nvSpPr>
          <p:cNvPr id="32" name="Text 30"/>
          <p:cNvSpPr/>
          <p:nvPr/>
        </p:nvSpPr>
        <p:spPr>
          <a:xfrm>
            <a:off x="7836408" y="4818888"/>
            <a:ext cx="3255264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19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Order of importance on a page</a:t>
            </a:r>
            <a:endParaRPr lang="en-US" sz="16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08C86"/>
          </a:solidFill>
          <a:ln w="12700">
            <a:solidFill>
              <a:srgbClr val="008C86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685800" y="164592"/>
            <a:ext cx="6400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spc="160" kern="0" dirty="0">
                <a:solidFill>
                  <a:srgbClr val="008C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ITT06105  /  DESKTOP PUBLISHING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9144000" y="164592"/>
            <a:ext cx="2286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900" b="1" spc="100" kern="0" dirty="0">
                <a:solidFill>
                  <a:srgbClr val="586D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REVISION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94944" y="576072"/>
            <a:ext cx="1088136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1930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Check your understanding</a:t>
            </a:r>
            <a:endParaRPr lang="en-US" sz="2850" dirty="0"/>
          </a:p>
        </p:txBody>
      </p:sp>
      <p:sp>
        <p:nvSpPr>
          <p:cNvPr id="6" name="Shape 4"/>
          <p:cNvSpPr/>
          <p:nvPr/>
        </p:nvSpPr>
        <p:spPr>
          <a:xfrm>
            <a:off x="685800" y="6446520"/>
            <a:ext cx="10789920" cy="0"/>
          </a:xfrm>
          <a:prstGeom prst="line">
            <a:avLst/>
          </a:prstGeom>
          <a:noFill/>
          <a:ln w="10160">
            <a:solidFill>
              <a:srgbClr val="D2E2E8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13232" y="6510528"/>
            <a:ext cx="8229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586D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DESKTOP PUBLISHING  •  LECTURE 02  •  2026/2027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972800" y="6510528"/>
            <a:ext cx="4297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586D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38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731520" y="1719072"/>
            <a:ext cx="10680192" cy="4197096"/>
          </a:xfrm>
          <a:prstGeom prst="roundRect">
            <a:avLst>
              <a:gd name="adj" fmla="val 2832"/>
            </a:avLst>
          </a:prstGeom>
          <a:solidFill>
            <a:srgbClr val="FFFFFF"/>
          </a:solidFill>
          <a:ln w="8890">
            <a:solidFill>
              <a:srgbClr val="CADDE4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024128" y="1984248"/>
            <a:ext cx="10040112" cy="36027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9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 Explain how raster and vector graphics differ.</a:t>
            </a:r>
            <a:endParaRPr lang="en-US" sz="1800" dirty="0"/>
          </a:p>
          <a:p>
            <a:pPr algn="l" indent="0" marL="0">
              <a:buNone/>
            </a:pP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19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 Why is JPEG often suitable for photographs, but SVG useful for logos?</a:t>
            </a:r>
            <a:endParaRPr lang="en-US" sz="1800" dirty="0"/>
          </a:p>
          <a:p>
            <a:pPr algn="l" indent="0" marL="0">
              <a:buNone/>
            </a:pP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19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 Name three typography decisions that improve readability.</a:t>
            </a:r>
            <a:endParaRPr lang="en-US" sz="1800" dirty="0"/>
          </a:p>
          <a:p>
            <a:pPr algn="l" indent="0" marL="0">
              <a:buNone/>
            </a:pP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19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 Give two ways colour can help a reader understand a notice.</a:t>
            </a:r>
            <a:endParaRPr lang="en-US" sz="1800" dirty="0"/>
          </a:p>
          <a:p>
            <a:pPr algn="l" indent="0" marL="0">
              <a:buNone/>
            </a:pP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19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5. Why should colour not be the only way to communicate urgency?</a:t>
            </a:r>
            <a:endParaRPr lang="en-US" sz="18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08C86"/>
          </a:solidFill>
          <a:ln w="12700">
            <a:solidFill>
              <a:srgbClr val="008C86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685800" y="164592"/>
            <a:ext cx="6400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spc="160" kern="0" dirty="0">
                <a:solidFill>
                  <a:srgbClr val="008C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ITT06105  /  DESKTOP PUBLISHING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9144000" y="164592"/>
            <a:ext cx="2286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900" b="1" spc="100" kern="0" dirty="0">
                <a:solidFill>
                  <a:srgbClr val="586D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LOOK AHEAD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94944" y="576072"/>
            <a:ext cx="1088136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1930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Next: planning a publication</a:t>
            </a:r>
            <a:endParaRPr lang="en-US" sz="2850" dirty="0"/>
          </a:p>
        </p:txBody>
      </p:sp>
      <p:sp>
        <p:nvSpPr>
          <p:cNvPr id="6" name="Shape 4"/>
          <p:cNvSpPr/>
          <p:nvPr/>
        </p:nvSpPr>
        <p:spPr>
          <a:xfrm>
            <a:off x="685800" y="6446520"/>
            <a:ext cx="10789920" cy="0"/>
          </a:xfrm>
          <a:prstGeom prst="line">
            <a:avLst/>
          </a:prstGeom>
          <a:noFill/>
          <a:ln w="10160">
            <a:solidFill>
              <a:srgbClr val="D2E2E8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13232" y="6510528"/>
            <a:ext cx="8229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586D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DESKTOP PUBLISHING  •  LECTURE 02  •  2026/2027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972800" y="6510528"/>
            <a:ext cx="4297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586D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758952" y="1792224"/>
            <a:ext cx="10643616" cy="3593592"/>
          </a:xfrm>
          <a:prstGeom prst="roundRect">
            <a:avLst>
              <a:gd name="adj" fmla="val 3308"/>
            </a:avLst>
          </a:prstGeom>
          <a:solidFill>
            <a:srgbClr val="E7F5F1"/>
          </a:solidFill>
          <a:ln w="8890">
            <a:solidFill>
              <a:srgbClr val="E7F5F1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133856" y="2176272"/>
            <a:ext cx="9738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9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good publication begins with a plan.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1143000" y="3154680"/>
            <a:ext cx="9829800" cy="16367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9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 Lecture 3, you will turn a brief into a short content outline and a simple page sketch. Bring your redesigned notice: it is an early example of how layout decisions follow the needs of a reader.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39</Slides>
  <Notes>39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39</vt:i4>
      </vt:variant>
    </vt:vector>
  </HeadingPairs>
  <TitlesOfParts>
    <vt:vector size="4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Working with Text, Images and Colour</dc:title>
  <dc:subject>Condensed Lecture 02</dc:subject>
  <dc:creator>ITT06105 Teaching Materials</dc:creator>
  <cp:lastModifiedBy>ITT06105 Teaching Materials</cp:lastModifiedBy>
  <cp:revision>1</cp:revision>
  <dcterms:created xsi:type="dcterms:W3CDTF">2026-10-21T11:45:56Z</dcterms:created>
  <dcterms:modified xsi:type="dcterms:W3CDTF">2026-10-21T11:45:56Z</dcterms:modified>
</cp:coreProperties>
</file>