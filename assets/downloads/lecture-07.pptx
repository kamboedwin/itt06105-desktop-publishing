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552"/>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78A91"/>
          </a:solidFill>
          <a:ln w="12700">
            <a:solidFill>
              <a:srgbClr val="078A91"/>
            </a:solidFill>
            <a:prstDash val="solid"/>
          </a:ln>
        </p:spPr>
        <p:txBody>
          <a:bodyPr/>
          <a:p/>
        </p:txBody>
      </p:sp>
      <p:sp>
        <p:nvSpPr>
          <p:cNvPr id="3" name="Shape 1"/>
          <p:cNvSpPr/>
          <p:nvPr/>
        </p:nvSpPr>
        <p:spPr>
          <a:xfrm>
            <a:off x="594360" y="502920"/>
            <a:ext cx="3794760" cy="502920"/>
          </a:xfrm>
          <a:prstGeom prst="roundRect">
            <a:avLst>
              <a:gd name="adj" fmla="val 25455"/>
            </a:avLst>
          </a:prstGeom>
          <a:solidFill>
            <a:srgbClr val="21435C"/>
          </a:solidFill>
          <a:ln w="12700">
            <a:solidFill>
              <a:srgbClr val="21435C"/>
            </a:solidFill>
            <a:prstDash val="solid"/>
          </a:ln>
        </p:spPr>
        <p:txBody>
          <a:bodyPr/>
          <a:p/>
        </p:txBody>
      </p:sp>
      <p:sp>
        <p:nvSpPr>
          <p:cNvPr id="4" name="Text 2"/>
          <p:cNvSpPr/>
          <p:nvPr/>
        </p:nvSpPr>
        <p:spPr>
          <a:xfrm>
            <a:off x="786384" y="658368"/>
            <a:ext cx="3383280" cy="182880"/>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Aptos" pitchFamily="34" charset="0"/>
                <a:ea typeface="Aptos" pitchFamily="34" charset="-122"/>
                <a:cs typeface="Aptos" pitchFamily="34" charset="-120"/>
              </a:rPr>
              <a:t>ITT06105  •  DESKTOP PUBLISHING</a:t>
            </a:r>
            <a:endParaRPr lang="en-US" sz="1300" dirty="0"/>
          </a:p>
        </p:txBody>
      </p:sp>
      <p:sp>
        <p:nvSpPr>
          <p:cNvPr id="5" name="Text 3"/>
          <p:cNvSpPr/>
          <p:nvPr/>
        </p:nvSpPr>
        <p:spPr>
          <a:xfrm>
            <a:off x="768096" y="1508760"/>
            <a:ext cx="9601200" cy="457200"/>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INTRODUCTION TO</a:t>
            </a:r>
            <a:endParaRPr lang="en-US" sz="2500" dirty="0"/>
          </a:p>
        </p:txBody>
      </p:sp>
      <p:sp>
        <p:nvSpPr>
          <p:cNvPr id="6" name="Text 4"/>
          <p:cNvSpPr/>
          <p:nvPr/>
        </p:nvSpPr>
        <p:spPr>
          <a:xfrm>
            <a:off x="758952" y="2112264"/>
            <a:ext cx="10442448" cy="676656"/>
          </a:xfrm>
          <a:prstGeom prst="rect">
            <a:avLst/>
          </a:prstGeom>
          <a:noFill/>
          <a:ln/>
        </p:spPr>
        <p:txBody>
          <a:bodyPr wrap="square" lIns="0" tIns="0" rIns="0" bIns="0" rtlCol="0" anchor="ctr">
            <a:normAutofit/>
          </a:bodyPr>
          <a:lstStyle/>
          <a:p>
            <a:pPr indent="0" marL="0">
              <a:buNone/>
            </a:pPr>
            <a:r>
              <a:rPr lang="en-US" sz="3900" b="1" dirty="0">
                <a:solidFill>
                  <a:srgbClr val="FFFFFF"/>
                </a:solidFill>
                <a:latin typeface="Aptos" pitchFamily="34" charset="0"/>
                <a:ea typeface="Aptos" pitchFamily="34" charset="-122"/>
                <a:cs typeface="Aptos" pitchFamily="34" charset="-120"/>
              </a:rPr>
              <a:t>DOCUMENT LAYOUT</a:t>
            </a:r>
            <a:endParaRPr lang="en-US" sz="3900" dirty="0"/>
          </a:p>
        </p:txBody>
      </p:sp>
      <p:sp>
        <p:nvSpPr>
          <p:cNvPr id="7" name="Text 5"/>
          <p:cNvSpPr/>
          <p:nvPr/>
        </p:nvSpPr>
        <p:spPr>
          <a:xfrm>
            <a:off x="786384" y="2916936"/>
            <a:ext cx="9144000" cy="384048"/>
          </a:xfrm>
          <a:prstGeom prst="rect">
            <a:avLst/>
          </a:prstGeom>
          <a:noFill/>
          <a:ln/>
        </p:spPr>
        <p:txBody>
          <a:bodyPr wrap="square" lIns="0" tIns="0" rIns="0" bIns="0" rtlCol="0" anchor="ctr">
            <a:normAutofit/>
          </a:bodyPr>
          <a:lstStyle/>
          <a:p>
            <a:pPr indent="0" marL="0">
              <a:buNone/>
            </a:pPr>
            <a:r>
              <a:rPr lang="en-US" sz="2300" b="1" dirty="0">
                <a:solidFill>
                  <a:srgbClr val="A4CDD0"/>
                </a:solidFill>
                <a:latin typeface="Aptos" pitchFamily="34" charset="0"/>
                <a:ea typeface="Aptos" pitchFamily="34" charset="-122"/>
                <a:cs typeface="Aptos" pitchFamily="34" charset="-120"/>
              </a:rPr>
              <a:t>WITH ADOBE INDESIGN</a:t>
            </a:r>
            <a:endParaRPr lang="en-US" sz="2300" dirty="0"/>
          </a:p>
        </p:txBody>
      </p:sp>
      <p:sp>
        <p:nvSpPr>
          <p:cNvPr id="8" name="Text 6"/>
          <p:cNvSpPr/>
          <p:nvPr/>
        </p:nvSpPr>
        <p:spPr>
          <a:xfrm>
            <a:off x="786384" y="3675888"/>
            <a:ext cx="10698480" cy="347472"/>
          </a:xfrm>
          <a:prstGeom prst="rect">
            <a:avLst/>
          </a:prstGeom>
          <a:noFill/>
          <a:ln/>
        </p:spPr>
        <p:txBody>
          <a:bodyPr wrap="square" lIns="0" tIns="0" rIns="0" bIns="0" rtlCol="0" anchor="ctr">
            <a:normAutofit/>
          </a:bodyPr>
          <a:lstStyle/>
          <a:p>
            <a:pPr indent="0" marL="0">
              <a:buNone/>
            </a:pPr>
            <a:r>
              <a:rPr lang="en-US" sz="1800" dirty="0">
                <a:solidFill>
                  <a:srgbClr val="FFFFFF"/>
                </a:solidFill>
                <a:latin typeface="Aptos" pitchFamily="34" charset="0"/>
                <a:ea typeface="Aptos" pitchFamily="34" charset="-122"/>
                <a:cs typeface="Aptos" pitchFamily="34" charset="-120"/>
              </a:rPr>
              <a:t>Lecture 07   |   Diploma in Information Technology</a:t>
            </a:r>
            <a:endParaRPr lang="en-US" sz="1800" dirty="0"/>
          </a:p>
        </p:txBody>
      </p:sp>
      <p:sp>
        <p:nvSpPr>
          <p:cNvPr id="9" name="Shape 7"/>
          <p:cNvSpPr/>
          <p:nvPr/>
        </p:nvSpPr>
        <p:spPr>
          <a:xfrm>
            <a:off x="786384" y="4773168"/>
            <a:ext cx="10442448" cy="758952"/>
          </a:xfrm>
          <a:prstGeom prst="roundRect">
            <a:avLst>
              <a:gd name="adj" fmla="val 16867"/>
            </a:avLst>
          </a:prstGeom>
          <a:solidFill>
            <a:srgbClr val="21435C"/>
          </a:solidFill>
          <a:ln w="12700">
            <a:solidFill>
              <a:srgbClr val="21435C"/>
            </a:solidFill>
            <a:prstDash val="solid"/>
          </a:ln>
        </p:spPr>
        <p:txBody>
          <a:bodyPr/>
          <a:p/>
        </p:txBody>
      </p:sp>
      <p:sp>
        <p:nvSpPr>
          <p:cNvPr id="10" name="Text 8"/>
          <p:cNvSpPr/>
          <p:nvPr/>
        </p:nvSpPr>
        <p:spPr>
          <a:xfrm>
            <a:off x="987552" y="4974336"/>
            <a:ext cx="9966960" cy="347472"/>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ptos" pitchFamily="34" charset="0"/>
                <a:ea typeface="Aptos" pitchFamily="34" charset="-122"/>
                <a:cs typeface="Aptos" pitchFamily="34" charset="-120"/>
              </a:rPr>
              <a:t>From Photoshop image + Illustrator icon  →  A4 educational hand-out</a:t>
            </a:r>
            <a:endParaRPr lang="en-US" sz="2000" dirty="0"/>
          </a:p>
        </p:txBody>
      </p:sp>
      <p:sp>
        <p:nvSpPr>
          <p:cNvPr id="11" name="Text 9"/>
          <p:cNvSpPr/>
          <p:nvPr/>
        </p:nvSpPr>
        <p:spPr>
          <a:xfrm>
            <a:off x="786384" y="6309360"/>
            <a:ext cx="4572000" cy="210312"/>
          </a:xfrm>
          <a:prstGeom prst="rect">
            <a:avLst/>
          </a:prstGeom>
          <a:noFill/>
          <a:ln/>
        </p:spPr>
        <p:txBody>
          <a:bodyPr wrap="square" lIns="0" tIns="0" rIns="0" bIns="0" rtlCol="0" anchor="ctr">
            <a:normAutofit/>
          </a:bodyPr>
          <a:lstStyle/>
          <a:p>
            <a:pPr indent="0" marL="0">
              <a:buNone/>
            </a:pPr>
            <a:r>
              <a:rPr lang="en-US" sz="1300" dirty="0">
                <a:solidFill>
                  <a:srgbClr val="BDD0DB"/>
                </a:solidFill>
                <a:latin typeface="Aptos" pitchFamily="34" charset="0"/>
                <a:ea typeface="Aptos" pitchFamily="34" charset="-122"/>
                <a:cs typeface="Aptos" pitchFamily="34" charset="-120"/>
              </a:rPr>
              <a:t>Academic year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LEARNING OUTCOMES</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What you will learn</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Five practical outcomes for this lecture.</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02</a:t>
            </a:r>
            <a:endParaRPr lang="en-US" sz="1000" dirty="0"/>
          </a:p>
        </p:txBody>
      </p:sp>
      <p:sp>
        <p:nvSpPr>
          <p:cNvPr id="11" name="Shape 9"/>
          <p:cNvSpPr/>
          <p:nvPr/>
        </p:nvSpPr>
        <p:spPr>
          <a:xfrm>
            <a:off x="594360" y="1874520"/>
            <a:ext cx="11009376" cy="737006"/>
          </a:xfrm>
          <a:prstGeom prst="roundRect">
            <a:avLst>
              <a:gd name="adj" fmla="val 17370"/>
            </a:avLst>
          </a:prstGeom>
          <a:solidFill>
            <a:srgbClr val="FFFFFF"/>
          </a:solidFill>
          <a:ln w="12700">
            <a:solidFill>
              <a:srgbClr val="D3E3E9"/>
            </a:solidFill>
            <a:prstDash val="solid"/>
          </a:ln>
        </p:spPr>
        <p:txBody>
          <a:bodyPr/>
          <a:p/>
        </p:txBody>
      </p:sp>
      <p:sp>
        <p:nvSpPr>
          <p:cNvPr id="12" name="Shape 10"/>
          <p:cNvSpPr/>
          <p:nvPr/>
        </p:nvSpPr>
        <p:spPr>
          <a:xfrm>
            <a:off x="768096" y="2029968"/>
            <a:ext cx="566928" cy="416966"/>
          </a:xfrm>
          <a:prstGeom prst="roundRect">
            <a:avLst>
              <a:gd name="adj" fmla="val 30702"/>
            </a:avLst>
          </a:prstGeom>
          <a:solidFill>
            <a:srgbClr val="078A91"/>
          </a:solidFill>
          <a:ln w="12700">
            <a:solidFill>
              <a:srgbClr val="078A91"/>
            </a:solidFill>
            <a:prstDash val="solid"/>
          </a:ln>
        </p:spPr>
        <p:txBody>
          <a:bodyPr/>
          <a:p/>
        </p:txBody>
      </p:sp>
      <p:sp>
        <p:nvSpPr>
          <p:cNvPr id="13" name="Text 11"/>
          <p:cNvSpPr/>
          <p:nvPr/>
        </p:nvSpPr>
        <p:spPr>
          <a:xfrm>
            <a:off x="932688" y="2066544"/>
            <a:ext cx="256032" cy="32552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54480" y="2011680"/>
            <a:ext cx="3035808" cy="46268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Understand</a:t>
            </a:r>
            <a:endParaRPr lang="en-US" sz="1860" dirty="0"/>
          </a:p>
        </p:txBody>
      </p:sp>
      <p:sp>
        <p:nvSpPr>
          <p:cNvPr id="15" name="Text 13"/>
          <p:cNvSpPr/>
          <p:nvPr/>
        </p:nvSpPr>
        <p:spPr>
          <a:xfrm>
            <a:off x="4572000" y="2011680"/>
            <a:ext cx="6601968" cy="46268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Explain what page-layout software does and recognise InDesign workspace parts.</a:t>
            </a:r>
            <a:endParaRPr lang="en-US" sz="1790" dirty="0"/>
          </a:p>
        </p:txBody>
      </p:sp>
      <p:sp>
        <p:nvSpPr>
          <p:cNvPr id="16" name="Shape 14"/>
          <p:cNvSpPr/>
          <p:nvPr/>
        </p:nvSpPr>
        <p:spPr>
          <a:xfrm>
            <a:off x="594360" y="2730398"/>
            <a:ext cx="11009376" cy="737006"/>
          </a:xfrm>
          <a:prstGeom prst="roundRect">
            <a:avLst>
              <a:gd name="adj" fmla="val 17370"/>
            </a:avLst>
          </a:prstGeom>
          <a:solidFill>
            <a:srgbClr val="FFFFFF"/>
          </a:solidFill>
          <a:ln w="12700">
            <a:solidFill>
              <a:srgbClr val="D3E3E9"/>
            </a:solidFill>
            <a:prstDash val="solid"/>
          </a:ln>
        </p:spPr>
        <p:txBody>
          <a:bodyPr/>
          <a:p/>
        </p:txBody>
      </p:sp>
      <p:sp>
        <p:nvSpPr>
          <p:cNvPr id="17" name="Shape 15"/>
          <p:cNvSpPr/>
          <p:nvPr/>
        </p:nvSpPr>
        <p:spPr>
          <a:xfrm>
            <a:off x="768096" y="2885846"/>
            <a:ext cx="566928" cy="416966"/>
          </a:xfrm>
          <a:prstGeom prst="roundRect">
            <a:avLst>
              <a:gd name="adj" fmla="val 30702"/>
            </a:avLst>
          </a:prstGeom>
          <a:solidFill>
            <a:srgbClr val="173552"/>
          </a:solidFill>
          <a:ln w="12700">
            <a:solidFill>
              <a:srgbClr val="173552"/>
            </a:solidFill>
            <a:prstDash val="solid"/>
          </a:ln>
        </p:spPr>
        <p:txBody>
          <a:bodyPr/>
          <a:p/>
        </p:txBody>
      </p:sp>
      <p:sp>
        <p:nvSpPr>
          <p:cNvPr id="18" name="Text 16"/>
          <p:cNvSpPr/>
          <p:nvPr/>
        </p:nvSpPr>
        <p:spPr>
          <a:xfrm>
            <a:off x="932688" y="2922422"/>
            <a:ext cx="256032" cy="32552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54480" y="2867558"/>
            <a:ext cx="3035808" cy="46268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Set up</a:t>
            </a:r>
            <a:endParaRPr lang="en-US" sz="1860" dirty="0"/>
          </a:p>
        </p:txBody>
      </p:sp>
      <p:sp>
        <p:nvSpPr>
          <p:cNvPr id="20" name="Text 18"/>
          <p:cNvSpPr/>
          <p:nvPr/>
        </p:nvSpPr>
        <p:spPr>
          <a:xfrm>
            <a:off x="4572000" y="2867558"/>
            <a:ext cx="6601968" cy="46268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Create a single A4 portrait page with a consistent content margin.</a:t>
            </a:r>
            <a:endParaRPr lang="en-US" sz="1790" dirty="0"/>
          </a:p>
        </p:txBody>
      </p:sp>
      <p:sp>
        <p:nvSpPr>
          <p:cNvPr id="21" name="Shape 19"/>
          <p:cNvSpPr/>
          <p:nvPr/>
        </p:nvSpPr>
        <p:spPr>
          <a:xfrm>
            <a:off x="594360" y="3586277"/>
            <a:ext cx="11009376" cy="737006"/>
          </a:xfrm>
          <a:prstGeom prst="roundRect">
            <a:avLst>
              <a:gd name="adj" fmla="val 17370"/>
            </a:avLst>
          </a:prstGeom>
          <a:solidFill>
            <a:srgbClr val="FFFFFF"/>
          </a:solidFill>
          <a:ln w="12700">
            <a:solidFill>
              <a:srgbClr val="D3E3E9"/>
            </a:solidFill>
            <a:prstDash val="solid"/>
          </a:ln>
        </p:spPr>
        <p:txBody>
          <a:bodyPr/>
          <a:p/>
        </p:txBody>
      </p:sp>
      <p:sp>
        <p:nvSpPr>
          <p:cNvPr id="22" name="Shape 20"/>
          <p:cNvSpPr/>
          <p:nvPr/>
        </p:nvSpPr>
        <p:spPr>
          <a:xfrm>
            <a:off x="768096" y="3741725"/>
            <a:ext cx="566928" cy="416966"/>
          </a:xfrm>
          <a:prstGeom prst="roundRect">
            <a:avLst>
              <a:gd name="adj" fmla="val 30702"/>
            </a:avLst>
          </a:prstGeom>
          <a:solidFill>
            <a:srgbClr val="078A91"/>
          </a:solidFill>
          <a:ln w="12700">
            <a:solidFill>
              <a:srgbClr val="078A91"/>
            </a:solidFill>
            <a:prstDash val="solid"/>
          </a:ln>
        </p:spPr>
        <p:txBody>
          <a:bodyPr/>
          <a:p/>
        </p:txBody>
      </p:sp>
      <p:sp>
        <p:nvSpPr>
          <p:cNvPr id="23" name="Text 21"/>
          <p:cNvSpPr/>
          <p:nvPr/>
        </p:nvSpPr>
        <p:spPr>
          <a:xfrm>
            <a:off x="932688" y="3778301"/>
            <a:ext cx="256032" cy="32552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54480" y="3723437"/>
            <a:ext cx="3035808" cy="46268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Place</a:t>
            </a:r>
            <a:endParaRPr lang="en-US" sz="1860" dirty="0"/>
          </a:p>
        </p:txBody>
      </p:sp>
      <p:sp>
        <p:nvSpPr>
          <p:cNvPr id="25" name="Text 23"/>
          <p:cNvSpPr/>
          <p:nvPr/>
        </p:nvSpPr>
        <p:spPr>
          <a:xfrm>
            <a:off x="4572000" y="3723437"/>
            <a:ext cx="6601968" cy="46268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Use text frames and image frames correctly.</a:t>
            </a:r>
            <a:endParaRPr lang="en-US" sz="1790" dirty="0"/>
          </a:p>
        </p:txBody>
      </p:sp>
      <p:sp>
        <p:nvSpPr>
          <p:cNvPr id="26" name="Shape 24"/>
          <p:cNvSpPr/>
          <p:nvPr/>
        </p:nvSpPr>
        <p:spPr>
          <a:xfrm>
            <a:off x="594360" y="4442155"/>
            <a:ext cx="11009376" cy="737006"/>
          </a:xfrm>
          <a:prstGeom prst="roundRect">
            <a:avLst>
              <a:gd name="adj" fmla="val 17370"/>
            </a:avLst>
          </a:prstGeom>
          <a:solidFill>
            <a:srgbClr val="FFFFFF"/>
          </a:solidFill>
          <a:ln w="12700">
            <a:solidFill>
              <a:srgbClr val="D3E3E9"/>
            </a:solidFill>
            <a:prstDash val="solid"/>
          </a:ln>
        </p:spPr>
        <p:txBody>
          <a:bodyPr/>
          <a:p/>
        </p:txBody>
      </p:sp>
      <p:sp>
        <p:nvSpPr>
          <p:cNvPr id="27" name="Shape 25"/>
          <p:cNvSpPr/>
          <p:nvPr/>
        </p:nvSpPr>
        <p:spPr>
          <a:xfrm>
            <a:off x="768096" y="4597603"/>
            <a:ext cx="566928" cy="416966"/>
          </a:xfrm>
          <a:prstGeom prst="roundRect">
            <a:avLst>
              <a:gd name="adj" fmla="val 30702"/>
            </a:avLst>
          </a:prstGeom>
          <a:solidFill>
            <a:srgbClr val="173552"/>
          </a:solidFill>
          <a:ln w="12700">
            <a:solidFill>
              <a:srgbClr val="173552"/>
            </a:solidFill>
            <a:prstDash val="solid"/>
          </a:ln>
        </p:spPr>
        <p:txBody>
          <a:bodyPr/>
          <a:p/>
        </p:txBody>
      </p:sp>
      <p:sp>
        <p:nvSpPr>
          <p:cNvPr id="28" name="Text 26"/>
          <p:cNvSpPr/>
          <p:nvPr/>
        </p:nvSpPr>
        <p:spPr>
          <a:xfrm>
            <a:off x="932688" y="4634179"/>
            <a:ext cx="256032" cy="32552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54480" y="4579315"/>
            <a:ext cx="3035808" cy="46268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Organise</a:t>
            </a:r>
            <a:endParaRPr lang="en-US" sz="1860" dirty="0"/>
          </a:p>
        </p:txBody>
      </p:sp>
      <p:sp>
        <p:nvSpPr>
          <p:cNvPr id="30" name="Text 28"/>
          <p:cNvSpPr/>
          <p:nvPr/>
        </p:nvSpPr>
        <p:spPr>
          <a:xfrm>
            <a:off x="4572000" y="4579315"/>
            <a:ext cx="6601968" cy="46268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Build a simple visual hierarchy using alignment and spacing.</a:t>
            </a:r>
            <a:endParaRPr lang="en-US" sz="1790" dirty="0"/>
          </a:p>
        </p:txBody>
      </p:sp>
      <p:sp>
        <p:nvSpPr>
          <p:cNvPr id="31" name="Shape 29"/>
          <p:cNvSpPr/>
          <p:nvPr/>
        </p:nvSpPr>
        <p:spPr>
          <a:xfrm>
            <a:off x="594360" y="5298034"/>
            <a:ext cx="11009376" cy="737006"/>
          </a:xfrm>
          <a:prstGeom prst="roundRect">
            <a:avLst>
              <a:gd name="adj" fmla="val 17370"/>
            </a:avLst>
          </a:prstGeom>
          <a:solidFill>
            <a:srgbClr val="FFFFFF"/>
          </a:solidFill>
          <a:ln w="12700">
            <a:solidFill>
              <a:srgbClr val="D3E3E9"/>
            </a:solidFill>
            <a:prstDash val="solid"/>
          </a:ln>
        </p:spPr>
        <p:txBody>
          <a:bodyPr/>
          <a:p/>
        </p:txBody>
      </p:sp>
      <p:sp>
        <p:nvSpPr>
          <p:cNvPr id="32" name="Shape 30"/>
          <p:cNvSpPr/>
          <p:nvPr/>
        </p:nvSpPr>
        <p:spPr>
          <a:xfrm>
            <a:off x="768096" y="5453482"/>
            <a:ext cx="566928" cy="416966"/>
          </a:xfrm>
          <a:prstGeom prst="roundRect">
            <a:avLst>
              <a:gd name="adj" fmla="val 30702"/>
            </a:avLst>
          </a:prstGeom>
          <a:solidFill>
            <a:srgbClr val="078A91"/>
          </a:solidFill>
          <a:ln w="12700">
            <a:solidFill>
              <a:srgbClr val="078A91"/>
            </a:solidFill>
            <a:prstDash val="solid"/>
          </a:ln>
        </p:spPr>
        <p:txBody>
          <a:bodyPr/>
          <a:p/>
        </p:txBody>
      </p:sp>
      <p:sp>
        <p:nvSpPr>
          <p:cNvPr id="33" name="Text 31"/>
          <p:cNvSpPr/>
          <p:nvPr/>
        </p:nvSpPr>
        <p:spPr>
          <a:xfrm>
            <a:off x="932688" y="5490058"/>
            <a:ext cx="256032" cy="32552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34" name="Text 32"/>
          <p:cNvSpPr/>
          <p:nvPr/>
        </p:nvSpPr>
        <p:spPr>
          <a:xfrm>
            <a:off x="1554480" y="5435194"/>
            <a:ext cx="3035808" cy="46268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Save</a:t>
            </a:r>
            <a:endParaRPr lang="en-US" sz="1860" dirty="0"/>
          </a:p>
        </p:txBody>
      </p:sp>
      <p:sp>
        <p:nvSpPr>
          <p:cNvPr id="35" name="Text 33"/>
          <p:cNvSpPr/>
          <p:nvPr/>
        </p:nvSpPr>
        <p:spPr>
          <a:xfrm>
            <a:off x="4572000" y="5435194"/>
            <a:ext cx="6601968" cy="46268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Keep an editable INDD and export an initial PDF proof.</a:t>
            </a:r>
            <a:endParaRPr lang="en-US" sz="179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Prepared work from earlier lessons becomes the content for the new page.</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One project, three applications</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COURSE CONNECTION</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03</a:t>
            </a:r>
            <a:endParaRPr lang="en-US" sz="1000" dirty="0"/>
          </a:p>
        </p:txBody>
      </p:sp>
      <p:sp>
        <p:nvSpPr>
          <p:cNvPr id="11" name="Shape 9"/>
          <p:cNvSpPr/>
          <p:nvPr/>
        </p:nvSpPr>
        <p:spPr>
          <a:xfrm>
            <a:off x="640080" y="2212848"/>
            <a:ext cx="3520440" cy="2240280"/>
          </a:xfrm>
          <a:prstGeom prst="roundRect">
            <a:avLst>
              <a:gd name="adj" fmla="val 5714"/>
            </a:avLst>
          </a:prstGeom>
          <a:solidFill>
            <a:srgbClr val="FFFFFF"/>
          </a:solidFill>
          <a:ln w="12700">
            <a:solidFill>
              <a:srgbClr val="D3E3E9"/>
            </a:solidFill>
            <a:prstDash val="solid"/>
          </a:ln>
        </p:spPr>
        <p:txBody>
          <a:bodyPr/>
          <a:p/>
        </p:txBody>
      </p:sp>
      <p:sp>
        <p:nvSpPr>
          <p:cNvPr id="12" name="Shape 10"/>
          <p:cNvSpPr/>
          <p:nvPr/>
        </p:nvSpPr>
        <p:spPr>
          <a:xfrm>
            <a:off x="868680" y="2542032"/>
            <a:ext cx="3035808" cy="484632"/>
          </a:xfrm>
          <a:prstGeom prst="roundRect">
            <a:avLst>
              <a:gd name="adj" fmla="val 26415"/>
            </a:avLst>
          </a:prstGeom>
          <a:solidFill>
            <a:srgbClr val="173552"/>
          </a:solidFill>
          <a:ln w="12700">
            <a:solidFill>
              <a:srgbClr val="173552"/>
            </a:solidFill>
            <a:prstDash val="solid"/>
          </a:ln>
        </p:spPr>
        <p:txBody>
          <a:bodyPr/>
          <a:p/>
        </p:txBody>
      </p:sp>
      <p:sp>
        <p:nvSpPr>
          <p:cNvPr id="13" name="Text 11"/>
          <p:cNvSpPr/>
          <p:nvPr/>
        </p:nvSpPr>
        <p:spPr>
          <a:xfrm>
            <a:off x="1078992" y="2679192"/>
            <a:ext cx="2660904" cy="17373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PHOTOSHOP</a:t>
            </a:r>
            <a:endParaRPr lang="en-US" sz="1400" dirty="0"/>
          </a:p>
        </p:txBody>
      </p:sp>
      <p:sp>
        <p:nvSpPr>
          <p:cNvPr id="14" name="Text 12"/>
          <p:cNvSpPr/>
          <p:nvPr/>
        </p:nvSpPr>
        <p:spPr>
          <a:xfrm>
            <a:off x="932688" y="3310128"/>
            <a:ext cx="2862072" cy="804672"/>
          </a:xfrm>
          <a:prstGeom prst="rect">
            <a:avLst/>
          </a:prstGeom>
          <a:noFill/>
          <a:ln/>
        </p:spPr>
        <p:txBody>
          <a:bodyPr wrap="square" lIns="0" tIns="0" rIns="0" bIns="0" rtlCol="0" anchor="ctr">
            <a:normAutofit/>
          </a:bodyPr>
          <a:lstStyle/>
          <a:p>
            <a:pPr indent="0" marL="0">
              <a:buNone/>
            </a:pPr>
            <a:r>
              <a:rPr lang="en-US" sz="1800" dirty="0">
                <a:solidFill>
                  <a:srgbClr val="173552"/>
                </a:solidFill>
                <a:latin typeface="Aptos" pitchFamily="34" charset="0"/>
                <a:ea typeface="Aptos" pitchFamily="34" charset="-122"/>
                <a:cs typeface="Aptos" pitchFamily="34" charset="-120"/>
              </a:rPr>
              <a:t>Prepare and crop a suitable photograph.</a:t>
            </a:r>
            <a:endParaRPr lang="en-US" sz="1800" dirty="0"/>
          </a:p>
        </p:txBody>
      </p:sp>
      <p:sp>
        <p:nvSpPr>
          <p:cNvPr id="15" name="Text 13"/>
          <p:cNvSpPr/>
          <p:nvPr/>
        </p:nvSpPr>
        <p:spPr>
          <a:xfrm>
            <a:off x="4261104" y="2880360"/>
            <a:ext cx="301752" cy="457200"/>
          </a:xfrm>
          <a:prstGeom prst="rect">
            <a:avLst/>
          </a:prstGeom>
          <a:noFill/>
          <a:ln/>
        </p:spPr>
        <p:txBody>
          <a:bodyPr wrap="square" lIns="0" tIns="0" rIns="0" bIns="0" rtlCol="0" anchor="ctr">
            <a:normAutofit/>
          </a:bodyPr>
          <a:lstStyle/>
          <a:p>
            <a:pPr indent="0" marL="0">
              <a:buNone/>
            </a:pPr>
            <a:r>
              <a:rPr lang="en-US" sz="2900" b="1" dirty="0">
                <a:solidFill>
                  <a:srgbClr val="078A91"/>
                </a:solidFill>
                <a:latin typeface="Aptos" pitchFamily="34" charset="0"/>
                <a:ea typeface="Aptos" pitchFamily="34" charset="-122"/>
                <a:cs typeface="Aptos" pitchFamily="34" charset="-120"/>
              </a:rPr>
              <a:t>→</a:t>
            </a:r>
            <a:endParaRPr lang="en-US" sz="2900" dirty="0"/>
          </a:p>
        </p:txBody>
      </p:sp>
      <p:sp>
        <p:nvSpPr>
          <p:cNvPr id="16" name="Shape 14"/>
          <p:cNvSpPr/>
          <p:nvPr/>
        </p:nvSpPr>
        <p:spPr>
          <a:xfrm>
            <a:off x="4553712" y="2212848"/>
            <a:ext cx="3520440" cy="2240280"/>
          </a:xfrm>
          <a:prstGeom prst="roundRect">
            <a:avLst>
              <a:gd name="adj" fmla="val 5714"/>
            </a:avLst>
          </a:prstGeom>
          <a:solidFill>
            <a:srgbClr val="FFFFFF"/>
          </a:solidFill>
          <a:ln w="12700">
            <a:solidFill>
              <a:srgbClr val="D3E3E9"/>
            </a:solidFill>
            <a:prstDash val="solid"/>
          </a:ln>
        </p:spPr>
        <p:txBody>
          <a:bodyPr/>
          <a:p/>
        </p:txBody>
      </p:sp>
      <p:sp>
        <p:nvSpPr>
          <p:cNvPr id="17" name="Shape 15"/>
          <p:cNvSpPr/>
          <p:nvPr/>
        </p:nvSpPr>
        <p:spPr>
          <a:xfrm>
            <a:off x="4782312" y="2542032"/>
            <a:ext cx="3035808" cy="484632"/>
          </a:xfrm>
          <a:prstGeom prst="roundRect">
            <a:avLst>
              <a:gd name="adj" fmla="val 26415"/>
            </a:avLst>
          </a:prstGeom>
          <a:solidFill>
            <a:srgbClr val="173552"/>
          </a:solidFill>
          <a:ln w="12700">
            <a:solidFill>
              <a:srgbClr val="173552"/>
            </a:solidFill>
            <a:prstDash val="solid"/>
          </a:ln>
        </p:spPr>
        <p:txBody>
          <a:bodyPr/>
          <a:p/>
        </p:txBody>
      </p:sp>
      <p:sp>
        <p:nvSpPr>
          <p:cNvPr id="18" name="Text 16"/>
          <p:cNvSpPr/>
          <p:nvPr/>
        </p:nvSpPr>
        <p:spPr>
          <a:xfrm>
            <a:off x="4992624" y="2679192"/>
            <a:ext cx="2660904" cy="17373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ILLUSTRATOR</a:t>
            </a:r>
            <a:endParaRPr lang="en-US" sz="1400" dirty="0"/>
          </a:p>
        </p:txBody>
      </p:sp>
      <p:sp>
        <p:nvSpPr>
          <p:cNvPr id="19" name="Text 17"/>
          <p:cNvSpPr/>
          <p:nvPr/>
        </p:nvSpPr>
        <p:spPr>
          <a:xfrm>
            <a:off x="4846320" y="3310128"/>
            <a:ext cx="2862072" cy="804672"/>
          </a:xfrm>
          <a:prstGeom prst="rect">
            <a:avLst/>
          </a:prstGeom>
          <a:noFill/>
          <a:ln/>
        </p:spPr>
        <p:txBody>
          <a:bodyPr wrap="square" lIns="0" tIns="0" rIns="0" bIns="0" rtlCol="0" anchor="ctr">
            <a:normAutofit/>
          </a:bodyPr>
          <a:lstStyle/>
          <a:p>
            <a:pPr indent="0" marL="0">
              <a:buNone/>
            </a:pPr>
            <a:r>
              <a:rPr lang="en-US" sz="1800" dirty="0">
                <a:solidFill>
                  <a:srgbClr val="173552"/>
                </a:solidFill>
                <a:latin typeface="Aptos" pitchFamily="34" charset="0"/>
                <a:ea typeface="Aptos" pitchFamily="34" charset="-122"/>
                <a:cs typeface="Aptos" pitchFamily="34" charset="-120"/>
              </a:rPr>
              <a:t>Draw a clear, scalable icon.</a:t>
            </a:r>
            <a:endParaRPr lang="en-US" sz="1800" dirty="0"/>
          </a:p>
        </p:txBody>
      </p:sp>
      <p:sp>
        <p:nvSpPr>
          <p:cNvPr id="20" name="Text 18"/>
          <p:cNvSpPr/>
          <p:nvPr/>
        </p:nvSpPr>
        <p:spPr>
          <a:xfrm>
            <a:off x="8174736" y="2880360"/>
            <a:ext cx="301752" cy="457200"/>
          </a:xfrm>
          <a:prstGeom prst="rect">
            <a:avLst/>
          </a:prstGeom>
          <a:noFill/>
          <a:ln/>
        </p:spPr>
        <p:txBody>
          <a:bodyPr wrap="square" lIns="0" tIns="0" rIns="0" bIns="0" rtlCol="0" anchor="ctr">
            <a:normAutofit/>
          </a:bodyPr>
          <a:lstStyle/>
          <a:p>
            <a:pPr indent="0" marL="0">
              <a:buNone/>
            </a:pPr>
            <a:r>
              <a:rPr lang="en-US" sz="2900" b="1" dirty="0">
                <a:solidFill>
                  <a:srgbClr val="078A91"/>
                </a:solidFill>
                <a:latin typeface="Aptos" pitchFamily="34" charset="0"/>
                <a:ea typeface="Aptos" pitchFamily="34" charset="-122"/>
                <a:cs typeface="Aptos" pitchFamily="34" charset="-120"/>
              </a:rPr>
              <a:t>→</a:t>
            </a:r>
            <a:endParaRPr lang="en-US" sz="2900" dirty="0"/>
          </a:p>
        </p:txBody>
      </p:sp>
      <p:sp>
        <p:nvSpPr>
          <p:cNvPr id="21" name="Shape 19"/>
          <p:cNvSpPr/>
          <p:nvPr/>
        </p:nvSpPr>
        <p:spPr>
          <a:xfrm>
            <a:off x="8467344" y="2212848"/>
            <a:ext cx="3520440" cy="2240280"/>
          </a:xfrm>
          <a:prstGeom prst="roundRect">
            <a:avLst>
              <a:gd name="adj" fmla="val 5714"/>
            </a:avLst>
          </a:prstGeom>
          <a:solidFill>
            <a:srgbClr val="FFFFFF"/>
          </a:solidFill>
          <a:ln w="12700">
            <a:solidFill>
              <a:srgbClr val="D3E3E9"/>
            </a:solidFill>
            <a:prstDash val="solid"/>
          </a:ln>
        </p:spPr>
        <p:txBody>
          <a:bodyPr/>
          <a:p/>
        </p:txBody>
      </p:sp>
      <p:sp>
        <p:nvSpPr>
          <p:cNvPr id="22" name="Shape 20"/>
          <p:cNvSpPr/>
          <p:nvPr/>
        </p:nvSpPr>
        <p:spPr>
          <a:xfrm>
            <a:off x="8695944" y="2542032"/>
            <a:ext cx="3035808" cy="484632"/>
          </a:xfrm>
          <a:prstGeom prst="roundRect">
            <a:avLst>
              <a:gd name="adj" fmla="val 26415"/>
            </a:avLst>
          </a:prstGeom>
          <a:solidFill>
            <a:srgbClr val="078A91"/>
          </a:solidFill>
          <a:ln w="12700">
            <a:solidFill>
              <a:srgbClr val="078A91"/>
            </a:solidFill>
            <a:prstDash val="solid"/>
          </a:ln>
        </p:spPr>
        <p:txBody>
          <a:bodyPr/>
          <a:p/>
        </p:txBody>
      </p:sp>
      <p:sp>
        <p:nvSpPr>
          <p:cNvPr id="23" name="Text 21"/>
          <p:cNvSpPr/>
          <p:nvPr/>
        </p:nvSpPr>
        <p:spPr>
          <a:xfrm>
            <a:off x="8906256" y="2679192"/>
            <a:ext cx="2660904" cy="17373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INDESIGN</a:t>
            </a:r>
            <a:endParaRPr lang="en-US" sz="1400" dirty="0"/>
          </a:p>
        </p:txBody>
      </p:sp>
      <p:sp>
        <p:nvSpPr>
          <p:cNvPr id="24" name="Text 22"/>
          <p:cNvSpPr/>
          <p:nvPr/>
        </p:nvSpPr>
        <p:spPr>
          <a:xfrm>
            <a:off x="8759952" y="3310128"/>
            <a:ext cx="2862072" cy="804672"/>
          </a:xfrm>
          <a:prstGeom prst="rect">
            <a:avLst/>
          </a:prstGeom>
          <a:noFill/>
          <a:ln/>
        </p:spPr>
        <p:txBody>
          <a:bodyPr wrap="square" lIns="0" tIns="0" rIns="0" bIns="0" rtlCol="0" anchor="ctr">
            <a:normAutofit/>
          </a:bodyPr>
          <a:lstStyle/>
          <a:p>
            <a:pPr indent="0" marL="0">
              <a:buNone/>
            </a:pPr>
            <a:r>
              <a:rPr lang="en-US" sz="1800" dirty="0">
                <a:solidFill>
                  <a:srgbClr val="173552"/>
                </a:solidFill>
                <a:latin typeface="Aptos" pitchFamily="34" charset="0"/>
                <a:ea typeface="Aptos" pitchFamily="34" charset="-122"/>
                <a:cs typeface="Aptos" pitchFamily="34" charset="-120"/>
              </a:rPr>
              <a:t>Arrange image, icon and text on an A4 page.</a:t>
            </a:r>
            <a:endParaRPr lang="en-US" sz="1800" dirty="0"/>
          </a:p>
        </p:txBody>
      </p:sp>
      <p:sp>
        <p:nvSpPr>
          <p:cNvPr id="25" name="Text 23"/>
          <p:cNvSpPr/>
          <p:nvPr/>
        </p:nvSpPr>
        <p:spPr>
          <a:xfrm>
            <a:off x="841248" y="4919472"/>
            <a:ext cx="10479024" cy="978408"/>
          </a:xfrm>
          <a:prstGeom prst="rect">
            <a:avLst/>
          </a:prstGeom>
          <a:noFill/>
          <a:ln/>
        </p:spPr>
        <p:txBody>
          <a:bodyPr wrap="square" lIns="0" tIns="0" rIns="0" bIns="0" rtlCol="0" anchor="ctr">
            <a:normAutofit/>
          </a:bodyPr>
          <a:lstStyle/>
          <a:p>
            <a:pPr indent="0" marL="0">
              <a:buNone/>
            </a:pPr>
            <a:r>
              <a:rPr lang="en-US" sz="2000" dirty="0">
                <a:solidFill>
                  <a:srgbClr val="5F788A"/>
                </a:solidFill>
                <a:latin typeface="Aptos" pitchFamily="34" charset="0"/>
                <a:ea typeface="Aptos" pitchFamily="34" charset="-122"/>
                <a:cs typeface="Aptos" pitchFamily="34" charset="-120"/>
              </a:rPr>
              <a:t>The three applications are complementary. We do not need to learn every advanced tool in order to create a useful publication.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What is document layout?</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Think about how the reader experiences the page.</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04</a:t>
            </a:r>
            <a:endParaRPr lang="en-US" sz="1000" dirty="0"/>
          </a:p>
        </p:txBody>
      </p:sp>
      <p:sp>
        <p:nvSpPr>
          <p:cNvPr id="11" name="Shape 9"/>
          <p:cNvSpPr/>
          <p:nvPr/>
        </p:nvSpPr>
        <p:spPr>
          <a:xfrm>
            <a:off x="594360" y="1847088"/>
            <a:ext cx="10954512" cy="2286000"/>
          </a:xfrm>
          <a:prstGeom prst="roundRect">
            <a:avLst>
              <a:gd name="adj" fmla="val 5600"/>
            </a:avLst>
          </a:prstGeom>
          <a:solidFill>
            <a:srgbClr val="FFFFFF"/>
          </a:solidFill>
          <a:ln w="12700">
            <a:solidFill>
              <a:srgbClr val="D3E3E9"/>
            </a:solidFill>
            <a:prstDash val="solid"/>
          </a:ln>
        </p:spPr>
        <p:txBody>
          <a:bodyPr/>
          <a:p/>
        </p:txBody>
      </p:sp>
      <p:sp>
        <p:nvSpPr>
          <p:cNvPr id="12" name="Text 10"/>
          <p:cNvSpPr/>
          <p:nvPr/>
        </p:nvSpPr>
        <p:spPr>
          <a:xfrm>
            <a:off x="877824" y="2103120"/>
            <a:ext cx="9875520" cy="329184"/>
          </a:xfrm>
          <a:prstGeom prst="rect">
            <a:avLst/>
          </a:prstGeom>
          <a:noFill/>
          <a:ln/>
        </p:spPr>
        <p:txBody>
          <a:bodyPr wrap="square" lIns="0" tIns="0" rIns="0" bIns="0" rtlCol="0" anchor="ctr">
            <a:normAutofit/>
          </a:bodyPr>
          <a:lstStyle/>
          <a:p>
            <a:pPr indent="0" marL="0">
              <a:buNone/>
            </a:pPr>
            <a:r>
              <a:rPr lang="en-US" sz="2150" b="1" dirty="0">
                <a:solidFill>
                  <a:srgbClr val="078A91"/>
                </a:solidFill>
                <a:latin typeface="Aptos" pitchFamily="34" charset="0"/>
                <a:ea typeface="Aptos" pitchFamily="34" charset="-122"/>
                <a:cs typeface="Aptos" pitchFamily="34" charset="-120"/>
              </a:rPr>
              <a:t>Definition</a:t>
            </a:r>
            <a:endParaRPr lang="en-US" sz="2150" dirty="0"/>
          </a:p>
        </p:txBody>
      </p:sp>
      <p:sp>
        <p:nvSpPr>
          <p:cNvPr id="13" name="Text 11"/>
          <p:cNvSpPr/>
          <p:nvPr/>
        </p:nvSpPr>
        <p:spPr>
          <a:xfrm>
            <a:off x="877824" y="2615184"/>
            <a:ext cx="9738360" cy="1243584"/>
          </a:xfrm>
          <a:prstGeom prst="rect">
            <a:avLst/>
          </a:prstGeom>
          <a:noFill/>
          <a:ln/>
        </p:spPr>
        <p:txBody>
          <a:bodyPr wrap="square" lIns="0" tIns="0" rIns="0" bIns="0" rtlCol="0" anchor="t">
            <a:normAutofit/>
          </a:bodyPr>
          <a:lstStyle/>
          <a:p>
            <a:pPr indent="0" marL="0">
              <a:buNone/>
            </a:pPr>
            <a:r>
              <a:rPr lang="en-US" sz="1950" dirty="0">
                <a:solidFill>
                  <a:srgbClr val="173552"/>
                </a:solidFill>
                <a:latin typeface="Aptos" pitchFamily="34" charset="0"/>
                <a:ea typeface="Aptos" pitchFamily="34" charset="-122"/>
                <a:cs typeface="Aptos" pitchFamily="34" charset="-120"/>
              </a:rPr>
              <a:t>Document layout is the planned arrangement of text, images, shapes and open space on a page. Its purpose is to make information easy to notice, understand and use.</a:t>
            </a:r>
            <a:endParaRPr lang="en-US" sz="1950" dirty="0"/>
          </a:p>
        </p:txBody>
      </p:sp>
      <p:sp>
        <p:nvSpPr>
          <p:cNvPr id="14" name="Shape 12"/>
          <p:cNvSpPr/>
          <p:nvPr/>
        </p:nvSpPr>
        <p:spPr>
          <a:xfrm>
            <a:off x="594360" y="4443984"/>
            <a:ext cx="10954512"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896112" y="4745736"/>
            <a:ext cx="10378440" cy="740664"/>
          </a:xfrm>
          <a:prstGeom prst="rect">
            <a:avLst/>
          </a:prstGeom>
          <a:noFill/>
          <a:ln/>
        </p:spPr>
        <p:txBody>
          <a:bodyPr wrap="square" lIns="0" tIns="0" rIns="0" bIns="0" rtlCol="0" anchor="ctr">
            <a:normAutofit/>
          </a:bodyPr>
          <a:lstStyle/>
          <a:p>
            <a:pPr indent="0" marL="0">
              <a:buNone/>
            </a:pPr>
            <a:r>
              <a:rPr lang="en-US" sz="1900" dirty="0">
                <a:solidFill>
                  <a:srgbClr val="173552"/>
                </a:solidFill>
                <a:latin typeface="Aptos" pitchFamily="34" charset="0"/>
                <a:ea typeface="Aptos" pitchFamily="34" charset="-122"/>
                <a:cs typeface="Aptos" pitchFamily="34" charset="-120"/>
              </a:rPr>
              <a:t>A well-designed educational hand-out should have a clear title, an illustration, short advice and a footer.</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Good layout makes the message easier to follow</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Compare the crowded page with the organised version.</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05</a:t>
            </a:r>
            <a:endParaRPr lang="en-US" sz="1000" dirty="0"/>
          </a:p>
        </p:txBody>
      </p:sp>
      <p:sp>
        <p:nvSpPr>
          <p:cNvPr id="11" name="Shape 9"/>
          <p:cNvSpPr/>
          <p:nvPr/>
        </p:nvSpPr>
        <p:spPr>
          <a:xfrm>
            <a:off x="512064" y="1874520"/>
            <a:ext cx="6702552" cy="4160520"/>
          </a:xfrm>
          <a:prstGeom prst="roundRect">
            <a:avLst>
              <a:gd name="adj" fmla="val 3077"/>
            </a:avLst>
          </a:prstGeom>
          <a:solidFill>
            <a:srgbClr val="FFFFFF"/>
          </a:solidFill>
          <a:ln w="12700">
            <a:solidFill>
              <a:srgbClr val="D3E3E9"/>
            </a:solidFill>
            <a:prstDash val="solid"/>
          </a:ln>
        </p:spPr>
        <p:txBody>
          <a:bodyPr/>
          <a:p/>
        </p:txBody>
      </p:sp>
      <p:pic>
        <p:nvPicPr>
          <p:cNvPr id="12" name="Image 0" descr="/mnt/data/ITT06105_Condensed_L07_Package/resources/Fig06_Before_After_Layout.png">    </p:cNvPr>
          <p:cNvPicPr>
            <a:picLocks noChangeAspect="1"/>
          </p:cNvPicPr>
          <p:nvPr/>
        </p:nvPicPr>
        <p:blipFill>
          <a:blip r:embed="rId1"/>
          <a:stretch>
            <a:fillRect/>
          </a:stretch>
        </p:blipFill>
        <p:spPr>
          <a:xfrm>
            <a:off x="649224" y="2107692"/>
            <a:ext cx="6437376" cy="3621024"/>
          </a:xfrm>
          <a:prstGeom prst="rect">
            <a:avLst/>
          </a:prstGeom>
        </p:spPr>
      </p:pic>
      <p:sp>
        <p:nvSpPr>
          <p:cNvPr id="13" name="Shape 10"/>
          <p:cNvSpPr/>
          <p:nvPr/>
        </p:nvSpPr>
        <p:spPr>
          <a:xfrm>
            <a:off x="7379208" y="1874520"/>
            <a:ext cx="4251960" cy="4160520"/>
          </a:xfrm>
          <a:prstGeom prst="roundRect">
            <a:avLst>
              <a:gd name="adj" fmla="val 3077"/>
            </a:avLst>
          </a:prstGeom>
          <a:solidFill>
            <a:srgbClr val="FFFFFF"/>
          </a:solidFill>
          <a:ln w="12700">
            <a:solidFill>
              <a:srgbClr val="D3E3E9"/>
            </a:solidFill>
            <a:prstDash val="solid"/>
          </a:ln>
        </p:spPr>
        <p:txBody>
          <a:bodyPr/>
          <a:p/>
        </p:txBody>
      </p:sp>
      <p:sp>
        <p:nvSpPr>
          <p:cNvPr id="14" name="Shape 11"/>
          <p:cNvSpPr/>
          <p:nvPr/>
        </p:nvSpPr>
        <p:spPr>
          <a:xfrm>
            <a:off x="7379208" y="1874520"/>
            <a:ext cx="82296"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607808" y="2057400"/>
            <a:ext cx="379476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Design for the reader</a:t>
            </a:r>
            <a:endParaRPr lang="en-US" sz="2000" dirty="0"/>
          </a:p>
        </p:txBody>
      </p:sp>
      <p:sp>
        <p:nvSpPr>
          <p:cNvPr id="16" name="Text 13"/>
          <p:cNvSpPr/>
          <p:nvPr/>
        </p:nvSpPr>
        <p:spPr>
          <a:xfrm>
            <a:off x="7607808" y="2551176"/>
            <a:ext cx="3794760" cy="3328416"/>
          </a:xfrm>
          <a:prstGeom prst="rect">
            <a:avLst/>
          </a:prstGeom>
          <a:noFill/>
          <a:ln/>
        </p:spPr>
        <p:txBody>
          <a:bodyPr wrap="square" lIns="0" tIns="0" rIns="0" bIns="0" rtlCol="0" anchor="t">
            <a:normAutofit/>
          </a:bodyPr>
          <a:lstStyle/>
          <a:p>
            <a:pPr indent="0" marL="0">
              <a:buNone/>
            </a:pPr>
            <a:r>
              <a:rPr lang="en-US" sz="1730" dirty="0">
                <a:solidFill>
                  <a:srgbClr val="173552"/>
                </a:solidFill>
                <a:latin typeface="Aptos" pitchFamily="34" charset="0"/>
                <a:ea typeface="Aptos" pitchFamily="34" charset="-122"/>
                <a:cs typeface="Aptos" pitchFamily="34" charset="-120"/>
              </a:rPr>
              <a:t>The planned version creates a clear order. The main message appears first, related information stays together, and spacing helps the reader find the three essential tips.</a:t>
            </a:r>
            <a:endParaRPr lang="en-US" sz="17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SOFTWARE ROLE</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Why use Adobe InDesign?</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InDesign specialises in organising pages and publications.</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06</a:t>
            </a:r>
            <a:endParaRPr lang="en-US" sz="1000" dirty="0"/>
          </a:p>
        </p:txBody>
      </p:sp>
      <p:sp>
        <p:nvSpPr>
          <p:cNvPr id="11" name="Shape 9"/>
          <p:cNvSpPr/>
          <p:nvPr/>
        </p:nvSpPr>
        <p:spPr>
          <a:xfrm>
            <a:off x="594360" y="1847088"/>
            <a:ext cx="10954512" cy="2286000"/>
          </a:xfrm>
          <a:prstGeom prst="roundRect">
            <a:avLst>
              <a:gd name="adj" fmla="val 5600"/>
            </a:avLst>
          </a:prstGeom>
          <a:solidFill>
            <a:srgbClr val="FFFFFF"/>
          </a:solidFill>
          <a:ln w="12700">
            <a:solidFill>
              <a:srgbClr val="D3E3E9"/>
            </a:solidFill>
            <a:prstDash val="solid"/>
          </a:ln>
        </p:spPr>
        <p:txBody>
          <a:bodyPr/>
          <a:p/>
        </p:txBody>
      </p:sp>
      <p:sp>
        <p:nvSpPr>
          <p:cNvPr id="12" name="Text 10"/>
          <p:cNvSpPr/>
          <p:nvPr/>
        </p:nvSpPr>
        <p:spPr>
          <a:xfrm>
            <a:off x="877824" y="2103120"/>
            <a:ext cx="9875520" cy="329184"/>
          </a:xfrm>
          <a:prstGeom prst="rect">
            <a:avLst/>
          </a:prstGeom>
          <a:noFill/>
          <a:ln/>
        </p:spPr>
        <p:txBody>
          <a:bodyPr wrap="square" lIns="0" tIns="0" rIns="0" bIns="0" rtlCol="0" anchor="ctr">
            <a:normAutofit/>
          </a:bodyPr>
          <a:lstStyle/>
          <a:p>
            <a:pPr indent="0" marL="0">
              <a:buNone/>
            </a:pPr>
            <a:r>
              <a:rPr lang="en-US" sz="2150" b="1" dirty="0">
                <a:solidFill>
                  <a:srgbClr val="078A91"/>
                </a:solidFill>
                <a:latin typeface="Aptos" pitchFamily="34" charset="0"/>
                <a:ea typeface="Aptos" pitchFamily="34" charset="-122"/>
                <a:cs typeface="Aptos" pitchFamily="34" charset="-120"/>
              </a:rPr>
              <a:t>InDesign is a page-layout application</a:t>
            </a:r>
            <a:endParaRPr lang="en-US" sz="2150" dirty="0"/>
          </a:p>
        </p:txBody>
      </p:sp>
      <p:sp>
        <p:nvSpPr>
          <p:cNvPr id="13" name="Text 11"/>
          <p:cNvSpPr/>
          <p:nvPr/>
        </p:nvSpPr>
        <p:spPr>
          <a:xfrm>
            <a:off x="877824" y="2615184"/>
            <a:ext cx="9738360" cy="1243584"/>
          </a:xfrm>
          <a:prstGeom prst="rect">
            <a:avLst/>
          </a:prstGeom>
          <a:noFill/>
          <a:ln/>
        </p:spPr>
        <p:txBody>
          <a:bodyPr wrap="square" lIns="0" tIns="0" rIns="0" bIns="0" rtlCol="0" anchor="t">
            <a:normAutofit/>
          </a:bodyPr>
          <a:lstStyle/>
          <a:p>
            <a:pPr indent="0" marL="0">
              <a:buNone/>
            </a:pPr>
            <a:r>
              <a:rPr lang="en-US" sz="1950" dirty="0">
                <a:solidFill>
                  <a:srgbClr val="173552"/>
                </a:solidFill>
                <a:latin typeface="Aptos" pitchFamily="34" charset="0"/>
                <a:ea typeface="Aptos" pitchFamily="34" charset="-122"/>
                <a:cs typeface="Aptos" pitchFamily="34" charset="-120"/>
              </a:rPr>
              <a:t>It allows a designer to create pages, manage text frames and graphic frames, place prepared images, align elements and export a publication as PDF. Photoshop and Illustrator remain useful for preparing the images and graphics before placing them.</a:t>
            </a:r>
            <a:endParaRPr lang="en-US" sz="1950" dirty="0"/>
          </a:p>
        </p:txBody>
      </p:sp>
      <p:sp>
        <p:nvSpPr>
          <p:cNvPr id="14" name="Shape 12"/>
          <p:cNvSpPr/>
          <p:nvPr/>
        </p:nvSpPr>
        <p:spPr>
          <a:xfrm>
            <a:off x="594360" y="4443984"/>
            <a:ext cx="10954512"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896112" y="4745736"/>
            <a:ext cx="10378440" cy="740664"/>
          </a:xfrm>
          <a:prstGeom prst="rect">
            <a:avLst/>
          </a:prstGeom>
          <a:noFill/>
          <a:ln/>
        </p:spPr>
        <p:txBody>
          <a:bodyPr wrap="square" lIns="0" tIns="0" rIns="0" bIns="0" rtlCol="0" anchor="ctr">
            <a:normAutofit/>
          </a:bodyPr>
          <a:lstStyle/>
          <a:p>
            <a:pPr indent="0" marL="0">
              <a:buNone/>
            </a:pPr>
            <a:r>
              <a:rPr lang="en-US" sz="1900" dirty="0">
                <a:solidFill>
                  <a:srgbClr val="173552"/>
                </a:solidFill>
                <a:latin typeface="Aptos" pitchFamily="34" charset="0"/>
                <a:ea typeface="Aptos" pitchFamily="34" charset="-122"/>
                <a:cs typeface="Aptos" pitchFamily="34" charset="-120"/>
              </a:rPr>
              <a:t>Our goal is a one-page A4 hand-out — not an advanced magazine or multi-page book.</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SOFTWARE COMPARISON</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Choose the appropriate application</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Three tools, three primary tasks.</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07</a:t>
            </a:r>
            <a:endParaRPr lang="en-US" sz="1000" dirty="0"/>
          </a:p>
        </p:txBody>
      </p:sp>
      <p:sp>
        <p:nvSpPr>
          <p:cNvPr id="11" name="Shape 9"/>
          <p:cNvSpPr/>
          <p:nvPr/>
        </p:nvSpPr>
        <p:spPr>
          <a:xfrm>
            <a:off x="530352" y="1874520"/>
            <a:ext cx="5504688" cy="4160520"/>
          </a:xfrm>
          <a:prstGeom prst="roundRect">
            <a:avLst>
              <a:gd name="adj" fmla="val 3077"/>
            </a:avLst>
          </a:prstGeom>
          <a:solidFill>
            <a:srgbClr val="FFFFFF"/>
          </a:solidFill>
          <a:ln w="12700">
            <a:solidFill>
              <a:srgbClr val="D3E3E9"/>
            </a:solidFill>
            <a:prstDash val="solid"/>
          </a:ln>
        </p:spPr>
        <p:txBody>
          <a:bodyPr/>
          <a:p/>
        </p:txBody>
      </p:sp>
      <p:sp>
        <p:nvSpPr>
          <p:cNvPr id="12" name="Shape 10"/>
          <p:cNvSpPr/>
          <p:nvPr/>
        </p:nvSpPr>
        <p:spPr>
          <a:xfrm>
            <a:off x="530352" y="1874520"/>
            <a:ext cx="82296"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58952" y="2057400"/>
            <a:ext cx="504748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Editing an image</a:t>
            </a:r>
            <a:endParaRPr lang="en-US" sz="2000" dirty="0"/>
          </a:p>
        </p:txBody>
      </p:sp>
      <p:sp>
        <p:nvSpPr>
          <p:cNvPr id="14" name="Text 12"/>
          <p:cNvSpPr/>
          <p:nvPr/>
        </p:nvSpPr>
        <p:spPr>
          <a:xfrm>
            <a:off x="758952" y="2551176"/>
            <a:ext cx="5047488" cy="3328416"/>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Use Photoshop or a similar editor for cropping, tonal correction and preparing pixel-based photographs. Those edits should happen before the image is placed into the page layout.</a:t>
            </a:r>
            <a:endParaRPr lang="en-US" sz="1900" dirty="0"/>
          </a:p>
        </p:txBody>
      </p:sp>
      <p:sp>
        <p:nvSpPr>
          <p:cNvPr id="15" name="Shape 13"/>
          <p:cNvSpPr/>
          <p:nvPr/>
        </p:nvSpPr>
        <p:spPr>
          <a:xfrm>
            <a:off x="6172200" y="1874520"/>
            <a:ext cx="5504688" cy="4160520"/>
          </a:xfrm>
          <a:prstGeom prst="roundRect">
            <a:avLst>
              <a:gd name="adj" fmla="val 3077"/>
            </a:avLst>
          </a:prstGeom>
          <a:solidFill>
            <a:srgbClr val="FFFFFF"/>
          </a:solidFill>
          <a:ln w="12700">
            <a:solidFill>
              <a:srgbClr val="D3E3E9"/>
            </a:solidFill>
            <a:prstDash val="solid"/>
          </a:ln>
        </p:spPr>
        <p:txBody>
          <a:bodyPr/>
          <a:p/>
        </p:txBody>
      </p:sp>
      <p:sp>
        <p:nvSpPr>
          <p:cNvPr id="16" name="Shape 14"/>
          <p:cNvSpPr/>
          <p:nvPr/>
        </p:nvSpPr>
        <p:spPr>
          <a:xfrm>
            <a:off x="6172200" y="1874520"/>
            <a:ext cx="82296"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400800" y="2057400"/>
            <a:ext cx="504748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Designing a publication</a:t>
            </a:r>
            <a:endParaRPr lang="en-US" sz="2000" dirty="0"/>
          </a:p>
        </p:txBody>
      </p:sp>
      <p:sp>
        <p:nvSpPr>
          <p:cNvPr id="18" name="Text 16"/>
          <p:cNvSpPr/>
          <p:nvPr/>
        </p:nvSpPr>
        <p:spPr>
          <a:xfrm>
            <a:off x="6400800" y="2551176"/>
            <a:ext cx="5047488" cy="3328416"/>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Use InDesign to arrange the headline, image, short paragraphs and footer on a page. It manages the composition without permanently changing the original picture.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Recognising the workspace</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A conceptual overview — menus and panel locations may differ by version.</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08</a:t>
            </a:r>
            <a:endParaRPr lang="en-US" sz="1000" dirty="0"/>
          </a:p>
        </p:txBody>
      </p:sp>
      <p:sp>
        <p:nvSpPr>
          <p:cNvPr id="11" name="Shape 9"/>
          <p:cNvSpPr/>
          <p:nvPr/>
        </p:nvSpPr>
        <p:spPr>
          <a:xfrm>
            <a:off x="512064" y="1874520"/>
            <a:ext cx="6702552" cy="4160520"/>
          </a:xfrm>
          <a:prstGeom prst="roundRect">
            <a:avLst>
              <a:gd name="adj" fmla="val 3077"/>
            </a:avLst>
          </a:prstGeom>
          <a:solidFill>
            <a:srgbClr val="FFFFFF"/>
          </a:solidFill>
          <a:ln w="12700">
            <a:solidFill>
              <a:srgbClr val="D3E3E9"/>
            </a:solidFill>
            <a:prstDash val="solid"/>
          </a:ln>
        </p:spPr>
        <p:txBody>
          <a:bodyPr/>
          <a:p/>
        </p:txBody>
      </p:sp>
      <p:pic>
        <p:nvPicPr>
          <p:cNvPr id="12" name="Image 0" descr="/mnt/data/ITT06105_Condensed_L07_Package/resources/Fig01_Conceptual_InDesign_Workspace.png">    </p:cNvPr>
          <p:cNvPicPr>
            <a:picLocks noChangeAspect="1"/>
          </p:cNvPicPr>
          <p:nvPr/>
        </p:nvPicPr>
        <p:blipFill>
          <a:blip r:embed="rId1"/>
          <a:stretch>
            <a:fillRect/>
          </a:stretch>
        </p:blipFill>
        <p:spPr>
          <a:xfrm>
            <a:off x="649224" y="2107692"/>
            <a:ext cx="6437376" cy="3621024"/>
          </a:xfrm>
          <a:prstGeom prst="rect">
            <a:avLst/>
          </a:prstGeom>
        </p:spPr>
      </p:pic>
      <p:sp>
        <p:nvSpPr>
          <p:cNvPr id="13" name="Shape 10"/>
          <p:cNvSpPr/>
          <p:nvPr/>
        </p:nvSpPr>
        <p:spPr>
          <a:xfrm>
            <a:off x="7379208" y="1874520"/>
            <a:ext cx="4251960" cy="4160520"/>
          </a:xfrm>
          <a:prstGeom prst="roundRect">
            <a:avLst>
              <a:gd name="adj" fmla="val 3077"/>
            </a:avLst>
          </a:prstGeom>
          <a:solidFill>
            <a:srgbClr val="FFFFFF"/>
          </a:solidFill>
          <a:ln w="12700">
            <a:solidFill>
              <a:srgbClr val="D3E3E9"/>
            </a:solidFill>
            <a:prstDash val="solid"/>
          </a:ln>
        </p:spPr>
        <p:txBody>
          <a:bodyPr/>
          <a:p/>
        </p:txBody>
      </p:sp>
      <p:sp>
        <p:nvSpPr>
          <p:cNvPr id="14" name="Shape 11"/>
          <p:cNvSpPr/>
          <p:nvPr/>
        </p:nvSpPr>
        <p:spPr>
          <a:xfrm>
            <a:off x="7379208" y="1874520"/>
            <a:ext cx="82296"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607808" y="2057400"/>
            <a:ext cx="379476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What you need today</a:t>
            </a:r>
            <a:endParaRPr lang="en-US" sz="2000" dirty="0"/>
          </a:p>
        </p:txBody>
      </p:sp>
      <p:sp>
        <p:nvSpPr>
          <p:cNvPr id="16" name="Text 13"/>
          <p:cNvSpPr/>
          <p:nvPr/>
        </p:nvSpPr>
        <p:spPr>
          <a:xfrm>
            <a:off x="7607808" y="2551176"/>
            <a:ext cx="3794760" cy="3328416"/>
          </a:xfrm>
          <a:prstGeom prst="rect">
            <a:avLst/>
          </a:prstGeom>
          <a:noFill/>
          <a:ln/>
        </p:spPr>
        <p:txBody>
          <a:bodyPr wrap="square" lIns="0" tIns="0" rIns="0" bIns="0" rtlCol="0" anchor="t">
            <a:normAutofit/>
          </a:bodyPr>
          <a:lstStyle/>
          <a:p>
            <a:pPr indent="0" marL="0">
              <a:buNone/>
            </a:pPr>
            <a:r>
              <a:rPr lang="en-US" sz="1730" dirty="0">
                <a:solidFill>
                  <a:srgbClr val="173552"/>
                </a:solidFill>
                <a:latin typeface="Aptos" pitchFamily="34" charset="0"/>
                <a:ea typeface="Aptos" pitchFamily="34" charset="-122"/>
                <a:cs typeface="Aptos" pitchFamily="34" charset="-120"/>
              </a:rPr>
              <a:t>Locate the Tools panel, document page, pasteboard, Pages panel and Properties or Links panel. Their exact position is less important than knowing what each part is used for.</a:t>
            </a:r>
            <a:endParaRPr lang="en-US" sz="17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EXPLAIN</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The page and the pasteboard</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These two areas serve different purposes.</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09</a:t>
            </a:r>
            <a:endParaRPr lang="en-US" sz="1000" dirty="0"/>
          </a:p>
        </p:txBody>
      </p:sp>
      <p:sp>
        <p:nvSpPr>
          <p:cNvPr id="11" name="Shape 9"/>
          <p:cNvSpPr/>
          <p:nvPr/>
        </p:nvSpPr>
        <p:spPr>
          <a:xfrm>
            <a:off x="530352" y="1874520"/>
            <a:ext cx="5504688" cy="4160520"/>
          </a:xfrm>
          <a:prstGeom prst="roundRect">
            <a:avLst>
              <a:gd name="adj" fmla="val 3077"/>
            </a:avLst>
          </a:prstGeom>
          <a:solidFill>
            <a:srgbClr val="FFFFFF"/>
          </a:solidFill>
          <a:ln w="12700">
            <a:solidFill>
              <a:srgbClr val="D3E3E9"/>
            </a:solidFill>
            <a:prstDash val="solid"/>
          </a:ln>
        </p:spPr>
        <p:txBody>
          <a:bodyPr/>
          <a:p/>
        </p:txBody>
      </p:sp>
      <p:sp>
        <p:nvSpPr>
          <p:cNvPr id="12" name="Shape 10"/>
          <p:cNvSpPr/>
          <p:nvPr/>
        </p:nvSpPr>
        <p:spPr>
          <a:xfrm>
            <a:off x="530352" y="1874520"/>
            <a:ext cx="82296"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58952" y="2057400"/>
            <a:ext cx="504748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Page</a:t>
            </a:r>
            <a:endParaRPr lang="en-US" sz="2000" dirty="0"/>
          </a:p>
        </p:txBody>
      </p:sp>
      <p:sp>
        <p:nvSpPr>
          <p:cNvPr id="14" name="Text 12"/>
          <p:cNvSpPr/>
          <p:nvPr/>
        </p:nvSpPr>
        <p:spPr>
          <a:xfrm>
            <a:off x="758952" y="2551176"/>
            <a:ext cx="5047488" cy="3328416"/>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The page is the defined publication area. Text and graphics placed inside it may appear in the exported PDF. For this lesson, the page is one A4 portrait sheet.</a:t>
            </a:r>
            <a:endParaRPr lang="en-US" sz="1900" dirty="0"/>
          </a:p>
        </p:txBody>
      </p:sp>
      <p:sp>
        <p:nvSpPr>
          <p:cNvPr id="15" name="Shape 13"/>
          <p:cNvSpPr/>
          <p:nvPr/>
        </p:nvSpPr>
        <p:spPr>
          <a:xfrm>
            <a:off x="6172200" y="1874520"/>
            <a:ext cx="5504688" cy="4160520"/>
          </a:xfrm>
          <a:prstGeom prst="roundRect">
            <a:avLst>
              <a:gd name="adj" fmla="val 3077"/>
            </a:avLst>
          </a:prstGeom>
          <a:solidFill>
            <a:srgbClr val="FFFFFF"/>
          </a:solidFill>
          <a:ln w="12700">
            <a:solidFill>
              <a:srgbClr val="D3E3E9"/>
            </a:solidFill>
            <a:prstDash val="solid"/>
          </a:ln>
        </p:spPr>
        <p:txBody>
          <a:bodyPr/>
          <a:p/>
        </p:txBody>
      </p:sp>
      <p:sp>
        <p:nvSpPr>
          <p:cNvPr id="16" name="Shape 14"/>
          <p:cNvSpPr/>
          <p:nvPr/>
        </p:nvSpPr>
        <p:spPr>
          <a:xfrm>
            <a:off x="6172200" y="1874520"/>
            <a:ext cx="82296"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400800" y="2057400"/>
            <a:ext cx="504748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Pasteboard</a:t>
            </a:r>
            <a:endParaRPr lang="en-US" sz="2000" dirty="0"/>
          </a:p>
        </p:txBody>
      </p:sp>
      <p:sp>
        <p:nvSpPr>
          <p:cNvPr id="18" name="Text 16"/>
          <p:cNvSpPr/>
          <p:nvPr/>
        </p:nvSpPr>
        <p:spPr>
          <a:xfrm>
            <a:off x="6400800" y="2551176"/>
            <a:ext cx="5047488" cy="3328416"/>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The space around the page helps you temporarily store objects while arranging the layout. Objects outside the page are usually not part of the final exported page.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The panels support different tasks</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Learn the job of each panel, not every menu option.</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10</a:t>
            </a:r>
            <a:endParaRPr lang="en-US" sz="1000" dirty="0"/>
          </a:p>
        </p:txBody>
      </p:sp>
      <p:sp>
        <p:nvSpPr>
          <p:cNvPr id="11" name="Shape 9"/>
          <p:cNvSpPr/>
          <p:nvPr/>
        </p:nvSpPr>
        <p:spPr>
          <a:xfrm>
            <a:off x="594360" y="1847088"/>
            <a:ext cx="10954512" cy="2286000"/>
          </a:xfrm>
          <a:prstGeom prst="roundRect">
            <a:avLst>
              <a:gd name="adj" fmla="val 5600"/>
            </a:avLst>
          </a:prstGeom>
          <a:solidFill>
            <a:srgbClr val="FFFFFF"/>
          </a:solidFill>
          <a:ln w="12700">
            <a:solidFill>
              <a:srgbClr val="D3E3E9"/>
            </a:solidFill>
            <a:prstDash val="solid"/>
          </a:ln>
        </p:spPr>
        <p:txBody>
          <a:bodyPr/>
          <a:p/>
        </p:txBody>
      </p:sp>
      <p:sp>
        <p:nvSpPr>
          <p:cNvPr id="12" name="Text 10"/>
          <p:cNvSpPr/>
          <p:nvPr/>
        </p:nvSpPr>
        <p:spPr>
          <a:xfrm>
            <a:off x="877824" y="2103120"/>
            <a:ext cx="9875520" cy="329184"/>
          </a:xfrm>
          <a:prstGeom prst="rect">
            <a:avLst/>
          </a:prstGeom>
          <a:noFill/>
          <a:ln/>
        </p:spPr>
        <p:txBody>
          <a:bodyPr wrap="square" lIns="0" tIns="0" rIns="0" bIns="0" rtlCol="0" anchor="ctr">
            <a:normAutofit/>
          </a:bodyPr>
          <a:lstStyle/>
          <a:p>
            <a:pPr indent="0" marL="0">
              <a:buNone/>
            </a:pPr>
            <a:r>
              <a:rPr lang="en-US" sz="2150" b="1" dirty="0">
                <a:solidFill>
                  <a:srgbClr val="078A91"/>
                </a:solidFill>
                <a:latin typeface="Aptos" pitchFamily="34" charset="0"/>
                <a:ea typeface="Aptos" pitchFamily="34" charset="-122"/>
                <a:cs typeface="Aptos" pitchFamily="34" charset="-120"/>
              </a:rPr>
              <a:t>Essential workspace controls</a:t>
            </a:r>
            <a:endParaRPr lang="en-US" sz="2150" dirty="0"/>
          </a:p>
        </p:txBody>
      </p:sp>
      <p:sp>
        <p:nvSpPr>
          <p:cNvPr id="13" name="Text 11"/>
          <p:cNvSpPr/>
          <p:nvPr/>
        </p:nvSpPr>
        <p:spPr>
          <a:xfrm>
            <a:off x="877824" y="2615184"/>
            <a:ext cx="9738360" cy="1243584"/>
          </a:xfrm>
          <a:prstGeom prst="rect">
            <a:avLst/>
          </a:prstGeom>
          <a:noFill/>
          <a:ln/>
        </p:spPr>
        <p:txBody>
          <a:bodyPr wrap="square" lIns="0" tIns="0" rIns="0" bIns="0" rtlCol="0" anchor="t">
            <a:normAutofit/>
          </a:bodyPr>
          <a:lstStyle/>
          <a:p>
            <a:pPr indent="0" marL="0">
              <a:buNone/>
            </a:pPr>
            <a:r>
              <a:rPr lang="en-US" sz="1950" dirty="0">
                <a:solidFill>
                  <a:srgbClr val="173552"/>
                </a:solidFill>
                <a:latin typeface="Aptos" pitchFamily="34" charset="0"/>
                <a:ea typeface="Aptos" pitchFamily="34" charset="-122"/>
                <a:cs typeface="Aptos" pitchFamily="34" charset="-120"/>
              </a:rPr>
              <a:t>Tools create or select page objects. Pages helps navigate and organise pages. Properties or Control changes object characteristics, while Links helps locate and update placed images.</a:t>
            </a:r>
            <a:endParaRPr lang="en-US" sz="1950" dirty="0"/>
          </a:p>
        </p:txBody>
      </p:sp>
      <p:sp>
        <p:nvSpPr>
          <p:cNvPr id="14" name="Shape 12"/>
          <p:cNvSpPr/>
          <p:nvPr/>
        </p:nvSpPr>
        <p:spPr>
          <a:xfrm>
            <a:off x="594360" y="4443984"/>
            <a:ext cx="10954512"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896112" y="4745736"/>
            <a:ext cx="10378440" cy="740664"/>
          </a:xfrm>
          <a:prstGeom prst="rect">
            <a:avLst/>
          </a:prstGeom>
          <a:noFill/>
          <a:ln/>
        </p:spPr>
        <p:txBody>
          <a:bodyPr wrap="square" lIns="0" tIns="0" rIns="0" bIns="0" rtlCol="0" anchor="ctr">
            <a:normAutofit/>
          </a:bodyPr>
          <a:lstStyle/>
          <a:p>
            <a:pPr indent="0" marL="0">
              <a:buNone/>
            </a:pPr>
            <a:r>
              <a:rPr lang="en-US" sz="1900" dirty="0">
                <a:solidFill>
                  <a:srgbClr val="173552"/>
                </a:solidFill>
                <a:latin typeface="Aptos" pitchFamily="34" charset="0"/>
                <a:ea typeface="Aptos" pitchFamily="34" charset="-122"/>
                <a:cs typeface="Aptos" pitchFamily="34" charset="-120"/>
              </a:rPr>
              <a:t>Tip: Start by finding the Selection tool, Type tool, Pages panel and the page itself.</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Page setup: A4 portrait</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Our classroom example uses an A4 page and 15 mm margins.</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11</a:t>
            </a:r>
            <a:endParaRPr lang="en-US" sz="1000" dirty="0"/>
          </a:p>
        </p:txBody>
      </p:sp>
      <p:sp>
        <p:nvSpPr>
          <p:cNvPr id="11" name="Shape 9"/>
          <p:cNvSpPr/>
          <p:nvPr/>
        </p:nvSpPr>
        <p:spPr>
          <a:xfrm>
            <a:off x="512064" y="1874520"/>
            <a:ext cx="6702552" cy="4160520"/>
          </a:xfrm>
          <a:prstGeom prst="roundRect">
            <a:avLst>
              <a:gd name="adj" fmla="val 3077"/>
            </a:avLst>
          </a:prstGeom>
          <a:solidFill>
            <a:srgbClr val="FFFFFF"/>
          </a:solidFill>
          <a:ln w="12700">
            <a:solidFill>
              <a:srgbClr val="D3E3E9"/>
            </a:solidFill>
            <a:prstDash val="solid"/>
          </a:ln>
        </p:spPr>
        <p:txBody>
          <a:bodyPr/>
          <a:p/>
        </p:txBody>
      </p:sp>
      <p:pic>
        <p:nvPicPr>
          <p:cNvPr id="12" name="Image 0" descr="/mnt/data/ITT06105_Condensed_L07_Package/resources/Fig02_A4_Margins_Guides.png">    </p:cNvPr>
          <p:cNvPicPr>
            <a:picLocks noChangeAspect="1"/>
          </p:cNvPicPr>
          <p:nvPr/>
        </p:nvPicPr>
        <p:blipFill>
          <a:blip r:embed="rId1"/>
          <a:stretch>
            <a:fillRect/>
          </a:stretch>
        </p:blipFill>
        <p:spPr>
          <a:xfrm>
            <a:off x="649224" y="2107692"/>
            <a:ext cx="6437376" cy="3621024"/>
          </a:xfrm>
          <a:prstGeom prst="rect">
            <a:avLst/>
          </a:prstGeom>
        </p:spPr>
      </p:pic>
      <p:sp>
        <p:nvSpPr>
          <p:cNvPr id="13" name="Shape 10"/>
          <p:cNvSpPr/>
          <p:nvPr/>
        </p:nvSpPr>
        <p:spPr>
          <a:xfrm>
            <a:off x="7379208" y="1874520"/>
            <a:ext cx="4251960" cy="4160520"/>
          </a:xfrm>
          <a:prstGeom prst="roundRect">
            <a:avLst>
              <a:gd name="adj" fmla="val 3077"/>
            </a:avLst>
          </a:prstGeom>
          <a:solidFill>
            <a:srgbClr val="FFFFFF"/>
          </a:solidFill>
          <a:ln w="12700">
            <a:solidFill>
              <a:srgbClr val="D3E3E9"/>
            </a:solidFill>
            <a:prstDash val="solid"/>
          </a:ln>
        </p:spPr>
        <p:txBody>
          <a:bodyPr/>
          <a:p/>
        </p:txBody>
      </p:sp>
      <p:sp>
        <p:nvSpPr>
          <p:cNvPr id="14" name="Shape 11"/>
          <p:cNvSpPr/>
          <p:nvPr/>
        </p:nvSpPr>
        <p:spPr>
          <a:xfrm>
            <a:off x="7379208" y="1874520"/>
            <a:ext cx="82296"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607808" y="2057400"/>
            <a:ext cx="379476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Essential dimensions</a:t>
            </a:r>
            <a:endParaRPr lang="en-US" sz="2000" dirty="0"/>
          </a:p>
        </p:txBody>
      </p:sp>
      <p:sp>
        <p:nvSpPr>
          <p:cNvPr id="16" name="Text 13"/>
          <p:cNvSpPr/>
          <p:nvPr/>
        </p:nvSpPr>
        <p:spPr>
          <a:xfrm>
            <a:off x="7607808" y="2551176"/>
            <a:ext cx="3794760" cy="3328416"/>
          </a:xfrm>
          <a:prstGeom prst="rect">
            <a:avLst/>
          </a:prstGeom>
          <a:noFill/>
          <a:ln/>
        </p:spPr>
        <p:txBody>
          <a:bodyPr wrap="square" lIns="0" tIns="0" rIns="0" bIns="0" rtlCol="0" anchor="t">
            <a:normAutofit/>
          </a:bodyPr>
          <a:lstStyle/>
          <a:p>
            <a:pPr indent="0" marL="0">
              <a:buNone/>
            </a:pPr>
            <a:r>
              <a:rPr lang="en-US" sz="1730" dirty="0">
                <a:solidFill>
                  <a:srgbClr val="173552"/>
                </a:solidFill>
                <a:latin typeface="Aptos" pitchFamily="34" charset="0"/>
                <a:ea typeface="Aptos" pitchFamily="34" charset="-122"/>
                <a:cs typeface="Aptos" pitchFamily="34" charset="-120"/>
              </a:rPr>
              <a:t>An A4 portrait page is 210 mm wide and 297 mm high. Margins provide breathing space between the page edge and the content. They can be adjusted later if a printer gives different requirements.</a:t>
            </a:r>
            <a:endParaRPr lang="en-US" sz="17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Quick calculation: usable page width</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A4 page with 15 mm left and right margins.</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12</a:t>
            </a:r>
            <a:endParaRPr lang="en-US" sz="1000" dirty="0"/>
          </a:p>
        </p:txBody>
      </p:sp>
      <p:sp>
        <p:nvSpPr>
          <p:cNvPr id="11" name="Shape 9"/>
          <p:cNvSpPr/>
          <p:nvPr/>
        </p:nvSpPr>
        <p:spPr>
          <a:xfrm>
            <a:off x="694944" y="1883664"/>
            <a:ext cx="10789920" cy="2907792"/>
          </a:xfrm>
          <a:prstGeom prst="roundRect">
            <a:avLst>
              <a:gd name="adj" fmla="val 4403"/>
            </a:avLst>
          </a:prstGeom>
          <a:solidFill>
            <a:srgbClr val="FFFFFF"/>
          </a:solidFill>
          <a:ln w="12700">
            <a:solidFill>
              <a:srgbClr val="D3E3E9"/>
            </a:solidFill>
            <a:prstDash val="solid"/>
          </a:ln>
        </p:spPr>
        <p:txBody>
          <a:bodyPr/>
          <a:p/>
        </p:txBody>
      </p:sp>
      <p:sp>
        <p:nvSpPr>
          <p:cNvPr id="12" name="Text 10"/>
          <p:cNvSpPr/>
          <p:nvPr/>
        </p:nvSpPr>
        <p:spPr>
          <a:xfrm>
            <a:off x="978408" y="2176272"/>
            <a:ext cx="2103120" cy="320040"/>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TRY IT</a:t>
            </a:r>
            <a:endParaRPr lang="en-US" sz="1800" dirty="0"/>
          </a:p>
        </p:txBody>
      </p:sp>
      <p:sp>
        <p:nvSpPr>
          <p:cNvPr id="13" name="Text 11"/>
          <p:cNvSpPr/>
          <p:nvPr/>
        </p:nvSpPr>
        <p:spPr>
          <a:xfrm>
            <a:off x="978408" y="2743200"/>
            <a:ext cx="9893808" cy="1417320"/>
          </a:xfrm>
          <a:prstGeom prst="rect">
            <a:avLst/>
          </a:prstGeom>
          <a:noFill/>
          <a:ln/>
        </p:spPr>
        <p:txBody>
          <a:bodyPr wrap="square" lIns="0" tIns="0" rIns="0" bIns="0" rtlCol="0" anchor="t">
            <a:normAutofit/>
          </a:bodyPr>
          <a:lstStyle/>
          <a:p>
            <a:pPr indent="0" marL="0">
              <a:buNone/>
            </a:pPr>
            <a:r>
              <a:rPr lang="en-US" sz="2300" b="1" dirty="0">
                <a:solidFill>
                  <a:srgbClr val="173552"/>
                </a:solidFill>
                <a:latin typeface="Aptos" pitchFamily="34" charset="0"/>
                <a:ea typeface="Aptos" pitchFamily="34" charset="-122"/>
                <a:cs typeface="Aptos" pitchFamily="34" charset="-120"/>
              </a:rPr>
              <a:t>How much width remains for text and pictures after the two side margins?</a:t>
            </a:r>
            <a:endParaRPr lang="en-US" sz="2300" dirty="0"/>
          </a:p>
        </p:txBody>
      </p:sp>
      <p:sp>
        <p:nvSpPr>
          <p:cNvPr id="14" name="Shape 12"/>
          <p:cNvSpPr/>
          <p:nvPr/>
        </p:nvSpPr>
        <p:spPr>
          <a:xfrm>
            <a:off x="694944" y="5074920"/>
            <a:ext cx="10789920" cy="960120"/>
          </a:xfrm>
          <a:prstGeom prst="roundRect">
            <a:avLst>
              <a:gd name="adj" fmla="val 13333"/>
            </a:avLst>
          </a:prstGeom>
          <a:solidFill>
            <a:srgbClr val="EAF3F5"/>
          </a:solidFill>
          <a:ln w="12700">
            <a:solidFill>
              <a:srgbClr val="EAF3F5"/>
            </a:solidFill>
            <a:prstDash val="solid"/>
          </a:ln>
        </p:spPr>
        <p:txBody>
          <a:bodyPr/>
          <a:p/>
        </p:txBody>
      </p:sp>
      <p:sp>
        <p:nvSpPr>
          <p:cNvPr id="15" name="Text 13"/>
          <p:cNvSpPr/>
          <p:nvPr/>
        </p:nvSpPr>
        <p:spPr>
          <a:xfrm>
            <a:off x="978408" y="5285232"/>
            <a:ext cx="9966960" cy="566928"/>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Width = 210 − 15 − 15 = 180 mm. Explain why this matters before arranging your frames.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Quick calculation: usable page height</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Use the same 15 mm top and bottom margins.</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13</a:t>
            </a:r>
            <a:endParaRPr lang="en-US" sz="1000" dirty="0"/>
          </a:p>
        </p:txBody>
      </p:sp>
      <p:sp>
        <p:nvSpPr>
          <p:cNvPr id="11" name="Shape 9"/>
          <p:cNvSpPr/>
          <p:nvPr/>
        </p:nvSpPr>
        <p:spPr>
          <a:xfrm>
            <a:off x="694944" y="1883664"/>
            <a:ext cx="10789920" cy="2907792"/>
          </a:xfrm>
          <a:prstGeom prst="roundRect">
            <a:avLst>
              <a:gd name="adj" fmla="val 4403"/>
            </a:avLst>
          </a:prstGeom>
          <a:solidFill>
            <a:srgbClr val="FFFFFF"/>
          </a:solidFill>
          <a:ln w="12700">
            <a:solidFill>
              <a:srgbClr val="D3E3E9"/>
            </a:solidFill>
            <a:prstDash val="solid"/>
          </a:ln>
        </p:spPr>
        <p:txBody>
          <a:bodyPr/>
          <a:p/>
        </p:txBody>
      </p:sp>
      <p:sp>
        <p:nvSpPr>
          <p:cNvPr id="12" name="Text 10"/>
          <p:cNvSpPr/>
          <p:nvPr/>
        </p:nvSpPr>
        <p:spPr>
          <a:xfrm>
            <a:off x="978408" y="2176272"/>
            <a:ext cx="2103120" cy="320040"/>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TRY IT</a:t>
            </a:r>
            <a:endParaRPr lang="en-US" sz="1800" dirty="0"/>
          </a:p>
        </p:txBody>
      </p:sp>
      <p:sp>
        <p:nvSpPr>
          <p:cNvPr id="13" name="Text 11"/>
          <p:cNvSpPr/>
          <p:nvPr/>
        </p:nvSpPr>
        <p:spPr>
          <a:xfrm>
            <a:off x="978408" y="2743200"/>
            <a:ext cx="9893808" cy="1417320"/>
          </a:xfrm>
          <a:prstGeom prst="rect">
            <a:avLst/>
          </a:prstGeom>
          <a:noFill/>
          <a:ln/>
        </p:spPr>
        <p:txBody>
          <a:bodyPr wrap="square" lIns="0" tIns="0" rIns="0" bIns="0" rtlCol="0" anchor="t">
            <a:normAutofit/>
          </a:bodyPr>
          <a:lstStyle/>
          <a:p>
            <a:pPr indent="0" marL="0">
              <a:buNone/>
            </a:pPr>
            <a:r>
              <a:rPr lang="en-US" sz="2300" b="1" dirty="0">
                <a:solidFill>
                  <a:srgbClr val="173552"/>
                </a:solidFill>
                <a:latin typeface="Aptos" pitchFamily="34" charset="0"/>
                <a:ea typeface="Aptos" pitchFamily="34" charset="-122"/>
                <a:cs typeface="Aptos" pitchFamily="34" charset="-120"/>
              </a:rPr>
              <a:t>If the A4 page height is 297 mm, how much vertical space remains inside the margins?</a:t>
            </a:r>
            <a:endParaRPr lang="en-US" sz="2300" dirty="0"/>
          </a:p>
        </p:txBody>
      </p:sp>
      <p:sp>
        <p:nvSpPr>
          <p:cNvPr id="14" name="Shape 12"/>
          <p:cNvSpPr/>
          <p:nvPr/>
        </p:nvSpPr>
        <p:spPr>
          <a:xfrm>
            <a:off x="694944" y="5074920"/>
            <a:ext cx="10789920" cy="960120"/>
          </a:xfrm>
          <a:prstGeom prst="roundRect">
            <a:avLst>
              <a:gd name="adj" fmla="val 13333"/>
            </a:avLst>
          </a:prstGeom>
          <a:solidFill>
            <a:srgbClr val="EAF3F5"/>
          </a:solidFill>
          <a:ln w="12700">
            <a:solidFill>
              <a:srgbClr val="EAF3F5"/>
            </a:solidFill>
            <a:prstDash val="solid"/>
          </a:ln>
        </p:spPr>
        <p:txBody>
          <a:bodyPr/>
          <a:p/>
        </p:txBody>
      </p:sp>
      <p:sp>
        <p:nvSpPr>
          <p:cNvPr id="15" name="Text 13"/>
          <p:cNvSpPr/>
          <p:nvPr/>
        </p:nvSpPr>
        <p:spPr>
          <a:xfrm>
            <a:off x="978408" y="5285232"/>
            <a:ext cx="9966960" cy="566928"/>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Height = 297 − 15 − 15 = 267 mm. This is the approximate content region for our classroom layout.</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Margins and guides are not borders</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They organise where content should sit.</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14</a:t>
            </a:r>
            <a:endParaRPr lang="en-US" sz="1000" dirty="0"/>
          </a:p>
        </p:txBody>
      </p:sp>
      <p:sp>
        <p:nvSpPr>
          <p:cNvPr id="11" name="Shape 9"/>
          <p:cNvSpPr/>
          <p:nvPr/>
        </p:nvSpPr>
        <p:spPr>
          <a:xfrm>
            <a:off x="594360" y="1847088"/>
            <a:ext cx="10954512" cy="2286000"/>
          </a:xfrm>
          <a:prstGeom prst="roundRect">
            <a:avLst>
              <a:gd name="adj" fmla="val 5600"/>
            </a:avLst>
          </a:prstGeom>
          <a:solidFill>
            <a:srgbClr val="FFFFFF"/>
          </a:solidFill>
          <a:ln w="12700">
            <a:solidFill>
              <a:srgbClr val="D3E3E9"/>
            </a:solidFill>
            <a:prstDash val="solid"/>
          </a:ln>
        </p:spPr>
        <p:txBody>
          <a:bodyPr/>
          <a:p/>
        </p:txBody>
      </p:sp>
      <p:sp>
        <p:nvSpPr>
          <p:cNvPr id="12" name="Text 10"/>
          <p:cNvSpPr/>
          <p:nvPr/>
        </p:nvSpPr>
        <p:spPr>
          <a:xfrm>
            <a:off x="877824" y="2103120"/>
            <a:ext cx="9875520" cy="329184"/>
          </a:xfrm>
          <a:prstGeom prst="rect">
            <a:avLst/>
          </a:prstGeom>
          <a:noFill/>
          <a:ln/>
        </p:spPr>
        <p:txBody>
          <a:bodyPr wrap="square" lIns="0" tIns="0" rIns="0" bIns="0" rtlCol="0" anchor="ctr">
            <a:normAutofit/>
          </a:bodyPr>
          <a:lstStyle/>
          <a:p>
            <a:pPr indent="0" marL="0">
              <a:buNone/>
            </a:pPr>
            <a:r>
              <a:rPr lang="en-US" sz="2150" b="1" dirty="0">
                <a:solidFill>
                  <a:srgbClr val="078A91"/>
                </a:solidFill>
                <a:latin typeface="Aptos" pitchFamily="34" charset="0"/>
                <a:ea typeface="Aptos" pitchFamily="34" charset="-122"/>
                <a:cs typeface="Aptos" pitchFamily="34" charset="-120"/>
              </a:rPr>
              <a:t>Margin versus guide</a:t>
            </a:r>
            <a:endParaRPr lang="en-US" sz="2150" dirty="0"/>
          </a:p>
        </p:txBody>
      </p:sp>
      <p:sp>
        <p:nvSpPr>
          <p:cNvPr id="13" name="Text 11"/>
          <p:cNvSpPr/>
          <p:nvPr/>
        </p:nvSpPr>
        <p:spPr>
          <a:xfrm>
            <a:off x="877824" y="2615184"/>
            <a:ext cx="9738360" cy="1243584"/>
          </a:xfrm>
          <a:prstGeom prst="rect">
            <a:avLst/>
          </a:prstGeom>
          <a:noFill/>
          <a:ln/>
        </p:spPr>
        <p:txBody>
          <a:bodyPr wrap="square" lIns="0" tIns="0" rIns="0" bIns="0" rtlCol="0" anchor="t">
            <a:normAutofit/>
          </a:bodyPr>
          <a:lstStyle/>
          <a:p>
            <a:pPr indent="0" marL="0">
              <a:buNone/>
            </a:pPr>
            <a:r>
              <a:rPr lang="en-US" sz="1950" dirty="0">
                <a:solidFill>
                  <a:srgbClr val="173552"/>
                </a:solidFill>
                <a:latin typeface="Aptos" pitchFamily="34" charset="0"/>
                <a:ea typeface="Aptos" pitchFamily="34" charset="-122"/>
                <a:cs typeface="Aptos" pitchFamily="34" charset="-120"/>
              </a:rPr>
              <a:t>A margin is an intended clear space near a page edge. Guides are reference lines that help align titles, photos and paragraphs. They are usually visible while editing but are not printed as part of the content.</a:t>
            </a:r>
            <a:endParaRPr lang="en-US" sz="1950" dirty="0"/>
          </a:p>
        </p:txBody>
      </p:sp>
      <p:sp>
        <p:nvSpPr>
          <p:cNvPr id="14" name="Shape 12"/>
          <p:cNvSpPr/>
          <p:nvPr/>
        </p:nvSpPr>
        <p:spPr>
          <a:xfrm>
            <a:off x="594360" y="4443984"/>
            <a:ext cx="10954512"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896112" y="4745736"/>
            <a:ext cx="10378440" cy="740664"/>
          </a:xfrm>
          <a:prstGeom prst="rect">
            <a:avLst/>
          </a:prstGeom>
          <a:noFill/>
          <a:ln/>
        </p:spPr>
        <p:txBody>
          <a:bodyPr wrap="square" lIns="0" tIns="0" rIns="0" bIns="0" rtlCol="0" anchor="ctr">
            <a:normAutofit/>
          </a:bodyPr>
          <a:lstStyle/>
          <a:p>
            <a:pPr indent="0" marL="0">
              <a:buNone/>
            </a:pPr>
            <a:r>
              <a:rPr lang="en-US" sz="1900" dirty="0">
                <a:solidFill>
                  <a:srgbClr val="173552"/>
                </a:solidFill>
                <a:latin typeface="Aptos" pitchFamily="34" charset="0"/>
                <a:ea typeface="Aptos" pitchFamily="34" charset="-122"/>
                <a:cs typeface="Aptos" pitchFamily="34" charset="-120"/>
              </a:rPr>
              <a:t>The easiest beginner rule is to keep the important text and graphics inside the margin guides.</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PAGE PLAN</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Begin with a wireframe</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A simple sketch prevents misplaced content later.</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15</a:t>
            </a:r>
            <a:endParaRPr lang="en-US" sz="1000" dirty="0"/>
          </a:p>
        </p:txBody>
      </p:sp>
      <p:sp>
        <p:nvSpPr>
          <p:cNvPr id="11" name="Shape 9"/>
          <p:cNvSpPr/>
          <p:nvPr/>
        </p:nvSpPr>
        <p:spPr>
          <a:xfrm>
            <a:off x="512064" y="1874520"/>
            <a:ext cx="6702552" cy="4160520"/>
          </a:xfrm>
          <a:prstGeom prst="roundRect">
            <a:avLst>
              <a:gd name="adj" fmla="val 3077"/>
            </a:avLst>
          </a:prstGeom>
          <a:solidFill>
            <a:srgbClr val="FFFFFF"/>
          </a:solidFill>
          <a:ln w="12700">
            <a:solidFill>
              <a:srgbClr val="D3E3E9"/>
            </a:solidFill>
            <a:prstDash val="solid"/>
          </a:ln>
        </p:spPr>
        <p:txBody>
          <a:bodyPr/>
          <a:p/>
        </p:txBody>
      </p:sp>
      <p:pic>
        <p:nvPicPr>
          <p:cNvPr id="12" name="Image 0" descr="/mnt/data/ITT06105_Condensed_L07_Package/resources/Tumaini_A4_Handout_Wireframe.png">    </p:cNvPr>
          <p:cNvPicPr>
            <a:picLocks noChangeAspect="1"/>
          </p:cNvPicPr>
          <p:nvPr/>
        </p:nvPicPr>
        <p:blipFill>
          <a:blip r:embed="rId1"/>
          <a:stretch>
            <a:fillRect/>
          </a:stretch>
        </p:blipFill>
        <p:spPr>
          <a:xfrm>
            <a:off x="2539478" y="2039112"/>
            <a:ext cx="2656869" cy="3758184"/>
          </a:xfrm>
          <a:prstGeom prst="rect">
            <a:avLst/>
          </a:prstGeom>
        </p:spPr>
      </p:pic>
      <p:sp>
        <p:nvSpPr>
          <p:cNvPr id="13" name="Shape 10"/>
          <p:cNvSpPr/>
          <p:nvPr/>
        </p:nvSpPr>
        <p:spPr>
          <a:xfrm>
            <a:off x="7379208" y="1874520"/>
            <a:ext cx="4251960" cy="4160520"/>
          </a:xfrm>
          <a:prstGeom prst="roundRect">
            <a:avLst>
              <a:gd name="adj" fmla="val 3077"/>
            </a:avLst>
          </a:prstGeom>
          <a:solidFill>
            <a:srgbClr val="FFFFFF"/>
          </a:solidFill>
          <a:ln w="12700">
            <a:solidFill>
              <a:srgbClr val="D3E3E9"/>
            </a:solidFill>
            <a:prstDash val="solid"/>
          </a:ln>
        </p:spPr>
        <p:txBody>
          <a:bodyPr/>
          <a:p/>
        </p:txBody>
      </p:sp>
      <p:sp>
        <p:nvSpPr>
          <p:cNvPr id="14" name="Shape 11"/>
          <p:cNvSpPr/>
          <p:nvPr/>
        </p:nvSpPr>
        <p:spPr>
          <a:xfrm>
            <a:off x="7379208" y="1874520"/>
            <a:ext cx="82296"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607808" y="2057400"/>
            <a:ext cx="379476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What to sketch</a:t>
            </a:r>
            <a:endParaRPr lang="en-US" sz="2000" dirty="0"/>
          </a:p>
        </p:txBody>
      </p:sp>
      <p:sp>
        <p:nvSpPr>
          <p:cNvPr id="16" name="Text 13"/>
          <p:cNvSpPr/>
          <p:nvPr/>
        </p:nvSpPr>
        <p:spPr>
          <a:xfrm>
            <a:off x="7607808" y="2551176"/>
            <a:ext cx="3794760" cy="3328416"/>
          </a:xfrm>
          <a:prstGeom prst="rect">
            <a:avLst/>
          </a:prstGeom>
          <a:noFill/>
          <a:ln/>
        </p:spPr>
        <p:txBody>
          <a:bodyPr wrap="square" lIns="0" tIns="0" rIns="0" bIns="0" rtlCol="0" anchor="t">
            <a:normAutofit/>
          </a:bodyPr>
          <a:lstStyle/>
          <a:p>
            <a:pPr indent="0" marL="0">
              <a:buNone/>
            </a:pPr>
            <a:r>
              <a:rPr lang="en-US" sz="1730" dirty="0">
                <a:solidFill>
                  <a:srgbClr val="173552"/>
                </a:solidFill>
                <a:latin typeface="Aptos" pitchFamily="34" charset="0"/>
                <a:ea typeface="Aptos" pitchFamily="34" charset="-122"/>
                <a:cs typeface="Aptos" pitchFamily="34" charset="-120"/>
              </a:rPr>
              <a:t>Mark a large title area, a short subtitle, one photograph, three brief tips and a small footer. Decide the order before you start resizing text and images on a computer.</a:t>
            </a:r>
            <a:endParaRPr lang="en-US" sz="17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Text frames and image frames</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They contain different kinds of material.</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16</a:t>
            </a:r>
            <a:endParaRPr lang="en-US" sz="1000" dirty="0"/>
          </a:p>
        </p:txBody>
      </p:sp>
      <p:sp>
        <p:nvSpPr>
          <p:cNvPr id="11" name="Shape 9"/>
          <p:cNvSpPr/>
          <p:nvPr/>
        </p:nvSpPr>
        <p:spPr>
          <a:xfrm>
            <a:off x="512064" y="1874520"/>
            <a:ext cx="6702552" cy="4160520"/>
          </a:xfrm>
          <a:prstGeom prst="roundRect">
            <a:avLst>
              <a:gd name="adj" fmla="val 3077"/>
            </a:avLst>
          </a:prstGeom>
          <a:solidFill>
            <a:srgbClr val="FFFFFF"/>
          </a:solidFill>
          <a:ln w="12700">
            <a:solidFill>
              <a:srgbClr val="D3E3E9"/>
            </a:solidFill>
            <a:prstDash val="solid"/>
          </a:ln>
        </p:spPr>
        <p:txBody>
          <a:bodyPr/>
          <a:p/>
        </p:txBody>
      </p:sp>
      <p:pic>
        <p:nvPicPr>
          <p:cNvPr id="12" name="Image 0" descr="/mnt/data/ITT06105_Condensed_L07_Package/resources/Fig03_Text_and_Image_Frames.png">    </p:cNvPr>
          <p:cNvPicPr>
            <a:picLocks noChangeAspect="1"/>
          </p:cNvPicPr>
          <p:nvPr/>
        </p:nvPicPr>
        <p:blipFill>
          <a:blip r:embed="rId1"/>
          <a:stretch>
            <a:fillRect/>
          </a:stretch>
        </p:blipFill>
        <p:spPr>
          <a:xfrm>
            <a:off x="649224" y="2107692"/>
            <a:ext cx="6437376" cy="3621024"/>
          </a:xfrm>
          <a:prstGeom prst="rect">
            <a:avLst/>
          </a:prstGeom>
        </p:spPr>
      </p:pic>
      <p:sp>
        <p:nvSpPr>
          <p:cNvPr id="13" name="Shape 10"/>
          <p:cNvSpPr/>
          <p:nvPr/>
        </p:nvSpPr>
        <p:spPr>
          <a:xfrm>
            <a:off x="7379208" y="1874520"/>
            <a:ext cx="4251960" cy="4160520"/>
          </a:xfrm>
          <a:prstGeom prst="roundRect">
            <a:avLst>
              <a:gd name="adj" fmla="val 3077"/>
            </a:avLst>
          </a:prstGeom>
          <a:solidFill>
            <a:srgbClr val="FFFFFF"/>
          </a:solidFill>
          <a:ln w="12700">
            <a:solidFill>
              <a:srgbClr val="D3E3E9"/>
            </a:solidFill>
            <a:prstDash val="solid"/>
          </a:ln>
        </p:spPr>
        <p:txBody>
          <a:bodyPr/>
          <a:p/>
        </p:txBody>
      </p:sp>
      <p:sp>
        <p:nvSpPr>
          <p:cNvPr id="14" name="Shape 11"/>
          <p:cNvSpPr/>
          <p:nvPr/>
        </p:nvSpPr>
        <p:spPr>
          <a:xfrm>
            <a:off x="7379208" y="1874520"/>
            <a:ext cx="82296"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607808" y="2057400"/>
            <a:ext cx="379476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Two essential containers</a:t>
            </a:r>
            <a:endParaRPr lang="en-US" sz="2000" dirty="0"/>
          </a:p>
        </p:txBody>
      </p:sp>
      <p:sp>
        <p:nvSpPr>
          <p:cNvPr id="16" name="Text 13"/>
          <p:cNvSpPr/>
          <p:nvPr/>
        </p:nvSpPr>
        <p:spPr>
          <a:xfrm>
            <a:off x="7607808" y="2551176"/>
            <a:ext cx="3794760" cy="3328416"/>
          </a:xfrm>
          <a:prstGeom prst="rect">
            <a:avLst/>
          </a:prstGeom>
          <a:noFill/>
          <a:ln/>
        </p:spPr>
        <p:txBody>
          <a:bodyPr wrap="square" lIns="0" tIns="0" rIns="0" bIns="0" rtlCol="0" anchor="t">
            <a:normAutofit/>
          </a:bodyPr>
          <a:lstStyle/>
          <a:p>
            <a:pPr indent="0" marL="0">
              <a:buNone/>
            </a:pPr>
            <a:r>
              <a:rPr lang="en-US" sz="1730" dirty="0">
                <a:solidFill>
                  <a:srgbClr val="173552"/>
                </a:solidFill>
                <a:latin typeface="Aptos" pitchFamily="34" charset="0"/>
                <a:ea typeface="Aptos" pitchFamily="34" charset="-122"/>
                <a:cs typeface="Aptos" pitchFamily="34" charset="-120"/>
              </a:rPr>
              <a:t>A text frame holds editable letters and paragraphs. An image frame displays a photograph or illustration that has been placed into the publication. You can move or resize each frame independently.</a:t>
            </a:r>
            <a:endParaRPr lang="en-US" sz="17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What is a text frame?</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The words remain editable within the layout.</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17</a:t>
            </a:r>
            <a:endParaRPr lang="en-US" sz="1000" dirty="0"/>
          </a:p>
        </p:txBody>
      </p:sp>
      <p:sp>
        <p:nvSpPr>
          <p:cNvPr id="11" name="Shape 9"/>
          <p:cNvSpPr/>
          <p:nvPr/>
        </p:nvSpPr>
        <p:spPr>
          <a:xfrm>
            <a:off x="594360" y="1847088"/>
            <a:ext cx="10954512" cy="2286000"/>
          </a:xfrm>
          <a:prstGeom prst="roundRect">
            <a:avLst>
              <a:gd name="adj" fmla="val 5600"/>
            </a:avLst>
          </a:prstGeom>
          <a:solidFill>
            <a:srgbClr val="FFFFFF"/>
          </a:solidFill>
          <a:ln w="12700">
            <a:solidFill>
              <a:srgbClr val="D3E3E9"/>
            </a:solidFill>
            <a:prstDash val="solid"/>
          </a:ln>
        </p:spPr>
        <p:txBody>
          <a:bodyPr/>
          <a:p/>
        </p:txBody>
      </p:sp>
      <p:sp>
        <p:nvSpPr>
          <p:cNvPr id="12" name="Text 10"/>
          <p:cNvSpPr/>
          <p:nvPr/>
        </p:nvSpPr>
        <p:spPr>
          <a:xfrm>
            <a:off x="877824" y="2103120"/>
            <a:ext cx="9875520" cy="329184"/>
          </a:xfrm>
          <a:prstGeom prst="rect">
            <a:avLst/>
          </a:prstGeom>
          <a:noFill/>
          <a:ln/>
        </p:spPr>
        <p:txBody>
          <a:bodyPr wrap="square" lIns="0" tIns="0" rIns="0" bIns="0" rtlCol="0" anchor="ctr">
            <a:normAutofit/>
          </a:bodyPr>
          <a:lstStyle/>
          <a:p>
            <a:pPr indent="0" marL="0">
              <a:buNone/>
            </a:pPr>
            <a:r>
              <a:rPr lang="en-US" sz="2150" b="1" dirty="0">
                <a:solidFill>
                  <a:srgbClr val="078A91"/>
                </a:solidFill>
                <a:latin typeface="Aptos" pitchFamily="34" charset="0"/>
                <a:ea typeface="Aptos" pitchFamily="34" charset="-122"/>
                <a:cs typeface="Aptos" pitchFamily="34" charset="-120"/>
              </a:rPr>
              <a:t>Text frame</a:t>
            </a:r>
            <a:endParaRPr lang="en-US" sz="2150" dirty="0"/>
          </a:p>
        </p:txBody>
      </p:sp>
      <p:sp>
        <p:nvSpPr>
          <p:cNvPr id="13" name="Text 11"/>
          <p:cNvSpPr/>
          <p:nvPr/>
        </p:nvSpPr>
        <p:spPr>
          <a:xfrm>
            <a:off x="877824" y="2615184"/>
            <a:ext cx="9738360" cy="1243584"/>
          </a:xfrm>
          <a:prstGeom prst="rect">
            <a:avLst/>
          </a:prstGeom>
          <a:noFill/>
          <a:ln/>
        </p:spPr>
        <p:txBody>
          <a:bodyPr wrap="square" lIns="0" tIns="0" rIns="0" bIns="0" rtlCol="0" anchor="t">
            <a:normAutofit/>
          </a:bodyPr>
          <a:lstStyle/>
          <a:p>
            <a:pPr indent="0" marL="0">
              <a:buNone/>
            </a:pPr>
            <a:r>
              <a:rPr lang="en-US" sz="1950" dirty="0">
                <a:solidFill>
                  <a:srgbClr val="173552"/>
                </a:solidFill>
                <a:latin typeface="Aptos" pitchFamily="34" charset="0"/>
                <a:ea typeface="Aptos" pitchFamily="34" charset="-122"/>
                <a:cs typeface="Aptos" pitchFamily="34" charset="-120"/>
              </a:rPr>
              <a:t>A text frame is a rectangular or other defined area that contains text. Use a frame for your title, subtitle, body tips or footer. Adjusting frame size changes how the words flow; it does not mean that the words themselves have changed.</a:t>
            </a:r>
            <a:endParaRPr lang="en-US" sz="1950" dirty="0"/>
          </a:p>
        </p:txBody>
      </p:sp>
      <p:sp>
        <p:nvSpPr>
          <p:cNvPr id="14" name="Shape 12"/>
          <p:cNvSpPr/>
          <p:nvPr/>
        </p:nvSpPr>
        <p:spPr>
          <a:xfrm>
            <a:off x="594360" y="4443984"/>
            <a:ext cx="10954512"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896112" y="4745736"/>
            <a:ext cx="10378440" cy="740664"/>
          </a:xfrm>
          <a:prstGeom prst="rect">
            <a:avLst/>
          </a:prstGeom>
          <a:noFill/>
          <a:ln/>
        </p:spPr>
        <p:txBody>
          <a:bodyPr wrap="square" lIns="0" tIns="0" rIns="0" bIns="0" rtlCol="0" anchor="ctr">
            <a:normAutofit/>
          </a:bodyPr>
          <a:lstStyle/>
          <a:p>
            <a:pPr indent="0" marL="0">
              <a:buNone/>
            </a:pPr>
            <a:r>
              <a:rPr lang="en-US" sz="1900" dirty="0">
                <a:solidFill>
                  <a:srgbClr val="173552"/>
                </a:solidFill>
                <a:latin typeface="Aptos" pitchFamily="34" charset="0"/>
                <a:ea typeface="Aptos" pitchFamily="34" charset="-122"/>
                <a:cs typeface="Aptos" pitchFamily="34" charset="-120"/>
              </a:rPr>
              <a:t>Create a headline that can be read immediately, then add short supporting paragraphs.</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What is an image frame?</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Think of the frame as a window onto a picture.</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18</a:t>
            </a:r>
            <a:endParaRPr lang="en-US" sz="1000" dirty="0"/>
          </a:p>
        </p:txBody>
      </p:sp>
      <p:sp>
        <p:nvSpPr>
          <p:cNvPr id="11" name="Shape 9"/>
          <p:cNvSpPr/>
          <p:nvPr/>
        </p:nvSpPr>
        <p:spPr>
          <a:xfrm>
            <a:off x="594360" y="1847088"/>
            <a:ext cx="10954512" cy="2286000"/>
          </a:xfrm>
          <a:prstGeom prst="roundRect">
            <a:avLst>
              <a:gd name="adj" fmla="val 5600"/>
            </a:avLst>
          </a:prstGeom>
          <a:solidFill>
            <a:srgbClr val="FFFFFF"/>
          </a:solidFill>
          <a:ln w="12700">
            <a:solidFill>
              <a:srgbClr val="D3E3E9"/>
            </a:solidFill>
            <a:prstDash val="solid"/>
          </a:ln>
        </p:spPr>
        <p:txBody>
          <a:bodyPr/>
          <a:p/>
        </p:txBody>
      </p:sp>
      <p:sp>
        <p:nvSpPr>
          <p:cNvPr id="12" name="Text 10"/>
          <p:cNvSpPr/>
          <p:nvPr/>
        </p:nvSpPr>
        <p:spPr>
          <a:xfrm>
            <a:off x="877824" y="2103120"/>
            <a:ext cx="9875520" cy="329184"/>
          </a:xfrm>
          <a:prstGeom prst="rect">
            <a:avLst/>
          </a:prstGeom>
          <a:noFill/>
          <a:ln/>
        </p:spPr>
        <p:txBody>
          <a:bodyPr wrap="square" lIns="0" tIns="0" rIns="0" bIns="0" rtlCol="0" anchor="ctr">
            <a:normAutofit/>
          </a:bodyPr>
          <a:lstStyle/>
          <a:p>
            <a:pPr indent="0" marL="0">
              <a:buNone/>
            </a:pPr>
            <a:r>
              <a:rPr lang="en-US" sz="2150" b="1" dirty="0">
                <a:solidFill>
                  <a:srgbClr val="078A91"/>
                </a:solidFill>
                <a:latin typeface="Aptos" pitchFamily="34" charset="0"/>
                <a:ea typeface="Aptos" pitchFamily="34" charset="-122"/>
                <a:cs typeface="Aptos" pitchFamily="34" charset="-120"/>
              </a:rPr>
              <a:t>Graphic or image frame</a:t>
            </a:r>
            <a:endParaRPr lang="en-US" sz="2150" dirty="0"/>
          </a:p>
        </p:txBody>
      </p:sp>
      <p:sp>
        <p:nvSpPr>
          <p:cNvPr id="13" name="Text 11"/>
          <p:cNvSpPr/>
          <p:nvPr/>
        </p:nvSpPr>
        <p:spPr>
          <a:xfrm>
            <a:off x="877824" y="2615184"/>
            <a:ext cx="9738360" cy="1243584"/>
          </a:xfrm>
          <a:prstGeom prst="rect">
            <a:avLst/>
          </a:prstGeom>
          <a:noFill/>
          <a:ln/>
        </p:spPr>
        <p:txBody>
          <a:bodyPr wrap="square" lIns="0" tIns="0" rIns="0" bIns="0" rtlCol="0" anchor="t">
            <a:normAutofit/>
          </a:bodyPr>
          <a:lstStyle/>
          <a:p>
            <a:pPr indent="0" marL="0">
              <a:buNone/>
            </a:pPr>
            <a:r>
              <a:rPr lang="en-US" sz="1950" dirty="0">
                <a:solidFill>
                  <a:srgbClr val="173552"/>
                </a:solidFill>
                <a:latin typeface="Aptos" pitchFamily="34" charset="0"/>
                <a:ea typeface="Aptos" pitchFamily="34" charset="-122"/>
                <a:cs typeface="Aptos" pitchFamily="34" charset="-120"/>
              </a:rPr>
              <a:t>An image frame displays an imported graphic. You can move or crop the visible portion without changing the original image file. The frame and the image inside it can be adjusted separately, so use fitting options carefully.</a:t>
            </a:r>
            <a:endParaRPr lang="en-US" sz="1950" dirty="0"/>
          </a:p>
        </p:txBody>
      </p:sp>
      <p:sp>
        <p:nvSpPr>
          <p:cNvPr id="14" name="Shape 12"/>
          <p:cNvSpPr/>
          <p:nvPr/>
        </p:nvSpPr>
        <p:spPr>
          <a:xfrm>
            <a:off x="594360" y="4443984"/>
            <a:ext cx="10954512"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896112" y="4745736"/>
            <a:ext cx="10378440" cy="740664"/>
          </a:xfrm>
          <a:prstGeom prst="rect">
            <a:avLst/>
          </a:prstGeom>
          <a:noFill/>
          <a:ln/>
        </p:spPr>
        <p:txBody>
          <a:bodyPr wrap="square" lIns="0" tIns="0" rIns="0" bIns="0" rtlCol="0" anchor="ctr">
            <a:normAutofit/>
          </a:bodyPr>
          <a:lstStyle/>
          <a:p>
            <a:pPr indent="0" marL="0">
              <a:buNone/>
            </a:pPr>
            <a:r>
              <a:rPr lang="en-US" sz="1900" dirty="0">
                <a:solidFill>
                  <a:srgbClr val="173552"/>
                </a:solidFill>
                <a:latin typeface="Aptos" pitchFamily="34" charset="0"/>
                <a:ea typeface="Aptos" pitchFamily="34" charset="-122"/>
                <a:cs typeface="Aptos" pitchFamily="34" charset="-120"/>
              </a:rPr>
              <a:t>Place the prepared image from Lecture 5 instead of searching for a new photograph.</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SOFTWARE PROCEDURE</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Placing a prepared image</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The basic File &gt; Place workflow.</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19</a:t>
            </a:r>
            <a:endParaRPr lang="en-US" sz="1000" dirty="0"/>
          </a:p>
        </p:txBody>
      </p:sp>
      <p:sp>
        <p:nvSpPr>
          <p:cNvPr id="11" name="Shape 9"/>
          <p:cNvSpPr/>
          <p:nvPr/>
        </p:nvSpPr>
        <p:spPr>
          <a:xfrm>
            <a:off x="594360" y="1874520"/>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12" name="Shape 10"/>
          <p:cNvSpPr/>
          <p:nvPr/>
        </p:nvSpPr>
        <p:spPr>
          <a:xfrm>
            <a:off x="768096" y="2029968"/>
            <a:ext cx="566928" cy="630936"/>
          </a:xfrm>
          <a:prstGeom prst="roundRect">
            <a:avLst>
              <a:gd name="adj" fmla="val 22581"/>
            </a:avLst>
          </a:prstGeom>
          <a:solidFill>
            <a:srgbClr val="078A91"/>
          </a:solidFill>
          <a:ln w="12700">
            <a:solidFill>
              <a:srgbClr val="078A91"/>
            </a:solidFill>
            <a:prstDash val="solid"/>
          </a:ln>
        </p:spPr>
        <p:txBody>
          <a:bodyPr/>
          <a:p/>
        </p:txBody>
      </p:sp>
      <p:sp>
        <p:nvSpPr>
          <p:cNvPr id="13" name="Text 11"/>
          <p:cNvSpPr/>
          <p:nvPr/>
        </p:nvSpPr>
        <p:spPr>
          <a:xfrm>
            <a:off x="932688" y="2066544"/>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54480" y="2011680"/>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Find</a:t>
            </a:r>
            <a:endParaRPr lang="en-US" sz="1860" dirty="0"/>
          </a:p>
        </p:txBody>
      </p:sp>
      <p:sp>
        <p:nvSpPr>
          <p:cNvPr id="15" name="Text 13"/>
          <p:cNvSpPr/>
          <p:nvPr/>
        </p:nvSpPr>
        <p:spPr>
          <a:xfrm>
            <a:off x="4572000" y="2011680"/>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Make sure the image is saved inside your project folder.</a:t>
            </a:r>
            <a:endParaRPr lang="en-US" sz="1790" dirty="0"/>
          </a:p>
        </p:txBody>
      </p:sp>
      <p:sp>
        <p:nvSpPr>
          <p:cNvPr id="16" name="Shape 14"/>
          <p:cNvSpPr/>
          <p:nvPr/>
        </p:nvSpPr>
        <p:spPr>
          <a:xfrm>
            <a:off x="594360" y="2944368"/>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17" name="Shape 15"/>
          <p:cNvSpPr/>
          <p:nvPr/>
        </p:nvSpPr>
        <p:spPr>
          <a:xfrm>
            <a:off x="768096" y="3099816"/>
            <a:ext cx="566928" cy="630936"/>
          </a:xfrm>
          <a:prstGeom prst="roundRect">
            <a:avLst>
              <a:gd name="adj" fmla="val 22581"/>
            </a:avLst>
          </a:prstGeom>
          <a:solidFill>
            <a:srgbClr val="173552"/>
          </a:solidFill>
          <a:ln w="12700">
            <a:solidFill>
              <a:srgbClr val="173552"/>
            </a:solidFill>
            <a:prstDash val="solid"/>
          </a:ln>
        </p:spPr>
        <p:txBody>
          <a:bodyPr/>
          <a:p/>
        </p:txBody>
      </p:sp>
      <p:sp>
        <p:nvSpPr>
          <p:cNvPr id="18" name="Text 16"/>
          <p:cNvSpPr/>
          <p:nvPr/>
        </p:nvSpPr>
        <p:spPr>
          <a:xfrm>
            <a:off x="932688" y="3136392"/>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54480" y="3081528"/>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Place</a:t>
            </a:r>
            <a:endParaRPr lang="en-US" sz="1860" dirty="0"/>
          </a:p>
        </p:txBody>
      </p:sp>
      <p:sp>
        <p:nvSpPr>
          <p:cNvPr id="20" name="Text 18"/>
          <p:cNvSpPr/>
          <p:nvPr/>
        </p:nvSpPr>
        <p:spPr>
          <a:xfrm>
            <a:off x="4572000" y="3081528"/>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In InDesign, choose File &gt; Place and select the file.</a:t>
            </a:r>
            <a:endParaRPr lang="en-US" sz="1790" dirty="0"/>
          </a:p>
        </p:txBody>
      </p:sp>
      <p:sp>
        <p:nvSpPr>
          <p:cNvPr id="21" name="Shape 19"/>
          <p:cNvSpPr/>
          <p:nvPr/>
        </p:nvSpPr>
        <p:spPr>
          <a:xfrm>
            <a:off x="594360" y="4014216"/>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22" name="Shape 20"/>
          <p:cNvSpPr/>
          <p:nvPr/>
        </p:nvSpPr>
        <p:spPr>
          <a:xfrm>
            <a:off x="768096" y="4169664"/>
            <a:ext cx="566928" cy="630936"/>
          </a:xfrm>
          <a:prstGeom prst="roundRect">
            <a:avLst>
              <a:gd name="adj" fmla="val 22581"/>
            </a:avLst>
          </a:prstGeom>
          <a:solidFill>
            <a:srgbClr val="078A91"/>
          </a:solidFill>
          <a:ln w="12700">
            <a:solidFill>
              <a:srgbClr val="078A91"/>
            </a:solidFill>
            <a:prstDash val="solid"/>
          </a:ln>
        </p:spPr>
        <p:txBody>
          <a:bodyPr/>
          <a:p/>
        </p:txBody>
      </p:sp>
      <p:sp>
        <p:nvSpPr>
          <p:cNvPr id="23" name="Text 21"/>
          <p:cNvSpPr/>
          <p:nvPr/>
        </p:nvSpPr>
        <p:spPr>
          <a:xfrm>
            <a:off x="932688" y="4206240"/>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54480" y="4151376"/>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Position</a:t>
            </a:r>
            <a:endParaRPr lang="en-US" sz="1860" dirty="0"/>
          </a:p>
        </p:txBody>
      </p:sp>
      <p:sp>
        <p:nvSpPr>
          <p:cNvPr id="25" name="Text 23"/>
          <p:cNvSpPr/>
          <p:nvPr/>
        </p:nvSpPr>
        <p:spPr>
          <a:xfrm>
            <a:off x="4572000" y="4151376"/>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Click a prepared frame or drag an appropriately sized frame.</a:t>
            </a:r>
            <a:endParaRPr lang="en-US" sz="1790" dirty="0"/>
          </a:p>
        </p:txBody>
      </p:sp>
      <p:sp>
        <p:nvSpPr>
          <p:cNvPr id="26" name="Shape 24"/>
          <p:cNvSpPr/>
          <p:nvPr/>
        </p:nvSpPr>
        <p:spPr>
          <a:xfrm>
            <a:off x="594360" y="5084064"/>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27" name="Shape 25"/>
          <p:cNvSpPr/>
          <p:nvPr/>
        </p:nvSpPr>
        <p:spPr>
          <a:xfrm>
            <a:off x="768096" y="5239512"/>
            <a:ext cx="566928" cy="630936"/>
          </a:xfrm>
          <a:prstGeom prst="roundRect">
            <a:avLst>
              <a:gd name="adj" fmla="val 22581"/>
            </a:avLst>
          </a:prstGeom>
          <a:solidFill>
            <a:srgbClr val="173552"/>
          </a:solidFill>
          <a:ln w="12700">
            <a:solidFill>
              <a:srgbClr val="173552"/>
            </a:solidFill>
            <a:prstDash val="solid"/>
          </a:ln>
        </p:spPr>
        <p:txBody>
          <a:bodyPr/>
          <a:p/>
        </p:txBody>
      </p:sp>
      <p:sp>
        <p:nvSpPr>
          <p:cNvPr id="28" name="Text 26"/>
          <p:cNvSpPr/>
          <p:nvPr/>
        </p:nvSpPr>
        <p:spPr>
          <a:xfrm>
            <a:off x="932688" y="5276088"/>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54480" y="5221224"/>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Fit</a:t>
            </a:r>
            <a:endParaRPr lang="en-US" sz="1860" dirty="0"/>
          </a:p>
        </p:txBody>
      </p:sp>
      <p:sp>
        <p:nvSpPr>
          <p:cNvPr id="30" name="Text 28"/>
          <p:cNvSpPr/>
          <p:nvPr/>
        </p:nvSpPr>
        <p:spPr>
          <a:xfrm>
            <a:off x="4572000" y="5221224"/>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Keep the image in proportion; adjust the crop if required.</a:t>
            </a:r>
            <a:endParaRPr lang="en-US" sz="179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Avoid stretching the picture</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Poor fitting and hidden text are different problems.</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20</a:t>
            </a:r>
            <a:endParaRPr lang="en-US" sz="1000" dirty="0"/>
          </a:p>
        </p:txBody>
      </p:sp>
      <p:sp>
        <p:nvSpPr>
          <p:cNvPr id="11" name="Shape 9"/>
          <p:cNvSpPr/>
          <p:nvPr/>
        </p:nvSpPr>
        <p:spPr>
          <a:xfrm>
            <a:off x="512064" y="1874520"/>
            <a:ext cx="6702552" cy="4160520"/>
          </a:xfrm>
          <a:prstGeom prst="roundRect">
            <a:avLst>
              <a:gd name="adj" fmla="val 3077"/>
            </a:avLst>
          </a:prstGeom>
          <a:solidFill>
            <a:srgbClr val="FFFFFF"/>
          </a:solidFill>
          <a:ln w="12700">
            <a:solidFill>
              <a:srgbClr val="D3E3E9"/>
            </a:solidFill>
            <a:prstDash val="solid"/>
          </a:ln>
        </p:spPr>
        <p:txBody>
          <a:bodyPr/>
          <a:p/>
        </p:txBody>
      </p:sp>
      <p:pic>
        <p:nvPicPr>
          <p:cNvPr id="12" name="Image 0" descr="/mnt/data/ITT06105_Condensed_L07_Package/resources/Fig04_Fitting_and_Overset.png">    </p:cNvPr>
          <p:cNvPicPr>
            <a:picLocks noChangeAspect="1"/>
          </p:cNvPicPr>
          <p:nvPr/>
        </p:nvPicPr>
        <p:blipFill>
          <a:blip r:embed="rId1"/>
          <a:stretch>
            <a:fillRect/>
          </a:stretch>
        </p:blipFill>
        <p:spPr>
          <a:xfrm>
            <a:off x="649224" y="2107692"/>
            <a:ext cx="6437376" cy="3621024"/>
          </a:xfrm>
          <a:prstGeom prst="rect">
            <a:avLst/>
          </a:prstGeom>
        </p:spPr>
      </p:pic>
      <p:sp>
        <p:nvSpPr>
          <p:cNvPr id="13" name="Shape 10"/>
          <p:cNvSpPr/>
          <p:nvPr/>
        </p:nvSpPr>
        <p:spPr>
          <a:xfrm>
            <a:off x="7379208" y="1874520"/>
            <a:ext cx="4251960" cy="4160520"/>
          </a:xfrm>
          <a:prstGeom prst="roundRect">
            <a:avLst>
              <a:gd name="adj" fmla="val 3077"/>
            </a:avLst>
          </a:prstGeom>
          <a:solidFill>
            <a:srgbClr val="FFFFFF"/>
          </a:solidFill>
          <a:ln w="12700">
            <a:solidFill>
              <a:srgbClr val="D3E3E9"/>
            </a:solidFill>
            <a:prstDash val="solid"/>
          </a:ln>
        </p:spPr>
        <p:txBody>
          <a:bodyPr/>
          <a:p/>
        </p:txBody>
      </p:sp>
      <p:sp>
        <p:nvSpPr>
          <p:cNvPr id="14" name="Shape 11"/>
          <p:cNvSpPr/>
          <p:nvPr/>
        </p:nvSpPr>
        <p:spPr>
          <a:xfrm>
            <a:off x="7379208" y="1874520"/>
            <a:ext cx="82296"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607808" y="2057400"/>
            <a:ext cx="379476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A common beginner mistake</a:t>
            </a:r>
            <a:endParaRPr lang="en-US" sz="2000" dirty="0"/>
          </a:p>
        </p:txBody>
      </p:sp>
      <p:sp>
        <p:nvSpPr>
          <p:cNvPr id="16" name="Text 13"/>
          <p:cNvSpPr/>
          <p:nvPr/>
        </p:nvSpPr>
        <p:spPr>
          <a:xfrm>
            <a:off x="7607808" y="2551176"/>
            <a:ext cx="3794760" cy="3328416"/>
          </a:xfrm>
          <a:prstGeom prst="rect">
            <a:avLst/>
          </a:prstGeom>
          <a:noFill/>
          <a:ln/>
        </p:spPr>
        <p:txBody>
          <a:bodyPr wrap="square" lIns="0" tIns="0" rIns="0" bIns="0" rtlCol="0" anchor="t">
            <a:normAutofit/>
          </a:bodyPr>
          <a:lstStyle/>
          <a:p>
            <a:pPr indent="0" marL="0">
              <a:buNone/>
            </a:pPr>
            <a:r>
              <a:rPr lang="en-US" sz="1730" dirty="0">
                <a:solidFill>
                  <a:srgbClr val="173552"/>
                </a:solidFill>
                <a:latin typeface="Aptos" pitchFamily="34" charset="0"/>
                <a:ea typeface="Aptos" pitchFamily="34" charset="-122"/>
                <a:cs typeface="Aptos" pitchFamily="34" charset="-120"/>
              </a:rPr>
              <a:t>Stretching only the width or the height makes people and objects look unnatural. Fit the picture proportionally. If text is hidden, enlarge the text frame or simplify the wording.</a:t>
            </a:r>
            <a:endParaRPr lang="en-US" sz="173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What is overset text?</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Important words should never disappear from the export.</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21</a:t>
            </a:r>
            <a:endParaRPr lang="en-US" sz="1000" dirty="0"/>
          </a:p>
        </p:txBody>
      </p:sp>
      <p:sp>
        <p:nvSpPr>
          <p:cNvPr id="11" name="Shape 9"/>
          <p:cNvSpPr/>
          <p:nvPr/>
        </p:nvSpPr>
        <p:spPr>
          <a:xfrm>
            <a:off x="594360" y="1847088"/>
            <a:ext cx="10954512" cy="2286000"/>
          </a:xfrm>
          <a:prstGeom prst="roundRect">
            <a:avLst>
              <a:gd name="adj" fmla="val 5600"/>
            </a:avLst>
          </a:prstGeom>
          <a:solidFill>
            <a:srgbClr val="FFFFFF"/>
          </a:solidFill>
          <a:ln w="12700">
            <a:solidFill>
              <a:srgbClr val="D3E3E9"/>
            </a:solidFill>
            <a:prstDash val="solid"/>
          </a:ln>
        </p:spPr>
        <p:txBody>
          <a:bodyPr/>
          <a:p/>
        </p:txBody>
      </p:sp>
      <p:sp>
        <p:nvSpPr>
          <p:cNvPr id="12" name="Text 10"/>
          <p:cNvSpPr/>
          <p:nvPr/>
        </p:nvSpPr>
        <p:spPr>
          <a:xfrm>
            <a:off x="877824" y="2103120"/>
            <a:ext cx="9875520" cy="329184"/>
          </a:xfrm>
          <a:prstGeom prst="rect">
            <a:avLst/>
          </a:prstGeom>
          <a:noFill/>
          <a:ln/>
        </p:spPr>
        <p:txBody>
          <a:bodyPr wrap="square" lIns="0" tIns="0" rIns="0" bIns="0" rtlCol="0" anchor="ctr">
            <a:normAutofit/>
          </a:bodyPr>
          <a:lstStyle/>
          <a:p>
            <a:pPr indent="0" marL="0">
              <a:buNone/>
            </a:pPr>
            <a:r>
              <a:rPr lang="en-US" sz="2150" b="1" dirty="0">
                <a:solidFill>
                  <a:srgbClr val="078A91"/>
                </a:solidFill>
                <a:latin typeface="Aptos" pitchFamily="34" charset="0"/>
                <a:ea typeface="Aptos" pitchFamily="34" charset="-122"/>
                <a:cs typeface="Aptos" pitchFamily="34" charset="-120"/>
              </a:rPr>
              <a:t>Overset text</a:t>
            </a:r>
            <a:endParaRPr lang="en-US" sz="2150" dirty="0"/>
          </a:p>
        </p:txBody>
      </p:sp>
      <p:sp>
        <p:nvSpPr>
          <p:cNvPr id="13" name="Text 11"/>
          <p:cNvSpPr/>
          <p:nvPr/>
        </p:nvSpPr>
        <p:spPr>
          <a:xfrm>
            <a:off x="877824" y="2615184"/>
            <a:ext cx="9738360" cy="1243584"/>
          </a:xfrm>
          <a:prstGeom prst="rect">
            <a:avLst/>
          </a:prstGeom>
          <a:noFill/>
          <a:ln/>
        </p:spPr>
        <p:txBody>
          <a:bodyPr wrap="square" lIns="0" tIns="0" rIns="0" bIns="0" rtlCol="0" anchor="t">
            <a:normAutofit/>
          </a:bodyPr>
          <a:lstStyle/>
          <a:p>
            <a:pPr indent="0" marL="0">
              <a:buNone/>
            </a:pPr>
            <a:r>
              <a:rPr lang="en-US" sz="1950" dirty="0">
                <a:solidFill>
                  <a:srgbClr val="173552"/>
                </a:solidFill>
                <a:latin typeface="Aptos" pitchFamily="34" charset="0"/>
                <a:ea typeface="Aptos" pitchFamily="34" charset="-122"/>
                <a:cs typeface="Aptos" pitchFamily="34" charset="-120"/>
              </a:rPr>
              <a:t>Overset text is text that is stored in a frame but does not fit inside the visible area. InDesign may show a small red plus on the text frame. The reader cannot reliably see the hidden material in the exported publication.</a:t>
            </a:r>
            <a:endParaRPr lang="en-US" sz="1950" dirty="0"/>
          </a:p>
        </p:txBody>
      </p:sp>
      <p:sp>
        <p:nvSpPr>
          <p:cNvPr id="14" name="Shape 12"/>
          <p:cNvSpPr/>
          <p:nvPr/>
        </p:nvSpPr>
        <p:spPr>
          <a:xfrm>
            <a:off x="594360" y="4443984"/>
            <a:ext cx="10954512"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896112" y="4745736"/>
            <a:ext cx="10378440" cy="740664"/>
          </a:xfrm>
          <a:prstGeom prst="rect">
            <a:avLst/>
          </a:prstGeom>
          <a:noFill/>
          <a:ln/>
        </p:spPr>
        <p:txBody>
          <a:bodyPr wrap="square" lIns="0" tIns="0" rIns="0" bIns="0" rtlCol="0" anchor="ctr">
            <a:normAutofit/>
          </a:bodyPr>
          <a:lstStyle/>
          <a:p>
            <a:pPr indent="0" marL="0">
              <a:buNone/>
            </a:pPr>
            <a:r>
              <a:rPr lang="en-US" sz="1900" dirty="0">
                <a:solidFill>
                  <a:srgbClr val="173552"/>
                </a:solidFill>
                <a:latin typeface="Aptos" pitchFamily="34" charset="0"/>
                <a:ea typeface="Aptos" pitchFamily="34" charset="-122"/>
                <a:cs typeface="Aptos" pitchFamily="34" charset="-120"/>
              </a:rPr>
              <a:t>Always check that all three safety tips appear completely in the PDF proof.</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EXPLAIN</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Build a clear visual hierarchy</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Do not use the same size and weight for every line.</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22</a:t>
            </a:r>
            <a:endParaRPr lang="en-US" sz="1000" dirty="0"/>
          </a:p>
        </p:txBody>
      </p:sp>
      <p:sp>
        <p:nvSpPr>
          <p:cNvPr id="11" name="Shape 9"/>
          <p:cNvSpPr/>
          <p:nvPr/>
        </p:nvSpPr>
        <p:spPr>
          <a:xfrm>
            <a:off x="530352" y="1874520"/>
            <a:ext cx="5504688" cy="4160520"/>
          </a:xfrm>
          <a:prstGeom prst="roundRect">
            <a:avLst>
              <a:gd name="adj" fmla="val 3077"/>
            </a:avLst>
          </a:prstGeom>
          <a:solidFill>
            <a:srgbClr val="FFFFFF"/>
          </a:solidFill>
          <a:ln w="12700">
            <a:solidFill>
              <a:srgbClr val="D3E3E9"/>
            </a:solidFill>
            <a:prstDash val="solid"/>
          </a:ln>
        </p:spPr>
        <p:txBody>
          <a:bodyPr/>
          <a:p/>
        </p:txBody>
      </p:sp>
      <p:sp>
        <p:nvSpPr>
          <p:cNvPr id="12" name="Shape 10"/>
          <p:cNvSpPr/>
          <p:nvPr/>
        </p:nvSpPr>
        <p:spPr>
          <a:xfrm>
            <a:off x="530352" y="1874520"/>
            <a:ext cx="82296"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58952" y="2057400"/>
            <a:ext cx="504748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What should be noticed first?</a:t>
            </a:r>
            <a:endParaRPr lang="en-US" sz="2000" dirty="0"/>
          </a:p>
        </p:txBody>
      </p:sp>
      <p:sp>
        <p:nvSpPr>
          <p:cNvPr id="14" name="Text 12"/>
          <p:cNvSpPr/>
          <p:nvPr/>
        </p:nvSpPr>
        <p:spPr>
          <a:xfrm>
            <a:off x="758952" y="2551176"/>
            <a:ext cx="5047488" cy="3328416"/>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The title “Stay Safe Online” must be the most prominent text. It tells readers immediately what the hand-out is about. Use a larger size and a position near the top.</a:t>
            </a:r>
            <a:endParaRPr lang="en-US" sz="1900" dirty="0"/>
          </a:p>
        </p:txBody>
      </p:sp>
      <p:sp>
        <p:nvSpPr>
          <p:cNvPr id="15" name="Shape 13"/>
          <p:cNvSpPr/>
          <p:nvPr/>
        </p:nvSpPr>
        <p:spPr>
          <a:xfrm>
            <a:off x="6172200" y="1874520"/>
            <a:ext cx="5504688" cy="4160520"/>
          </a:xfrm>
          <a:prstGeom prst="roundRect">
            <a:avLst>
              <a:gd name="adj" fmla="val 3077"/>
            </a:avLst>
          </a:prstGeom>
          <a:solidFill>
            <a:srgbClr val="FFFFFF"/>
          </a:solidFill>
          <a:ln w="12700">
            <a:solidFill>
              <a:srgbClr val="D3E3E9"/>
            </a:solidFill>
            <a:prstDash val="solid"/>
          </a:ln>
        </p:spPr>
        <p:txBody>
          <a:bodyPr/>
          <a:p/>
        </p:txBody>
      </p:sp>
      <p:sp>
        <p:nvSpPr>
          <p:cNvPr id="16" name="Shape 14"/>
          <p:cNvSpPr/>
          <p:nvPr/>
        </p:nvSpPr>
        <p:spPr>
          <a:xfrm>
            <a:off x="6172200" y="1874520"/>
            <a:ext cx="82296"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400800" y="2057400"/>
            <a:ext cx="504748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What should follow?</a:t>
            </a:r>
            <a:endParaRPr lang="en-US" sz="2000" dirty="0"/>
          </a:p>
        </p:txBody>
      </p:sp>
      <p:sp>
        <p:nvSpPr>
          <p:cNvPr id="18" name="Text 16"/>
          <p:cNvSpPr/>
          <p:nvPr/>
        </p:nvSpPr>
        <p:spPr>
          <a:xfrm>
            <a:off x="6400800" y="2551176"/>
            <a:ext cx="5047488" cy="3328416"/>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The one-sentence explanation introduces the topic, followed by the main image and three short practical tips. The organisation name belongs in the footer and can be smaller.</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EXPLAIN</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Alignment and spacing improve readability</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Simple consistency is more useful than decoration.</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23</a:t>
            </a:r>
            <a:endParaRPr lang="en-US" sz="1000" dirty="0"/>
          </a:p>
        </p:txBody>
      </p:sp>
      <p:sp>
        <p:nvSpPr>
          <p:cNvPr id="11" name="Shape 9"/>
          <p:cNvSpPr/>
          <p:nvPr/>
        </p:nvSpPr>
        <p:spPr>
          <a:xfrm>
            <a:off x="530352" y="1874520"/>
            <a:ext cx="5504688" cy="4160520"/>
          </a:xfrm>
          <a:prstGeom prst="roundRect">
            <a:avLst>
              <a:gd name="adj" fmla="val 3077"/>
            </a:avLst>
          </a:prstGeom>
          <a:solidFill>
            <a:srgbClr val="FFFFFF"/>
          </a:solidFill>
          <a:ln w="12700">
            <a:solidFill>
              <a:srgbClr val="D3E3E9"/>
            </a:solidFill>
            <a:prstDash val="solid"/>
          </a:ln>
        </p:spPr>
        <p:txBody>
          <a:bodyPr/>
          <a:p/>
        </p:txBody>
      </p:sp>
      <p:sp>
        <p:nvSpPr>
          <p:cNvPr id="12" name="Shape 10"/>
          <p:cNvSpPr/>
          <p:nvPr/>
        </p:nvSpPr>
        <p:spPr>
          <a:xfrm>
            <a:off x="530352" y="1874520"/>
            <a:ext cx="82296"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58952" y="2057400"/>
            <a:ext cx="504748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Alignment</a:t>
            </a:r>
            <a:endParaRPr lang="en-US" sz="2000" dirty="0"/>
          </a:p>
        </p:txBody>
      </p:sp>
      <p:sp>
        <p:nvSpPr>
          <p:cNvPr id="14" name="Text 12"/>
          <p:cNvSpPr/>
          <p:nvPr/>
        </p:nvSpPr>
        <p:spPr>
          <a:xfrm>
            <a:off x="758952" y="2551176"/>
            <a:ext cx="5047488" cy="3328416"/>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Use the same left edge for related text frames. A title, subtitle and body points that line up feel like parts of the same publication.</a:t>
            </a:r>
            <a:endParaRPr lang="en-US" sz="1900" dirty="0"/>
          </a:p>
        </p:txBody>
      </p:sp>
      <p:sp>
        <p:nvSpPr>
          <p:cNvPr id="15" name="Shape 13"/>
          <p:cNvSpPr/>
          <p:nvPr/>
        </p:nvSpPr>
        <p:spPr>
          <a:xfrm>
            <a:off x="6172200" y="1874520"/>
            <a:ext cx="5504688" cy="4160520"/>
          </a:xfrm>
          <a:prstGeom prst="roundRect">
            <a:avLst>
              <a:gd name="adj" fmla="val 3077"/>
            </a:avLst>
          </a:prstGeom>
          <a:solidFill>
            <a:srgbClr val="FFFFFF"/>
          </a:solidFill>
          <a:ln w="12700">
            <a:solidFill>
              <a:srgbClr val="D3E3E9"/>
            </a:solidFill>
            <a:prstDash val="solid"/>
          </a:ln>
        </p:spPr>
        <p:txBody>
          <a:bodyPr/>
          <a:p/>
        </p:txBody>
      </p:sp>
      <p:sp>
        <p:nvSpPr>
          <p:cNvPr id="16" name="Shape 14"/>
          <p:cNvSpPr/>
          <p:nvPr/>
        </p:nvSpPr>
        <p:spPr>
          <a:xfrm>
            <a:off x="6172200" y="1874520"/>
            <a:ext cx="82296"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400800" y="2057400"/>
            <a:ext cx="504748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White space</a:t>
            </a:r>
            <a:endParaRPr lang="en-US" sz="2000" dirty="0"/>
          </a:p>
        </p:txBody>
      </p:sp>
      <p:sp>
        <p:nvSpPr>
          <p:cNvPr id="18" name="Text 16"/>
          <p:cNvSpPr/>
          <p:nvPr/>
        </p:nvSpPr>
        <p:spPr>
          <a:xfrm>
            <a:off x="6400800" y="2551176"/>
            <a:ext cx="5047488" cy="3328416"/>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Leave enough space around groups of information. Do not fill every area of the page; the empty space helps separate unrelated blocks and makes reading easier.</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See the planned and unplanned versions</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Notice how the clear design uses fewer distractions.</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24</a:t>
            </a:r>
            <a:endParaRPr lang="en-US" sz="1000" dirty="0"/>
          </a:p>
        </p:txBody>
      </p:sp>
      <p:sp>
        <p:nvSpPr>
          <p:cNvPr id="11" name="Shape 9"/>
          <p:cNvSpPr/>
          <p:nvPr/>
        </p:nvSpPr>
        <p:spPr>
          <a:xfrm>
            <a:off x="512064" y="1874520"/>
            <a:ext cx="6702552" cy="4160520"/>
          </a:xfrm>
          <a:prstGeom prst="roundRect">
            <a:avLst>
              <a:gd name="adj" fmla="val 3077"/>
            </a:avLst>
          </a:prstGeom>
          <a:solidFill>
            <a:srgbClr val="FFFFFF"/>
          </a:solidFill>
          <a:ln w="12700">
            <a:solidFill>
              <a:srgbClr val="D3E3E9"/>
            </a:solidFill>
            <a:prstDash val="solid"/>
          </a:ln>
        </p:spPr>
        <p:txBody>
          <a:bodyPr/>
          <a:p/>
        </p:txBody>
      </p:sp>
      <p:pic>
        <p:nvPicPr>
          <p:cNvPr id="12" name="Image 0" descr="/mnt/data/ITT06105_Condensed_L07_Package/resources/Fig06_Before_After_Layout.png">    </p:cNvPr>
          <p:cNvPicPr>
            <a:picLocks noChangeAspect="1"/>
          </p:cNvPicPr>
          <p:nvPr/>
        </p:nvPicPr>
        <p:blipFill>
          <a:blip r:embed="rId1"/>
          <a:stretch>
            <a:fillRect/>
          </a:stretch>
        </p:blipFill>
        <p:spPr>
          <a:xfrm>
            <a:off x="649224" y="2107692"/>
            <a:ext cx="6437376" cy="3621024"/>
          </a:xfrm>
          <a:prstGeom prst="rect">
            <a:avLst/>
          </a:prstGeom>
        </p:spPr>
      </p:pic>
      <p:sp>
        <p:nvSpPr>
          <p:cNvPr id="13" name="Shape 10"/>
          <p:cNvSpPr/>
          <p:nvPr/>
        </p:nvSpPr>
        <p:spPr>
          <a:xfrm>
            <a:off x="7379208" y="1874520"/>
            <a:ext cx="4251960" cy="4160520"/>
          </a:xfrm>
          <a:prstGeom prst="roundRect">
            <a:avLst>
              <a:gd name="adj" fmla="val 3077"/>
            </a:avLst>
          </a:prstGeom>
          <a:solidFill>
            <a:srgbClr val="FFFFFF"/>
          </a:solidFill>
          <a:ln w="12700">
            <a:solidFill>
              <a:srgbClr val="D3E3E9"/>
            </a:solidFill>
            <a:prstDash val="solid"/>
          </a:ln>
        </p:spPr>
        <p:txBody>
          <a:bodyPr/>
          <a:p/>
        </p:txBody>
      </p:sp>
      <p:sp>
        <p:nvSpPr>
          <p:cNvPr id="14" name="Shape 11"/>
          <p:cNvSpPr/>
          <p:nvPr/>
        </p:nvSpPr>
        <p:spPr>
          <a:xfrm>
            <a:off x="7379208" y="1874520"/>
            <a:ext cx="82296"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607808" y="2057400"/>
            <a:ext cx="379476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Apply what you already know</a:t>
            </a:r>
            <a:endParaRPr lang="en-US" sz="2000" dirty="0"/>
          </a:p>
        </p:txBody>
      </p:sp>
      <p:sp>
        <p:nvSpPr>
          <p:cNvPr id="16" name="Text 13"/>
          <p:cNvSpPr/>
          <p:nvPr/>
        </p:nvSpPr>
        <p:spPr>
          <a:xfrm>
            <a:off x="7607808" y="2551176"/>
            <a:ext cx="3794760" cy="3328416"/>
          </a:xfrm>
          <a:prstGeom prst="rect">
            <a:avLst/>
          </a:prstGeom>
          <a:noFill/>
          <a:ln/>
        </p:spPr>
        <p:txBody>
          <a:bodyPr wrap="square" lIns="0" tIns="0" rIns="0" bIns="0" rtlCol="0" anchor="t">
            <a:normAutofit/>
          </a:bodyPr>
          <a:lstStyle/>
          <a:p>
            <a:pPr indent="0" marL="0">
              <a:buNone/>
            </a:pPr>
            <a:r>
              <a:rPr lang="en-US" sz="1730" dirty="0">
                <a:solidFill>
                  <a:srgbClr val="173552"/>
                </a:solidFill>
                <a:latin typeface="Aptos" pitchFamily="34" charset="0"/>
                <a:ea typeface="Aptos" pitchFamily="34" charset="-122"/>
                <a:cs typeface="Aptos" pitchFamily="34" charset="-120"/>
              </a:rPr>
              <a:t>This lecture reuses the design principles from Lecture 1: contrast, alignment, proximity and hierarchy. The layout should make the main information easy to locate.</a:t>
            </a:r>
            <a:endParaRPr lang="en-US" sz="173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MODEL OUTPUT</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Your model hand-out: Stay Safe Online</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Use the example as a guide, not as a requirement to copy every detail.</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25</a:t>
            </a:r>
            <a:endParaRPr lang="en-US" sz="1000" dirty="0"/>
          </a:p>
        </p:txBody>
      </p:sp>
      <p:sp>
        <p:nvSpPr>
          <p:cNvPr id="11" name="Shape 9"/>
          <p:cNvSpPr/>
          <p:nvPr/>
        </p:nvSpPr>
        <p:spPr>
          <a:xfrm>
            <a:off x="512064" y="1874520"/>
            <a:ext cx="6702552" cy="4160520"/>
          </a:xfrm>
          <a:prstGeom prst="roundRect">
            <a:avLst>
              <a:gd name="adj" fmla="val 3077"/>
            </a:avLst>
          </a:prstGeom>
          <a:solidFill>
            <a:srgbClr val="FFFFFF"/>
          </a:solidFill>
          <a:ln w="12700">
            <a:solidFill>
              <a:srgbClr val="D3E3E9"/>
            </a:solidFill>
            <a:prstDash val="solid"/>
          </a:ln>
        </p:spPr>
        <p:txBody>
          <a:bodyPr/>
          <a:p/>
        </p:txBody>
      </p:sp>
      <p:pic>
        <p:nvPicPr>
          <p:cNvPr id="12" name="Image 0" descr="/mnt/data/ITT06105_Condensed_L07_Package/resources/Tumaini_A4_Stay_Safe_Online_Model.png">    </p:cNvPr>
          <p:cNvPicPr>
            <a:picLocks noChangeAspect="1"/>
          </p:cNvPicPr>
          <p:nvPr/>
        </p:nvPicPr>
        <p:blipFill>
          <a:blip r:embed="rId1"/>
          <a:stretch>
            <a:fillRect/>
          </a:stretch>
        </p:blipFill>
        <p:spPr>
          <a:xfrm>
            <a:off x="2539478" y="2039112"/>
            <a:ext cx="2656869" cy="3758184"/>
          </a:xfrm>
          <a:prstGeom prst="rect">
            <a:avLst/>
          </a:prstGeom>
        </p:spPr>
      </p:pic>
      <p:sp>
        <p:nvSpPr>
          <p:cNvPr id="13" name="Shape 10"/>
          <p:cNvSpPr/>
          <p:nvPr/>
        </p:nvSpPr>
        <p:spPr>
          <a:xfrm>
            <a:off x="7379208" y="1874520"/>
            <a:ext cx="4251960" cy="4160520"/>
          </a:xfrm>
          <a:prstGeom prst="roundRect">
            <a:avLst>
              <a:gd name="adj" fmla="val 3077"/>
            </a:avLst>
          </a:prstGeom>
          <a:solidFill>
            <a:srgbClr val="FFFFFF"/>
          </a:solidFill>
          <a:ln w="12700">
            <a:solidFill>
              <a:srgbClr val="D3E3E9"/>
            </a:solidFill>
            <a:prstDash val="solid"/>
          </a:ln>
        </p:spPr>
        <p:txBody>
          <a:bodyPr/>
          <a:p/>
        </p:txBody>
      </p:sp>
      <p:sp>
        <p:nvSpPr>
          <p:cNvPr id="14" name="Shape 11"/>
          <p:cNvSpPr/>
          <p:nvPr/>
        </p:nvSpPr>
        <p:spPr>
          <a:xfrm>
            <a:off x="7379208" y="1874520"/>
            <a:ext cx="82296"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607808" y="2057400"/>
            <a:ext cx="379476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Expected page structure</a:t>
            </a:r>
            <a:endParaRPr lang="en-US" sz="2000" dirty="0"/>
          </a:p>
        </p:txBody>
      </p:sp>
      <p:sp>
        <p:nvSpPr>
          <p:cNvPr id="16" name="Text 13"/>
          <p:cNvSpPr/>
          <p:nvPr/>
        </p:nvSpPr>
        <p:spPr>
          <a:xfrm>
            <a:off x="7607808" y="2551176"/>
            <a:ext cx="3794760" cy="3328416"/>
          </a:xfrm>
          <a:prstGeom prst="rect">
            <a:avLst/>
          </a:prstGeom>
          <a:noFill/>
          <a:ln/>
        </p:spPr>
        <p:txBody>
          <a:bodyPr wrap="square" lIns="0" tIns="0" rIns="0" bIns="0" rtlCol="0" anchor="t">
            <a:normAutofit/>
          </a:bodyPr>
          <a:lstStyle/>
          <a:p>
            <a:pPr indent="0" marL="0">
              <a:buNone/>
            </a:pPr>
            <a:r>
              <a:rPr lang="en-US" sz="1730" dirty="0">
                <a:solidFill>
                  <a:srgbClr val="173552"/>
                </a:solidFill>
                <a:latin typeface="Aptos" pitchFamily="34" charset="0"/>
                <a:ea typeface="Aptos" pitchFamily="34" charset="-122"/>
                <a:cs typeface="Aptos" pitchFamily="34" charset="-120"/>
              </a:rPr>
              <a:t>A title, short subtitle, one main image, three short tips and a footer. You will create the basic skeleton in Lecture 7, then refine and proof the hand-out in Lecture 8.</a:t>
            </a:r>
            <a:endParaRPr lang="en-US" sz="173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GUIDED PRACTICAL</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Practical — Stage 1: create the project</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Start by keeping the source files organised.</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26</a:t>
            </a:r>
            <a:endParaRPr lang="en-US" sz="1000" dirty="0"/>
          </a:p>
        </p:txBody>
      </p:sp>
      <p:sp>
        <p:nvSpPr>
          <p:cNvPr id="11" name="Shape 9"/>
          <p:cNvSpPr/>
          <p:nvPr/>
        </p:nvSpPr>
        <p:spPr>
          <a:xfrm>
            <a:off x="594360" y="1874520"/>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12" name="Shape 10"/>
          <p:cNvSpPr/>
          <p:nvPr/>
        </p:nvSpPr>
        <p:spPr>
          <a:xfrm>
            <a:off x="768096" y="2029968"/>
            <a:ext cx="566928" cy="630936"/>
          </a:xfrm>
          <a:prstGeom prst="roundRect">
            <a:avLst>
              <a:gd name="adj" fmla="val 22581"/>
            </a:avLst>
          </a:prstGeom>
          <a:solidFill>
            <a:srgbClr val="078A91"/>
          </a:solidFill>
          <a:ln w="12700">
            <a:solidFill>
              <a:srgbClr val="078A91"/>
            </a:solidFill>
            <a:prstDash val="solid"/>
          </a:ln>
        </p:spPr>
        <p:txBody>
          <a:bodyPr/>
          <a:p/>
        </p:txBody>
      </p:sp>
      <p:sp>
        <p:nvSpPr>
          <p:cNvPr id="13" name="Text 11"/>
          <p:cNvSpPr/>
          <p:nvPr/>
        </p:nvSpPr>
        <p:spPr>
          <a:xfrm>
            <a:off x="932688" y="2066544"/>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54480" y="2011680"/>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Folder</a:t>
            </a:r>
            <a:endParaRPr lang="en-US" sz="1860" dirty="0"/>
          </a:p>
        </p:txBody>
      </p:sp>
      <p:sp>
        <p:nvSpPr>
          <p:cNvPr id="15" name="Text 13"/>
          <p:cNvSpPr/>
          <p:nvPr/>
        </p:nvSpPr>
        <p:spPr>
          <a:xfrm>
            <a:off x="4572000" y="2011680"/>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Create a folder named L07_Tumaini_Handout.</a:t>
            </a:r>
            <a:endParaRPr lang="en-US" sz="1790" dirty="0"/>
          </a:p>
        </p:txBody>
      </p:sp>
      <p:sp>
        <p:nvSpPr>
          <p:cNvPr id="16" name="Shape 14"/>
          <p:cNvSpPr/>
          <p:nvPr/>
        </p:nvSpPr>
        <p:spPr>
          <a:xfrm>
            <a:off x="594360" y="2944368"/>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17" name="Shape 15"/>
          <p:cNvSpPr/>
          <p:nvPr/>
        </p:nvSpPr>
        <p:spPr>
          <a:xfrm>
            <a:off x="768096" y="3099816"/>
            <a:ext cx="566928" cy="630936"/>
          </a:xfrm>
          <a:prstGeom prst="roundRect">
            <a:avLst>
              <a:gd name="adj" fmla="val 22581"/>
            </a:avLst>
          </a:prstGeom>
          <a:solidFill>
            <a:srgbClr val="173552"/>
          </a:solidFill>
          <a:ln w="12700">
            <a:solidFill>
              <a:srgbClr val="173552"/>
            </a:solidFill>
            <a:prstDash val="solid"/>
          </a:ln>
        </p:spPr>
        <p:txBody>
          <a:bodyPr/>
          <a:p/>
        </p:txBody>
      </p:sp>
      <p:sp>
        <p:nvSpPr>
          <p:cNvPr id="18" name="Text 16"/>
          <p:cNvSpPr/>
          <p:nvPr/>
        </p:nvSpPr>
        <p:spPr>
          <a:xfrm>
            <a:off x="932688" y="3136392"/>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54480" y="3081528"/>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Assets</a:t>
            </a:r>
            <a:endParaRPr lang="en-US" sz="1860" dirty="0"/>
          </a:p>
        </p:txBody>
      </p:sp>
      <p:sp>
        <p:nvSpPr>
          <p:cNvPr id="20" name="Text 18"/>
          <p:cNvSpPr/>
          <p:nvPr/>
        </p:nvSpPr>
        <p:spPr>
          <a:xfrm>
            <a:off x="4572000" y="3081528"/>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Copy the prepared image, lightbulb icon and practice text into it.</a:t>
            </a:r>
            <a:endParaRPr lang="en-US" sz="1790" dirty="0"/>
          </a:p>
        </p:txBody>
      </p:sp>
      <p:sp>
        <p:nvSpPr>
          <p:cNvPr id="21" name="Shape 19"/>
          <p:cNvSpPr/>
          <p:nvPr/>
        </p:nvSpPr>
        <p:spPr>
          <a:xfrm>
            <a:off x="594360" y="4014216"/>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22" name="Shape 20"/>
          <p:cNvSpPr/>
          <p:nvPr/>
        </p:nvSpPr>
        <p:spPr>
          <a:xfrm>
            <a:off x="768096" y="4169664"/>
            <a:ext cx="566928" cy="630936"/>
          </a:xfrm>
          <a:prstGeom prst="roundRect">
            <a:avLst>
              <a:gd name="adj" fmla="val 22581"/>
            </a:avLst>
          </a:prstGeom>
          <a:solidFill>
            <a:srgbClr val="078A91"/>
          </a:solidFill>
          <a:ln w="12700">
            <a:solidFill>
              <a:srgbClr val="078A91"/>
            </a:solidFill>
            <a:prstDash val="solid"/>
          </a:ln>
        </p:spPr>
        <p:txBody>
          <a:bodyPr/>
          <a:p/>
        </p:txBody>
      </p:sp>
      <p:sp>
        <p:nvSpPr>
          <p:cNvPr id="23" name="Text 21"/>
          <p:cNvSpPr/>
          <p:nvPr/>
        </p:nvSpPr>
        <p:spPr>
          <a:xfrm>
            <a:off x="932688" y="4206240"/>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54480" y="4151376"/>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Document</a:t>
            </a:r>
            <a:endParaRPr lang="en-US" sz="1860" dirty="0"/>
          </a:p>
        </p:txBody>
      </p:sp>
      <p:sp>
        <p:nvSpPr>
          <p:cNvPr id="25" name="Text 23"/>
          <p:cNvSpPr/>
          <p:nvPr/>
        </p:nvSpPr>
        <p:spPr>
          <a:xfrm>
            <a:off x="4572000" y="4151376"/>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Open InDesign and create one A4 portrait page.</a:t>
            </a:r>
            <a:endParaRPr lang="en-US" sz="1790" dirty="0"/>
          </a:p>
        </p:txBody>
      </p:sp>
      <p:sp>
        <p:nvSpPr>
          <p:cNvPr id="26" name="Shape 24"/>
          <p:cNvSpPr/>
          <p:nvPr/>
        </p:nvSpPr>
        <p:spPr>
          <a:xfrm>
            <a:off x="594360" y="5084064"/>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27" name="Shape 25"/>
          <p:cNvSpPr/>
          <p:nvPr/>
        </p:nvSpPr>
        <p:spPr>
          <a:xfrm>
            <a:off x="768096" y="5239512"/>
            <a:ext cx="566928" cy="630936"/>
          </a:xfrm>
          <a:prstGeom prst="roundRect">
            <a:avLst>
              <a:gd name="adj" fmla="val 22581"/>
            </a:avLst>
          </a:prstGeom>
          <a:solidFill>
            <a:srgbClr val="173552"/>
          </a:solidFill>
          <a:ln w="12700">
            <a:solidFill>
              <a:srgbClr val="173552"/>
            </a:solidFill>
            <a:prstDash val="solid"/>
          </a:ln>
        </p:spPr>
        <p:txBody>
          <a:bodyPr/>
          <a:p/>
        </p:txBody>
      </p:sp>
      <p:sp>
        <p:nvSpPr>
          <p:cNvPr id="28" name="Text 26"/>
          <p:cNvSpPr/>
          <p:nvPr/>
        </p:nvSpPr>
        <p:spPr>
          <a:xfrm>
            <a:off x="932688" y="5276088"/>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54480" y="5221224"/>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Margins</a:t>
            </a:r>
            <a:endParaRPr lang="en-US" sz="1860" dirty="0"/>
          </a:p>
        </p:txBody>
      </p:sp>
      <p:sp>
        <p:nvSpPr>
          <p:cNvPr id="30" name="Text 28"/>
          <p:cNvSpPr/>
          <p:nvPr/>
        </p:nvSpPr>
        <p:spPr>
          <a:xfrm>
            <a:off x="4572000" y="5221224"/>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Set all margins to 15 mm for the classroom exercise.</a:t>
            </a:r>
            <a:endParaRPr lang="en-US" sz="179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GUIDED PRACTICAL</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Practical — Stage 2: make the page skeleton</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Use only the tools needed for this first draft.</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27</a:t>
            </a:r>
            <a:endParaRPr lang="en-US" sz="1000" dirty="0"/>
          </a:p>
        </p:txBody>
      </p:sp>
      <p:sp>
        <p:nvSpPr>
          <p:cNvPr id="11" name="Shape 9"/>
          <p:cNvSpPr/>
          <p:nvPr/>
        </p:nvSpPr>
        <p:spPr>
          <a:xfrm>
            <a:off x="594360" y="1874520"/>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12" name="Shape 10"/>
          <p:cNvSpPr/>
          <p:nvPr/>
        </p:nvSpPr>
        <p:spPr>
          <a:xfrm>
            <a:off x="768096" y="2029968"/>
            <a:ext cx="566928" cy="630936"/>
          </a:xfrm>
          <a:prstGeom prst="roundRect">
            <a:avLst>
              <a:gd name="adj" fmla="val 22581"/>
            </a:avLst>
          </a:prstGeom>
          <a:solidFill>
            <a:srgbClr val="078A91"/>
          </a:solidFill>
          <a:ln w="12700">
            <a:solidFill>
              <a:srgbClr val="078A91"/>
            </a:solidFill>
            <a:prstDash val="solid"/>
          </a:ln>
        </p:spPr>
        <p:txBody>
          <a:bodyPr/>
          <a:p/>
        </p:txBody>
      </p:sp>
      <p:sp>
        <p:nvSpPr>
          <p:cNvPr id="13" name="Text 11"/>
          <p:cNvSpPr/>
          <p:nvPr/>
        </p:nvSpPr>
        <p:spPr>
          <a:xfrm>
            <a:off x="932688" y="2066544"/>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54480" y="2011680"/>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Headline</a:t>
            </a:r>
            <a:endParaRPr lang="en-US" sz="1860" dirty="0"/>
          </a:p>
        </p:txBody>
      </p:sp>
      <p:sp>
        <p:nvSpPr>
          <p:cNvPr id="15" name="Text 13"/>
          <p:cNvSpPr/>
          <p:nvPr/>
        </p:nvSpPr>
        <p:spPr>
          <a:xfrm>
            <a:off x="4572000" y="2011680"/>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Draw a text frame at the top and type STAY SAFE ONLINE.</a:t>
            </a:r>
            <a:endParaRPr lang="en-US" sz="1790" dirty="0"/>
          </a:p>
        </p:txBody>
      </p:sp>
      <p:sp>
        <p:nvSpPr>
          <p:cNvPr id="16" name="Shape 14"/>
          <p:cNvSpPr/>
          <p:nvPr/>
        </p:nvSpPr>
        <p:spPr>
          <a:xfrm>
            <a:off x="594360" y="2944368"/>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17" name="Shape 15"/>
          <p:cNvSpPr/>
          <p:nvPr/>
        </p:nvSpPr>
        <p:spPr>
          <a:xfrm>
            <a:off x="768096" y="3099816"/>
            <a:ext cx="566928" cy="630936"/>
          </a:xfrm>
          <a:prstGeom prst="roundRect">
            <a:avLst>
              <a:gd name="adj" fmla="val 22581"/>
            </a:avLst>
          </a:prstGeom>
          <a:solidFill>
            <a:srgbClr val="173552"/>
          </a:solidFill>
          <a:ln w="12700">
            <a:solidFill>
              <a:srgbClr val="173552"/>
            </a:solidFill>
            <a:prstDash val="solid"/>
          </a:ln>
        </p:spPr>
        <p:txBody>
          <a:bodyPr/>
          <a:p/>
        </p:txBody>
      </p:sp>
      <p:sp>
        <p:nvSpPr>
          <p:cNvPr id="18" name="Text 16"/>
          <p:cNvSpPr/>
          <p:nvPr/>
        </p:nvSpPr>
        <p:spPr>
          <a:xfrm>
            <a:off x="932688" y="3136392"/>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54480" y="3081528"/>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Image</a:t>
            </a:r>
            <a:endParaRPr lang="en-US" sz="1860" dirty="0"/>
          </a:p>
        </p:txBody>
      </p:sp>
      <p:sp>
        <p:nvSpPr>
          <p:cNvPr id="20" name="Text 18"/>
          <p:cNvSpPr/>
          <p:nvPr/>
        </p:nvSpPr>
        <p:spPr>
          <a:xfrm>
            <a:off x="4572000" y="3081528"/>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Create a graphic frame and place the prepared picture.</a:t>
            </a:r>
            <a:endParaRPr lang="en-US" sz="1790" dirty="0"/>
          </a:p>
        </p:txBody>
      </p:sp>
      <p:sp>
        <p:nvSpPr>
          <p:cNvPr id="21" name="Shape 19"/>
          <p:cNvSpPr/>
          <p:nvPr/>
        </p:nvSpPr>
        <p:spPr>
          <a:xfrm>
            <a:off x="594360" y="4014216"/>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22" name="Shape 20"/>
          <p:cNvSpPr/>
          <p:nvPr/>
        </p:nvSpPr>
        <p:spPr>
          <a:xfrm>
            <a:off x="768096" y="4169664"/>
            <a:ext cx="566928" cy="630936"/>
          </a:xfrm>
          <a:prstGeom prst="roundRect">
            <a:avLst>
              <a:gd name="adj" fmla="val 22581"/>
            </a:avLst>
          </a:prstGeom>
          <a:solidFill>
            <a:srgbClr val="078A91"/>
          </a:solidFill>
          <a:ln w="12700">
            <a:solidFill>
              <a:srgbClr val="078A91"/>
            </a:solidFill>
            <a:prstDash val="solid"/>
          </a:ln>
        </p:spPr>
        <p:txBody>
          <a:bodyPr/>
          <a:p/>
        </p:txBody>
      </p:sp>
      <p:sp>
        <p:nvSpPr>
          <p:cNvPr id="23" name="Text 21"/>
          <p:cNvSpPr/>
          <p:nvPr/>
        </p:nvSpPr>
        <p:spPr>
          <a:xfrm>
            <a:off x="932688" y="4206240"/>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54480" y="4151376"/>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Tips</a:t>
            </a:r>
            <a:endParaRPr lang="en-US" sz="1860" dirty="0"/>
          </a:p>
        </p:txBody>
      </p:sp>
      <p:sp>
        <p:nvSpPr>
          <p:cNvPr id="25" name="Text 23"/>
          <p:cNvSpPr/>
          <p:nvPr/>
        </p:nvSpPr>
        <p:spPr>
          <a:xfrm>
            <a:off x="4572000" y="4151376"/>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Add three short safety tips in one or more text frames.</a:t>
            </a:r>
            <a:endParaRPr lang="en-US" sz="1790" dirty="0"/>
          </a:p>
        </p:txBody>
      </p:sp>
      <p:sp>
        <p:nvSpPr>
          <p:cNvPr id="26" name="Shape 24"/>
          <p:cNvSpPr/>
          <p:nvPr/>
        </p:nvSpPr>
        <p:spPr>
          <a:xfrm>
            <a:off x="594360" y="5084064"/>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27" name="Shape 25"/>
          <p:cNvSpPr/>
          <p:nvPr/>
        </p:nvSpPr>
        <p:spPr>
          <a:xfrm>
            <a:off x="768096" y="5239512"/>
            <a:ext cx="566928" cy="630936"/>
          </a:xfrm>
          <a:prstGeom prst="roundRect">
            <a:avLst>
              <a:gd name="adj" fmla="val 22581"/>
            </a:avLst>
          </a:prstGeom>
          <a:solidFill>
            <a:srgbClr val="173552"/>
          </a:solidFill>
          <a:ln w="12700">
            <a:solidFill>
              <a:srgbClr val="173552"/>
            </a:solidFill>
            <a:prstDash val="solid"/>
          </a:ln>
        </p:spPr>
        <p:txBody>
          <a:bodyPr/>
          <a:p/>
        </p:txBody>
      </p:sp>
      <p:sp>
        <p:nvSpPr>
          <p:cNvPr id="28" name="Text 26"/>
          <p:cNvSpPr/>
          <p:nvPr/>
        </p:nvSpPr>
        <p:spPr>
          <a:xfrm>
            <a:off x="932688" y="5276088"/>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54480" y="5221224"/>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Footer</a:t>
            </a:r>
            <a:endParaRPr lang="en-US" sz="1860" dirty="0"/>
          </a:p>
        </p:txBody>
      </p:sp>
      <p:sp>
        <p:nvSpPr>
          <p:cNvPr id="30" name="Text 28"/>
          <p:cNvSpPr/>
          <p:nvPr/>
        </p:nvSpPr>
        <p:spPr>
          <a:xfrm>
            <a:off x="4572000" y="5221224"/>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Write TUMAINI COMMUNITY LEARNING CENTRE at the bottom.</a:t>
            </a:r>
            <a:endParaRPr lang="en-US" sz="179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GUIDED PRACTICAL</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Practical — Stage 3: refine the basics</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A clean first draft matters more than special effects.</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28</a:t>
            </a:r>
            <a:endParaRPr lang="en-US" sz="1000" dirty="0"/>
          </a:p>
        </p:txBody>
      </p:sp>
      <p:sp>
        <p:nvSpPr>
          <p:cNvPr id="11" name="Shape 9"/>
          <p:cNvSpPr/>
          <p:nvPr/>
        </p:nvSpPr>
        <p:spPr>
          <a:xfrm>
            <a:off x="594360" y="1874520"/>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12" name="Shape 10"/>
          <p:cNvSpPr/>
          <p:nvPr/>
        </p:nvSpPr>
        <p:spPr>
          <a:xfrm>
            <a:off x="768096" y="2029968"/>
            <a:ext cx="566928" cy="630936"/>
          </a:xfrm>
          <a:prstGeom prst="roundRect">
            <a:avLst>
              <a:gd name="adj" fmla="val 22581"/>
            </a:avLst>
          </a:prstGeom>
          <a:solidFill>
            <a:srgbClr val="078A91"/>
          </a:solidFill>
          <a:ln w="12700">
            <a:solidFill>
              <a:srgbClr val="078A91"/>
            </a:solidFill>
            <a:prstDash val="solid"/>
          </a:ln>
        </p:spPr>
        <p:txBody>
          <a:bodyPr/>
          <a:p/>
        </p:txBody>
      </p:sp>
      <p:sp>
        <p:nvSpPr>
          <p:cNvPr id="13" name="Text 11"/>
          <p:cNvSpPr/>
          <p:nvPr/>
        </p:nvSpPr>
        <p:spPr>
          <a:xfrm>
            <a:off x="932688" y="2066544"/>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54480" y="2011680"/>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Check title</a:t>
            </a:r>
            <a:endParaRPr lang="en-US" sz="1860" dirty="0"/>
          </a:p>
        </p:txBody>
      </p:sp>
      <p:sp>
        <p:nvSpPr>
          <p:cNvPr id="15" name="Text 13"/>
          <p:cNvSpPr/>
          <p:nvPr/>
        </p:nvSpPr>
        <p:spPr>
          <a:xfrm>
            <a:off x="4572000" y="2011680"/>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Can the headline be read without effort?</a:t>
            </a:r>
            <a:endParaRPr lang="en-US" sz="1790" dirty="0"/>
          </a:p>
        </p:txBody>
      </p:sp>
      <p:sp>
        <p:nvSpPr>
          <p:cNvPr id="16" name="Shape 14"/>
          <p:cNvSpPr/>
          <p:nvPr/>
        </p:nvSpPr>
        <p:spPr>
          <a:xfrm>
            <a:off x="594360" y="2944368"/>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17" name="Shape 15"/>
          <p:cNvSpPr/>
          <p:nvPr/>
        </p:nvSpPr>
        <p:spPr>
          <a:xfrm>
            <a:off x="768096" y="3099816"/>
            <a:ext cx="566928" cy="630936"/>
          </a:xfrm>
          <a:prstGeom prst="roundRect">
            <a:avLst>
              <a:gd name="adj" fmla="val 22581"/>
            </a:avLst>
          </a:prstGeom>
          <a:solidFill>
            <a:srgbClr val="173552"/>
          </a:solidFill>
          <a:ln w="12700">
            <a:solidFill>
              <a:srgbClr val="173552"/>
            </a:solidFill>
            <a:prstDash val="solid"/>
          </a:ln>
        </p:spPr>
        <p:txBody>
          <a:bodyPr/>
          <a:p/>
        </p:txBody>
      </p:sp>
      <p:sp>
        <p:nvSpPr>
          <p:cNvPr id="18" name="Text 16"/>
          <p:cNvSpPr/>
          <p:nvPr/>
        </p:nvSpPr>
        <p:spPr>
          <a:xfrm>
            <a:off x="932688" y="3136392"/>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54480" y="3081528"/>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Check image</a:t>
            </a:r>
            <a:endParaRPr lang="en-US" sz="1860" dirty="0"/>
          </a:p>
        </p:txBody>
      </p:sp>
      <p:sp>
        <p:nvSpPr>
          <p:cNvPr id="20" name="Text 18"/>
          <p:cNvSpPr/>
          <p:nvPr/>
        </p:nvSpPr>
        <p:spPr>
          <a:xfrm>
            <a:off x="4572000" y="3081528"/>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Is the image in proportion and suitably placed?</a:t>
            </a:r>
            <a:endParaRPr lang="en-US" sz="1790" dirty="0"/>
          </a:p>
        </p:txBody>
      </p:sp>
      <p:sp>
        <p:nvSpPr>
          <p:cNvPr id="21" name="Shape 19"/>
          <p:cNvSpPr/>
          <p:nvPr/>
        </p:nvSpPr>
        <p:spPr>
          <a:xfrm>
            <a:off x="594360" y="4014216"/>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22" name="Shape 20"/>
          <p:cNvSpPr/>
          <p:nvPr/>
        </p:nvSpPr>
        <p:spPr>
          <a:xfrm>
            <a:off x="768096" y="4169664"/>
            <a:ext cx="566928" cy="630936"/>
          </a:xfrm>
          <a:prstGeom prst="roundRect">
            <a:avLst>
              <a:gd name="adj" fmla="val 22581"/>
            </a:avLst>
          </a:prstGeom>
          <a:solidFill>
            <a:srgbClr val="078A91"/>
          </a:solidFill>
          <a:ln w="12700">
            <a:solidFill>
              <a:srgbClr val="078A91"/>
            </a:solidFill>
            <a:prstDash val="solid"/>
          </a:ln>
        </p:spPr>
        <p:txBody>
          <a:bodyPr/>
          <a:p/>
        </p:txBody>
      </p:sp>
      <p:sp>
        <p:nvSpPr>
          <p:cNvPr id="23" name="Text 21"/>
          <p:cNvSpPr/>
          <p:nvPr/>
        </p:nvSpPr>
        <p:spPr>
          <a:xfrm>
            <a:off x="932688" y="4206240"/>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54480" y="4151376"/>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Check spacing</a:t>
            </a:r>
            <a:endParaRPr lang="en-US" sz="1860" dirty="0"/>
          </a:p>
        </p:txBody>
      </p:sp>
      <p:sp>
        <p:nvSpPr>
          <p:cNvPr id="25" name="Text 23"/>
          <p:cNvSpPr/>
          <p:nvPr/>
        </p:nvSpPr>
        <p:spPr>
          <a:xfrm>
            <a:off x="4572000" y="4151376"/>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Are frames aligned within margins with a little space between them?</a:t>
            </a:r>
            <a:endParaRPr lang="en-US" sz="1790" dirty="0"/>
          </a:p>
        </p:txBody>
      </p:sp>
      <p:sp>
        <p:nvSpPr>
          <p:cNvPr id="26" name="Shape 24"/>
          <p:cNvSpPr/>
          <p:nvPr/>
        </p:nvSpPr>
        <p:spPr>
          <a:xfrm>
            <a:off x="594360" y="5084064"/>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27" name="Shape 25"/>
          <p:cNvSpPr/>
          <p:nvPr/>
        </p:nvSpPr>
        <p:spPr>
          <a:xfrm>
            <a:off x="768096" y="5239512"/>
            <a:ext cx="566928" cy="630936"/>
          </a:xfrm>
          <a:prstGeom prst="roundRect">
            <a:avLst>
              <a:gd name="adj" fmla="val 22581"/>
            </a:avLst>
          </a:prstGeom>
          <a:solidFill>
            <a:srgbClr val="173552"/>
          </a:solidFill>
          <a:ln w="12700">
            <a:solidFill>
              <a:srgbClr val="173552"/>
            </a:solidFill>
            <a:prstDash val="solid"/>
          </a:ln>
        </p:spPr>
        <p:txBody>
          <a:bodyPr/>
          <a:p/>
        </p:txBody>
      </p:sp>
      <p:sp>
        <p:nvSpPr>
          <p:cNvPr id="28" name="Text 26"/>
          <p:cNvSpPr/>
          <p:nvPr/>
        </p:nvSpPr>
        <p:spPr>
          <a:xfrm>
            <a:off x="932688" y="5276088"/>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54480" y="5221224"/>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Check text</a:t>
            </a:r>
            <a:endParaRPr lang="en-US" sz="1860" dirty="0"/>
          </a:p>
        </p:txBody>
      </p:sp>
      <p:sp>
        <p:nvSpPr>
          <p:cNvPr id="30" name="Text 28"/>
          <p:cNvSpPr/>
          <p:nvPr/>
        </p:nvSpPr>
        <p:spPr>
          <a:xfrm>
            <a:off x="4572000" y="5221224"/>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Can you see the complete wording of every tip?</a:t>
            </a:r>
            <a:endParaRPr lang="en-US" sz="179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SAVING</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Editable working file versus PDF proof</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Both are needed for an efficient publishing workflow.</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29</a:t>
            </a:r>
            <a:endParaRPr lang="en-US" sz="1000" dirty="0"/>
          </a:p>
        </p:txBody>
      </p:sp>
      <p:sp>
        <p:nvSpPr>
          <p:cNvPr id="11" name="Shape 9"/>
          <p:cNvSpPr/>
          <p:nvPr/>
        </p:nvSpPr>
        <p:spPr>
          <a:xfrm>
            <a:off x="594360" y="1847088"/>
            <a:ext cx="10954512" cy="2286000"/>
          </a:xfrm>
          <a:prstGeom prst="roundRect">
            <a:avLst>
              <a:gd name="adj" fmla="val 5600"/>
            </a:avLst>
          </a:prstGeom>
          <a:solidFill>
            <a:srgbClr val="FFFFFF"/>
          </a:solidFill>
          <a:ln w="12700">
            <a:solidFill>
              <a:srgbClr val="D3E3E9"/>
            </a:solidFill>
            <a:prstDash val="solid"/>
          </a:ln>
        </p:spPr>
        <p:txBody>
          <a:bodyPr/>
          <a:p/>
        </p:txBody>
      </p:sp>
      <p:sp>
        <p:nvSpPr>
          <p:cNvPr id="12" name="Text 10"/>
          <p:cNvSpPr/>
          <p:nvPr/>
        </p:nvSpPr>
        <p:spPr>
          <a:xfrm>
            <a:off x="877824" y="2103120"/>
            <a:ext cx="9875520" cy="329184"/>
          </a:xfrm>
          <a:prstGeom prst="rect">
            <a:avLst/>
          </a:prstGeom>
          <a:noFill/>
          <a:ln/>
        </p:spPr>
        <p:txBody>
          <a:bodyPr wrap="square" lIns="0" tIns="0" rIns="0" bIns="0" rtlCol="0" anchor="ctr">
            <a:normAutofit/>
          </a:bodyPr>
          <a:lstStyle/>
          <a:p>
            <a:pPr indent="0" marL="0">
              <a:buNone/>
            </a:pPr>
            <a:r>
              <a:rPr lang="en-US" sz="2150" b="1" dirty="0">
                <a:solidFill>
                  <a:srgbClr val="078A91"/>
                </a:solidFill>
                <a:latin typeface="Aptos" pitchFamily="34" charset="0"/>
                <a:ea typeface="Aptos" pitchFamily="34" charset="-122"/>
                <a:cs typeface="Aptos" pitchFamily="34" charset="-120"/>
              </a:rPr>
              <a:t>INDD document</a:t>
            </a:r>
            <a:endParaRPr lang="en-US" sz="2150" dirty="0"/>
          </a:p>
        </p:txBody>
      </p:sp>
      <p:sp>
        <p:nvSpPr>
          <p:cNvPr id="13" name="Text 11"/>
          <p:cNvSpPr/>
          <p:nvPr/>
        </p:nvSpPr>
        <p:spPr>
          <a:xfrm>
            <a:off x="877824" y="2615184"/>
            <a:ext cx="9738360" cy="1243584"/>
          </a:xfrm>
          <a:prstGeom prst="rect">
            <a:avLst/>
          </a:prstGeom>
          <a:noFill/>
          <a:ln/>
        </p:spPr>
        <p:txBody>
          <a:bodyPr wrap="square" lIns="0" tIns="0" rIns="0" bIns="0" rtlCol="0" anchor="t">
            <a:normAutofit/>
          </a:bodyPr>
          <a:lstStyle/>
          <a:p>
            <a:pPr indent="0" marL="0">
              <a:buNone/>
            </a:pPr>
            <a:r>
              <a:rPr lang="en-US" sz="1950" dirty="0">
                <a:solidFill>
                  <a:srgbClr val="173552"/>
                </a:solidFill>
                <a:latin typeface="Aptos" pitchFamily="34" charset="0"/>
                <a:ea typeface="Aptos" pitchFamily="34" charset="-122"/>
                <a:cs typeface="Aptos" pitchFamily="34" charset="-120"/>
              </a:rPr>
              <a:t>The .indd file is the editable source. It preserves layout frames, editable text, images placed into the publication and page settings. You need it when making changes in the next lesson.</a:t>
            </a:r>
            <a:endParaRPr lang="en-US" sz="1950" dirty="0"/>
          </a:p>
        </p:txBody>
      </p:sp>
      <p:sp>
        <p:nvSpPr>
          <p:cNvPr id="14" name="Shape 12"/>
          <p:cNvSpPr/>
          <p:nvPr/>
        </p:nvSpPr>
        <p:spPr>
          <a:xfrm>
            <a:off x="594360" y="4443984"/>
            <a:ext cx="10954512"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896112" y="4745736"/>
            <a:ext cx="10378440" cy="740664"/>
          </a:xfrm>
          <a:prstGeom prst="rect">
            <a:avLst/>
          </a:prstGeom>
          <a:noFill/>
          <a:ln/>
        </p:spPr>
        <p:txBody>
          <a:bodyPr wrap="square" lIns="0" tIns="0" rIns="0" bIns="0" rtlCol="0" anchor="ctr">
            <a:normAutofit/>
          </a:bodyPr>
          <a:lstStyle/>
          <a:p>
            <a:pPr indent="0" marL="0">
              <a:buNone/>
            </a:pPr>
            <a:r>
              <a:rPr lang="en-US" sz="1900" dirty="0">
                <a:solidFill>
                  <a:srgbClr val="173552"/>
                </a:solidFill>
                <a:latin typeface="Aptos" pitchFamily="34" charset="0"/>
                <a:ea typeface="Aptos" pitchFamily="34" charset="-122"/>
                <a:cs typeface="Aptos" pitchFamily="34" charset="-120"/>
              </a:rPr>
              <a:t>A PDF is a document to inspect or share; it does not replace your editable InDesign source file.</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FILE OUTPUT</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Practical — Stage 4: save and export</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Keep a working document and a proof.</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30</a:t>
            </a:r>
            <a:endParaRPr lang="en-US" sz="1000" dirty="0"/>
          </a:p>
        </p:txBody>
      </p:sp>
      <p:sp>
        <p:nvSpPr>
          <p:cNvPr id="11" name="Shape 9"/>
          <p:cNvSpPr/>
          <p:nvPr/>
        </p:nvSpPr>
        <p:spPr>
          <a:xfrm>
            <a:off x="594360" y="1874520"/>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12" name="Shape 10"/>
          <p:cNvSpPr/>
          <p:nvPr/>
        </p:nvSpPr>
        <p:spPr>
          <a:xfrm>
            <a:off x="768096" y="2029968"/>
            <a:ext cx="566928" cy="630936"/>
          </a:xfrm>
          <a:prstGeom prst="roundRect">
            <a:avLst>
              <a:gd name="adj" fmla="val 22581"/>
            </a:avLst>
          </a:prstGeom>
          <a:solidFill>
            <a:srgbClr val="078A91"/>
          </a:solidFill>
          <a:ln w="12700">
            <a:solidFill>
              <a:srgbClr val="078A91"/>
            </a:solidFill>
            <a:prstDash val="solid"/>
          </a:ln>
        </p:spPr>
        <p:txBody>
          <a:bodyPr/>
          <a:p/>
        </p:txBody>
      </p:sp>
      <p:sp>
        <p:nvSpPr>
          <p:cNvPr id="13" name="Text 11"/>
          <p:cNvSpPr/>
          <p:nvPr/>
        </p:nvSpPr>
        <p:spPr>
          <a:xfrm>
            <a:off x="932688" y="2066544"/>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54480" y="2011680"/>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Save first</a:t>
            </a:r>
            <a:endParaRPr lang="en-US" sz="1860" dirty="0"/>
          </a:p>
        </p:txBody>
      </p:sp>
      <p:sp>
        <p:nvSpPr>
          <p:cNvPr id="15" name="Text 13"/>
          <p:cNvSpPr/>
          <p:nvPr/>
        </p:nvSpPr>
        <p:spPr>
          <a:xfrm>
            <a:off x="4572000" y="2011680"/>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Save Tumaini_Handout_Draft.indd in your project folder.</a:t>
            </a:r>
            <a:endParaRPr lang="en-US" sz="1790" dirty="0"/>
          </a:p>
        </p:txBody>
      </p:sp>
      <p:sp>
        <p:nvSpPr>
          <p:cNvPr id="16" name="Shape 14"/>
          <p:cNvSpPr/>
          <p:nvPr/>
        </p:nvSpPr>
        <p:spPr>
          <a:xfrm>
            <a:off x="594360" y="2944368"/>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17" name="Shape 15"/>
          <p:cNvSpPr/>
          <p:nvPr/>
        </p:nvSpPr>
        <p:spPr>
          <a:xfrm>
            <a:off x="768096" y="3099816"/>
            <a:ext cx="566928" cy="630936"/>
          </a:xfrm>
          <a:prstGeom prst="roundRect">
            <a:avLst>
              <a:gd name="adj" fmla="val 22581"/>
            </a:avLst>
          </a:prstGeom>
          <a:solidFill>
            <a:srgbClr val="173552"/>
          </a:solidFill>
          <a:ln w="12700">
            <a:solidFill>
              <a:srgbClr val="173552"/>
            </a:solidFill>
            <a:prstDash val="solid"/>
          </a:ln>
        </p:spPr>
        <p:txBody>
          <a:bodyPr/>
          <a:p/>
        </p:txBody>
      </p:sp>
      <p:sp>
        <p:nvSpPr>
          <p:cNvPr id="18" name="Text 16"/>
          <p:cNvSpPr/>
          <p:nvPr/>
        </p:nvSpPr>
        <p:spPr>
          <a:xfrm>
            <a:off x="932688" y="3136392"/>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54480" y="3081528"/>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Export</a:t>
            </a:r>
            <a:endParaRPr lang="en-US" sz="1860" dirty="0"/>
          </a:p>
        </p:txBody>
      </p:sp>
      <p:sp>
        <p:nvSpPr>
          <p:cNvPr id="20" name="Text 18"/>
          <p:cNvSpPr/>
          <p:nvPr/>
        </p:nvSpPr>
        <p:spPr>
          <a:xfrm>
            <a:off x="4572000" y="3081528"/>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Choose File &gt; Export and select a PDF output.</a:t>
            </a:r>
            <a:endParaRPr lang="en-US" sz="1790" dirty="0"/>
          </a:p>
        </p:txBody>
      </p:sp>
      <p:sp>
        <p:nvSpPr>
          <p:cNvPr id="21" name="Shape 19"/>
          <p:cNvSpPr/>
          <p:nvPr/>
        </p:nvSpPr>
        <p:spPr>
          <a:xfrm>
            <a:off x="594360" y="4014216"/>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22" name="Shape 20"/>
          <p:cNvSpPr/>
          <p:nvPr/>
        </p:nvSpPr>
        <p:spPr>
          <a:xfrm>
            <a:off x="768096" y="4169664"/>
            <a:ext cx="566928" cy="630936"/>
          </a:xfrm>
          <a:prstGeom prst="roundRect">
            <a:avLst>
              <a:gd name="adj" fmla="val 22581"/>
            </a:avLst>
          </a:prstGeom>
          <a:solidFill>
            <a:srgbClr val="078A91"/>
          </a:solidFill>
          <a:ln w="12700">
            <a:solidFill>
              <a:srgbClr val="078A91"/>
            </a:solidFill>
            <a:prstDash val="solid"/>
          </a:ln>
        </p:spPr>
        <p:txBody>
          <a:bodyPr/>
          <a:p/>
        </p:txBody>
      </p:sp>
      <p:sp>
        <p:nvSpPr>
          <p:cNvPr id="23" name="Text 21"/>
          <p:cNvSpPr/>
          <p:nvPr/>
        </p:nvSpPr>
        <p:spPr>
          <a:xfrm>
            <a:off x="932688" y="4206240"/>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54480" y="4151376"/>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Name</a:t>
            </a:r>
            <a:endParaRPr lang="en-US" sz="1860" dirty="0"/>
          </a:p>
        </p:txBody>
      </p:sp>
      <p:sp>
        <p:nvSpPr>
          <p:cNvPr id="25" name="Text 23"/>
          <p:cNvSpPr/>
          <p:nvPr/>
        </p:nvSpPr>
        <p:spPr>
          <a:xfrm>
            <a:off x="4572000" y="4151376"/>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Save Tumaini_Handout_Draft.pdf.</a:t>
            </a:r>
            <a:endParaRPr lang="en-US" sz="1790" dirty="0"/>
          </a:p>
        </p:txBody>
      </p:sp>
      <p:sp>
        <p:nvSpPr>
          <p:cNvPr id="26" name="Shape 24"/>
          <p:cNvSpPr/>
          <p:nvPr/>
        </p:nvSpPr>
        <p:spPr>
          <a:xfrm>
            <a:off x="594360" y="5084064"/>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27" name="Shape 25"/>
          <p:cNvSpPr/>
          <p:nvPr/>
        </p:nvSpPr>
        <p:spPr>
          <a:xfrm>
            <a:off x="768096" y="5239512"/>
            <a:ext cx="566928" cy="630936"/>
          </a:xfrm>
          <a:prstGeom prst="roundRect">
            <a:avLst>
              <a:gd name="adj" fmla="val 22581"/>
            </a:avLst>
          </a:prstGeom>
          <a:solidFill>
            <a:srgbClr val="173552"/>
          </a:solidFill>
          <a:ln w="12700">
            <a:solidFill>
              <a:srgbClr val="173552"/>
            </a:solidFill>
            <a:prstDash val="solid"/>
          </a:ln>
        </p:spPr>
        <p:txBody>
          <a:bodyPr/>
          <a:p/>
        </p:txBody>
      </p:sp>
      <p:sp>
        <p:nvSpPr>
          <p:cNvPr id="28" name="Text 26"/>
          <p:cNvSpPr/>
          <p:nvPr/>
        </p:nvSpPr>
        <p:spPr>
          <a:xfrm>
            <a:off x="932688" y="5276088"/>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54480" y="5221224"/>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Review</a:t>
            </a:r>
            <a:endParaRPr lang="en-US" sz="1860" dirty="0"/>
          </a:p>
        </p:txBody>
      </p:sp>
      <p:sp>
        <p:nvSpPr>
          <p:cNvPr id="30" name="Text 28"/>
          <p:cNvSpPr/>
          <p:nvPr/>
        </p:nvSpPr>
        <p:spPr>
          <a:xfrm>
            <a:off x="4572000" y="5221224"/>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Open the PDF and check the page from top to bottom.</a:t>
            </a:r>
            <a:endParaRPr lang="en-US" sz="179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FILE MANAGEMENT</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Why placed images can become missing links</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The design file may refer to a separate source image.</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31</a:t>
            </a:r>
            <a:endParaRPr lang="en-US" sz="1000" dirty="0"/>
          </a:p>
        </p:txBody>
      </p:sp>
      <p:sp>
        <p:nvSpPr>
          <p:cNvPr id="11" name="Shape 9"/>
          <p:cNvSpPr/>
          <p:nvPr/>
        </p:nvSpPr>
        <p:spPr>
          <a:xfrm>
            <a:off x="594360" y="1847088"/>
            <a:ext cx="10954512" cy="2286000"/>
          </a:xfrm>
          <a:prstGeom prst="roundRect">
            <a:avLst>
              <a:gd name="adj" fmla="val 5600"/>
            </a:avLst>
          </a:prstGeom>
          <a:solidFill>
            <a:srgbClr val="FFFFFF"/>
          </a:solidFill>
          <a:ln w="12700">
            <a:solidFill>
              <a:srgbClr val="D3E3E9"/>
            </a:solidFill>
            <a:prstDash val="solid"/>
          </a:ln>
        </p:spPr>
        <p:txBody>
          <a:bodyPr/>
          <a:p/>
        </p:txBody>
      </p:sp>
      <p:sp>
        <p:nvSpPr>
          <p:cNvPr id="12" name="Text 10"/>
          <p:cNvSpPr/>
          <p:nvPr/>
        </p:nvSpPr>
        <p:spPr>
          <a:xfrm>
            <a:off x="877824" y="2103120"/>
            <a:ext cx="9875520" cy="329184"/>
          </a:xfrm>
          <a:prstGeom prst="rect">
            <a:avLst/>
          </a:prstGeom>
          <a:noFill/>
          <a:ln/>
        </p:spPr>
        <p:txBody>
          <a:bodyPr wrap="square" lIns="0" tIns="0" rIns="0" bIns="0" rtlCol="0" anchor="ctr">
            <a:normAutofit/>
          </a:bodyPr>
          <a:lstStyle/>
          <a:p>
            <a:pPr indent="0" marL="0">
              <a:buNone/>
            </a:pPr>
            <a:r>
              <a:rPr lang="en-US" sz="2150" b="1" dirty="0">
                <a:solidFill>
                  <a:srgbClr val="078A91"/>
                </a:solidFill>
                <a:latin typeface="Aptos" pitchFamily="34" charset="0"/>
                <a:ea typeface="Aptos" pitchFamily="34" charset="-122"/>
                <a:cs typeface="Aptos" pitchFamily="34" charset="-120"/>
              </a:rPr>
              <a:t>Image links</a:t>
            </a:r>
            <a:endParaRPr lang="en-US" sz="2150" dirty="0"/>
          </a:p>
        </p:txBody>
      </p:sp>
      <p:sp>
        <p:nvSpPr>
          <p:cNvPr id="13" name="Text 11"/>
          <p:cNvSpPr/>
          <p:nvPr/>
        </p:nvSpPr>
        <p:spPr>
          <a:xfrm>
            <a:off x="877824" y="2615184"/>
            <a:ext cx="9738360" cy="1243584"/>
          </a:xfrm>
          <a:prstGeom prst="rect">
            <a:avLst/>
          </a:prstGeom>
          <a:noFill/>
          <a:ln/>
        </p:spPr>
        <p:txBody>
          <a:bodyPr wrap="square" lIns="0" tIns="0" rIns="0" bIns="0" rtlCol="0" anchor="t">
            <a:normAutofit/>
          </a:bodyPr>
          <a:lstStyle/>
          <a:p>
            <a:pPr indent="0" marL="0">
              <a:buNone/>
            </a:pPr>
            <a:r>
              <a:rPr lang="en-US" sz="1950" dirty="0">
                <a:solidFill>
                  <a:srgbClr val="173552"/>
                </a:solidFill>
                <a:latin typeface="Aptos" pitchFamily="34" charset="0"/>
                <a:ea typeface="Aptos" pitchFamily="34" charset="-122"/>
                <a:cs typeface="Aptos" pitchFamily="34" charset="-120"/>
              </a:rPr>
              <a:t>InDesign can place graphics as linked assets. The document refers to those image files, which remain stored in your project folder. If the files are renamed or moved, the Links panel may warn that the image is missing or modified.</a:t>
            </a:r>
            <a:endParaRPr lang="en-US" sz="1950" dirty="0"/>
          </a:p>
        </p:txBody>
      </p:sp>
      <p:sp>
        <p:nvSpPr>
          <p:cNvPr id="14" name="Shape 12"/>
          <p:cNvSpPr/>
          <p:nvPr/>
        </p:nvSpPr>
        <p:spPr>
          <a:xfrm>
            <a:off x="594360" y="4443984"/>
            <a:ext cx="10954512"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896112" y="4745736"/>
            <a:ext cx="10378440" cy="740664"/>
          </a:xfrm>
          <a:prstGeom prst="rect">
            <a:avLst/>
          </a:prstGeom>
          <a:noFill/>
          <a:ln/>
        </p:spPr>
        <p:txBody>
          <a:bodyPr wrap="square" lIns="0" tIns="0" rIns="0" bIns="0" rtlCol="0" anchor="ctr">
            <a:normAutofit/>
          </a:bodyPr>
          <a:lstStyle/>
          <a:p>
            <a:pPr indent="0" marL="0">
              <a:buNone/>
            </a:pPr>
            <a:r>
              <a:rPr lang="en-US" sz="1900" dirty="0">
                <a:solidFill>
                  <a:srgbClr val="173552"/>
                </a:solidFill>
                <a:latin typeface="Aptos" pitchFamily="34" charset="0"/>
                <a:ea typeface="Aptos" pitchFamily="34" charset="-122"/>
                <a:cs typeface="Aptos" pitchFamily="34" charset="-120"/>
              </a:rPr>
              <a:t>Keep the source image and INDD file organised in the same project folder and avoid unnecessary renaming.</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TROUBLESHOOTING</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Diagnose two avoidable problems</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Use this illustration to guide your quality check.</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32</a:t>
            </a:r>
            <a:endParaRPr lang="en-US" sz="1000" dirty="0"/>
          </a:p>
        </p:txBody>
      </p:sp>
      <p:sp>
        <p:nvSpPr>
          <p:cNvPr id="11" name="Shape 9"/>
          <p:cNvSpPr/>
          <p:nvPr/>
        </p:nvSpPr>
        <p:spPr>
          <a:xfrm>
            <a:off x="512064" y="1874520"/>
            <a:ext cx="6702552" cy="4160520"/>
          </a:xfrm>
          <a:prstGeom prst="roundRect">
            <a:avLst>
              <a:gd name="adj" fmla="val 3077"/>
            </a:avLst>
          </a:prstGeom>
          <a:solidFill>
            <a:srgbClr val="FFFFFF"/>
          </a:solidFill>
          <a:ln w="12700">
            <a:solidFill>
              <a:srgbClr val="D3E3E9"/>
            </a:solidFill>
            <a:prstDash val="solid"/>
          </a:ln>
        </p:spPr>
        <p:txBody>
          <a:bodyPr/>
          <a:p/>
        </p:txBody>
      </p:sp>
      <p:pic>
        <p:nvPicPr>
          <p:cNvPr id="12" name="Image 0" descr="/mnt/data/ITT06105_Condensed_L07_Package/resources/Fig04_Fitting_and_Overset.png">    </p:cNvPr>
          <p:cNvPicPr>
            <a:picLocks noChangeAspect="1"/>
          </p:cNvPicPr>
          <p:nvPr/>
        </p:nvPicPr>
        <p:blipFill>
          <a:blip r:embed="rId1"/>
          <a:stretch>
            <a:fillRect/>
          </a:stretch>
        </p:blipFill>
        <p:spPr>
          <a:xfrm>
            <a:off x="649224" y="2107692"/>
            <a:ext cx="6437376" cy="3621024"/>
          </a:xfrm>
          <a:prstGeom prst="rect">
            <a:avLst/>
          </a:prstGeom>
        </p:spPr>
      </p:pic>
      <p:sp>
        <p:nvSpPr>
          <p:cNvPr id="13" name="Shape 10"/>
          <p:cNvSpPr/>
          <p:nvPr/>
        </p:nvSpPr>
        <p:spPr>
          <a:xfrm>
            <a:off x="7379208" y="1874520"/>
            <a:ext cx="4251960" cy="4160520"/>
          </a:xfrm>
          <a:prstGeom prst="roundRect">
            <a:avLst>
              <a:gd name="adj" fmla="val 3077"/>
            </a:avLst>
          </a:prstGeom>
          <a:solidFill>
            <a:srgbClr val="FFFFFF"/>
          </a:solidFill>
          <a:ln w="12700">
            <a:solidFill>
              <a:srgbClr val="D3E3E9"/>
            </a:solidFill>
            <a:prstDash val="solid"/>
          </a:ln>
        </p:spPr>
        <p:txBody>
          <a:bodyPr/>
          <a:p/>
        </p:txBody>
      </p:sp>
      <p:sp>
        <p:nvSpPr>
          <p:cNvPr id="14" name="Shape 11"/>
          <p:cNvSpPr/>
          <p:nvPr/>
        </p:nvSpPr>
        <p:spPr>
          <a:xfrm>
            <a:off x="7379208" y="1874520"/>
            <a:ext cx="82296"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607808" y="2057400"/>
            <a:ext cx="379476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How to correct errors</a:t>
            </a:r>
            <a:endParaRPr lang="en-US" sz="2000" dirty="0"/>
          </a:p>
        </p:txBody>
      </p:sp>
      <p:sp>
        <p:nvSpPr>
          <p:cNvPr id="16" name="Text 13"/>
          <p:cNvSpPr/>
          <p:nvPr/>
        </p:nvSpPr>
        <p:spPr>
          <a:xfrm>
            <a:off x="7607808" y="2551176"/>
            <a:ext cx="3794760" cy="3328416"/>
          </a:xfrm>
          <a:prstGeom prst="rect">
            <a:avLst/>
          </a:prstGeom>
          <a:noFill/>
          <a:ln/>
        </p:spPr>
        <p:txBody>
          <a:bodyPr wrap="square" lIns="0" tIns="0" rIns="0" bIns="0" rtlCol="0" anchor="t">
            <a:normAutofit/>
          </a:bodyPr>
          <a:lstStyle/>
          <a:p>
            <a:pPr indent="0" marL="0">
              <a:buNone/>
            </a:pPr>
            <a:r>
              <a:rPr lang="en-US" sz="1730" dirty="0">
                <a:solidFill>
                  <a:srgbClr val="173552"/>
                </a:solidFill>
                <a:latin typeface="Aptos" pitchFamily="34" charset="0"/>
                <a:ea typeface="Aptos" pitchFamily="34" charset="-122"/>
                <a:cs typeface="Aptos" pitchFamily="34" charset="-120"/>
              </a:rPr>
              <a:t>For a distorted photograph, restore the correct proportions. For hidden text, enlarge or reposition the frame, or shorten the wording. Always export a fresh PDF after making corrections.</a:t>
            </a:r>
            <a:endParaRPr lang="en-US" sz="173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Check your understanding</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Look at the first-draft hand-out.</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33</a:t>
            </a:r>
            <a:endParaRPr lang="en-US" sz="1000" dirty="0"/>
          </a:p>
        </p:txBody>
      </p:sp>
      <p:sp>
        <p:nvSpPr>
          <p:cNvPr id="11" name="Shape 9"/>
          <p:cNvSpPr/>
          <p:nvPr/>
        </p:nvSpPr>
        <p:spPr>
          <a:xfrm>
            <a:off x="694944" y="1883664"/>
            <a:ext cx="10789920" cy="2907792"/>
          </a:xfrm>
          <a:prstGeom prst="roundRect">
            <a:avLst>
              <a:gd name="adj" fmla="val 4403"/>
            </a:avLst>
          </a:prstGeom>
          <a:solidFill>
            <a:srgbClr val="FFFFFF"/>
          </a:solidFill>
          <a:ln w="12700">
            <a:solidFill>
              <a:srgbClr val="D3E3E9"/>
            </a:solidFill>
            <a:prstDash val="solid"/>
          </a:ln>
        </p:spPr>
        <p:txBody>
          <a:bodyPr/>
          <a:p/>
        </p:txBody>
      </p:sp>
      <p:sp>
        <p:nvSpPr>
          <p:cNvPr id="12" name="Text 10"/>
          <p:cNvSpPr/>
          <p:nvPr/>
        </p:nvSpPr>
        <p:spPr>
          <a:xfrm>
            <a:off x="978408" y="2176272"/>
            <a:ext cx="2103120" cy="320040"/>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TRY IT</a:t>
            </a:r>
            <a:endParaRPr lang="en-US" sz="1800" dirty="0"/>
          </a:p>
        </p:txBody>
      </p:sp>
      <p:sp>
        <p:nvSpPr>
          <p:cNvPr id="13" name="Text 11"/>
          <p:cNvSpPr/>
          <p:nvPr/>
        </p:nvSpPr>
        <p:spPr>
          <a:xfrm>
            <a:off x="978408" y="2743200"/>
            <a:ext cx="9893808" cy="1417320"/>
          </a:xfrm>
          <a:prstGeom prst="rect">
            <a:avLst/>
          </a:prstGeom>
          <a:noFill/>
          <a:ln/>
        </p:spPr>
        <p:txBody>
          <a:bodyPr wrap="square" lIns="0" tIns="0" rIns="0" bIns="0" rtlCol="0" anchor="t">
            <a:normAutofit/>
          </a:bodyPr>
          <a:lstStyle/>
          <a:p>
            <a:pPr indent="0" marL="0">
              <a:buNone/>
            </a:pPr>
            <a:r>
              <a:rPr lang="en-US" sz="2300" b="1" dirty="0">
                <a:solidFill>
                  <a:srgbClr val="173552"/>
                </a:solidFill>
                <a:latin typeface="Aptos" pitchFamily="34" charset="0"/>
                <a:ea typeface="Aptos" pitchFamily="34" charset="-122"/>
                <a:cs typeface="Aptos" pitchFamily="34" charset="-120"/>
              </a:rPr>
              <a:t>If a heading is outside the page margin and the final tip is hidden, what two corrections should you make?</a:t>
            </a:r>
            <a:endParaRPr lang="en-US" sz="2300" dirty="0"/>
          </a:p>
        </p:txBody>
      </p:sp>
      <p:sp>
        <p:nvSpPr>
          <p:cNvPr id="14" name="Shape 12"/>
          <p:cNvSpPr/>
          <p:nvPr/>
        </p:nvSpPr>
        <p:spPr>
          <a:xfrm>
            <a:off x="694944" y="5074920"/>
            <a:ext cx="10789920" cy="960120"/>
          </a:xfrm>
          <a:prstGeom prst="roundRect">
            <a:avLst>
              <a:gd name="adj" fmla="val 13333"/>
            </a:avLst>
          </a:prstGeom>
          <a:solidFill>
            <a:srgbClr val="EAF3F5"/>
          </a:solidFill>
          <a:ln w="12700">
            <a:solidFill>
              <a:srgbClr val="EAF3F5"/>
            </a:solidFill>
            <a:prstDash val="solid"/>
          </a:ln>
        </p:spPr>
        <p:txBody>
          <a:bodyPr/>
          <a:p/>
        </p:txBody>
      </p:sp>
      <p:sp>
        <p:nvSpPr>
          <p:cNvPr id="15" name="Text 13"/>
          <p:cNvSpPr/>
          <p:nvPr/>
        </p:nvSpPr>
        <p:spPr>
          <a:xfrm>
            <a:off x="978408" y="5285232"/>
            <a:ext cx="9966960" cy="566928"/>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Move or resize the heading frame inside the margin; fix the overset body text before re-exporting.</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Choose the right file</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Suppose you need to change a sentence next week.</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34</a:t>
            </a:r>
            <a:endParaRPr lang="en-US" sz="1000" dirty="0"/>
          </a:p>
        </p:txBody>
      </p:sp>
      <p:sp>
        <p:nvSpPr>
          <p:cNvPr id="11" name="Shape 9"/>
          <p:cNvSpPr/>
          <p:nvPr/>
        </p:nvSpPr>
        <p:spPr>
          <a:xfrm>
            <a:off x="694944" y="1883664"/>
            <a:ext cx="10789920" cy="2907792"/>
          </a:xfrm>
          <a:prstGeom prst="roundRect">
            <a:avLst>
              <a:gd name="adj" fmla="val 4403"/>
            </a:avLst>
          </a:prstGeom>
          <a:solidFill>
            <a:srgbClr val="FFFFFF"/>
          </a:solidFill>
          <a:ln w="12700">
            <a:solidFill>
              <a:srgbClr val="D3E3E9"/>
            </a:solidFill>
            <a:prstDash val="solid"/>
          </a:ln>
        </p:spPr>
        <p:txBody>
          <a:bodyPr/>
          <a:p/>
        </p:txBody>
      </p:sp>
      <p:sp>
        <p:nvSpPr>
          <p:cNvPr id="12" name="Text 10"/>
          <p:cNvSpPr/>
          <p:nvPr/>
        </p:nvSpPr>
        <p:spPr>
          <a:xfrm>
            <a:off x="978408" y="2176272"/>
            <a:ext cx="2103120" cy="320040"/>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TRY IT</a:t>
            </a:r>
            <a:endParaRPr lang="en-US" sz="1800" dirty="0"/>
          </a:p>
        </p:txBody>
      </p:sp>
      <p:sp>
        <p:nvSpPr>
          <p:cNvPr id="13" name="Text 11"/>
          <p:cNvSpPr/>
          <p:nvPr/>
        </p:nvSpPr>
        <p:spPr>
          <a:xfrm>
            <a:off x="978408" y="2743200"/>
            <a:ext cx="9893808" cy="1417320"/>
          </a:xfrm>
          <a:prstGeom prst="rect">
            <a:avLst/>
          </a:prstGeom>
          <a:noFill/>
          <a:ln/>
        </p:spPr>
        <p:txBody>
          <a:bodyPr wrap="square" lIns="0" tIns="0" rIns="0" bIns="0" rtlCol="0" anchor="t">
            <a:normAutofit/>
          </a:bodyPr>
          <a:lstStyle/>
          <a:p>
            <a:pPr indent="0" marL="0">
              <a:buNone/>
            </a:pPr>
            <a:r>
              <a:rPr lang="en-US" sz="2300" b="1" dirty="0">
                <a:solidFill>
                  <a:srgbClr val="173552"/>
                </a:solidFill>
                <a:latin typeface="Aptos" pitchFamily="34" charset="0"/>
                <a:ea typeface="Aptos" pitchFamily="34" charset="-122"/>
                <a:cs typeface="Aptos" pitchFamily="34" charset="-120"/>
              </a:rPr>
              <a:t>Would you reopen the editable .indd document or edit the PDF proof, and why?</a:t>
            </a:r>
            <a:endParaRPr lang="en-US" sz="2300" dirty="0"/>
          </a:p>
        </p:txBody>
      </p:sp>
      <p:sp>
        <p:nvSpPr>
          <p:cNvPr id="14" name="Shape 12"/>
          <p:cNvSpPr/>
          <p:nvPr/>
        </p:nvSpPr>
        <p:spPr>
          <a:xfrm>
            <a:off x="694944" y="5074920"/>
            <a:ext cx="10789920" cy="960120"/>
          </a:xfrm>
          <a:prstGeom prst="roundRect">
            <a:avLst>
              <a:gd name="adj" fmla="val 13333"/>
            </a:avLst>
          </a:prstGeom>
          <a:solidFill>
            <a:srgbClr val="EAF3F5"/>
          </a:solidFill>
          <a:ln w="12700">
            <a:solidFill>
              <a:srgbClr val="EAF3F5"/>
            </a:solidFill>
            <a:prstDash val="solid"/>
          </a:ln>
        </p:spPr>
        <p:txBody>
          <a:bodyPr/>
          <a:p/>
        </p:txBody>
      </p:sp>
      <p:sp>
        <p:nvSpPr>
          <p:cNvPr id="15" name="Text 13"/>
          <p:cNvSpPr/>
          <p:nvPr/>
        </p:nvSpPr>
        <p:spPr>
          <a:xfrm>
            <a:off x="978408" y="5285232"/>
            <a:ext cx="9966960" cy="566928"/>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Open the .indd document because it preserves editable text and page frames. Then export an updated PDF proof.</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SELF-CHECK</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Final draft checklist</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Use this before you submit your Lecture 7 activity.</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35</a:t>
            </a:r>
            <a:endParaRPr lang="en-US" sz="1000" dirty="0"/>
          </a:p>
        </p:txBody>
      </p:sp>
      <p:sp>
        <p:nvSpPr>
          <p:cNvPr id="11" name="Shape 9"/>
          <p:cNvSpPr/>
          <p:nvPr/>
        </p:nvSpPr>
        <p:spPr>
          <a:xfrm>
            <a:off x="594360" y="1874520"/>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12" name="Shape 10"/>
          <p:cNvSpPr/>
          <p:nvPr/>
        </p:nvSpPr>
        <p:spPr>
          <a:xfrm>
            <a:off x="768096" y="2029968"/>
            <a:ext cx="566928" cy="630936"/>
          </a:xfrm>
          <a:prstGeom prst="roundRect">
            <a:avLst>
              <a:gd name="adj" fmla="val 22581"/>
            </a:avLst>
          </a:prstGeom>
          <a:solidFill>
            <a:srgbClr val="078A91"/>
          </a:solidFill>
          <a:ln w="12700">
            <a:solidFill>
              <a:srgbClr val="078A91"/>
            </a:solidFill>
            <a:prstDash val="solid"/>
          </a:ln>
        </p:spPr>
        <p:txBody>
          <a:bodyPr/>
          <a:p/>
        </p:txBody>
      </p:sp>
      <p:sp>
        <p:nvSpPr>
          <p:cNvPr id="13" name="Text 11"/>
          <p:cNvSpPr/>
          <p:nvPr/>
        </p:nvSpPr>
        <p:spPr>
          <a:xfrm>
            <a:off x="932688" y="2066544"/>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54480" y="2011680"/>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Page</a:t>
            </a:r>
            <a:endParaRPr lang="en-US" sz="1860" dirty="0"/>
          </a:p>
        </p:txBody>
      </p:sp>
      <p:sp>
        <p:nvSpPr>
          <p:cNvPr id="15" name="Text 13"/>
          <p:cNvSpPr/>
          <p:nvPr/>
        </p:nvSpPr>
        <p:spPr>
          <a:xfrm>
            <a:off x="4572000" y="2011680"/>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A4 portrait, one page, 15 mm classroom margins.</a:t>
            </a:r>
            <a:endParaRPr lang="en-US" sz="1790" dirty="0"/>
          </a:p>
        </p:txBody>
      </p:sp>
      <p:sp>
        <p:nvSpPr>
          <p:cNvPr id="16" name="Shape 14"/>
          <p:cNvSpPr/>
          <p:nvPr/>
        </p:nvSpPr>
        <p:spPr>
          <a:xfrm>
            <a:off x="594360" y="2944368"/>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17" name="Shape 15"/>
          <p:cNvSpPr/>
          <p:nvPr/>
        </p:nvSpPr>
        <p:spPr>
          <a:xfrm>
            <a:off x="768096" y="3099816"/>
            <a:ext cx="566928" cy="630936"/>
          </a:xfrm>
          <a:prstGeom prst="roundRect">
            <a:avLst>
              <a:gd name="adj" fmla="val 22581"/>
            </a:avLst>
          </a:prstGeom>
          <a:solidFill>
            <a:srgbClr val="173552"/>
          </a:solidFill>
          <a:ln w="12700">
            <a:solidFill>
              <a:srgbClr val="173552"/>
            </a:solidFill>
            <a:prstDash val="solid"/>
          </a:ln>
        </p:spPr>
        <p:txBody>
          <a:bodyPr/>
          <a:p/>
        </p:txBody>
      </p:sp>
      <p:sp>
        <p:nvSpPr>
          <p:cNvPr id="18" name="Text 16"/>
          <p:cNvSpPr/>
          <p:nvPr/>
        </p:nvSpPr>
        <p:spPr>
          <a:xfrm>
            <a:off x="932688" y="3136392"/>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54480" y="3081528"/>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Message</a:t>
            </a:r>
            <a:endParaRPr lang="en-US" sz="1860" dirty="0"/>
          </a:p>
        </p:txBody>
      </p:sp>
      <p:sp>
        <p:nvSpPr>
          <p:cNvPr id="20" name="Text 18"/>
          <p:cNvSpPr/>
          <p:nvPr/>
        </p:nvSpPr>
        <p:spPr>
          <a:xfrm>
            <a:off x="4572000" y="3081528"/>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Readable title, short introduction and three complete tips.</a:t>
            </a:r>
            <a:endParaRPr lang="en-US" sz="1790" dirty="0"/>
          </a:p>
        </p:txBody>
      </p:sp>
      <p:sp>
        <p:nvSpPr>
          <p:cNvPr id="21" name="Shape 19"/>
          <p:cNvSpPr/>
          <p:nvPr/>
        </p:nvSpPr>
        <p:spPr>
          <a:xfrm>
            <a:off x="594360" y="4014216"/>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22" name="Shape 20"/>
          <p:cNvSpPr/>
          <p:nvPr/>
        </p:nvSpPr>
        <p:spPr>
          <a:xfrm>
            <a:off x="768096" y="4169664"/>
            <a:ext cx="566928" cy="630936"/>
          </a:xfrm>
          <a:prstGeom prst="roundRect">
            <a:avLst>
              <a:gd name="adj" fmla="val 22581"/>
            </a:avLst>
          </a:prstGeom>
          <a:solidFill>
            <a:srgbClr val="078A91"/>
          </a:solidFill>
          <a:ln w="12700">
            <a:solidFill>
              <a:srgbClr val="078A91"/>
            </a:solidFill>
            <a:prstDash val="solid"/>
          </a:ln>
        </p:spPr>
        <p:txBody>
          <a:bodyPr/>
          <a:p/>
        </p:txBody>
      </p:sp>
      <p:sp>
        <p:nvSpPr>
          <p:cNvPr id="23" name="Text 21"/>
          <p:cNvSpPr/>
          <p:nvPr/>
        </p:nvSpPr>
        <p:spPr>
          <a:xfrm>
            <a:off x="932688" y="4206240"/>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54480" y="4151376"/>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Artwork</a:t>
            </a:r>
            <a:endParaRPr lang="en-US" sz="1860" dirty="0"/>
          </a:p>
        </p:txBody>
      </p:sp>
      <p:sp>
        <p:nvSpPr>
          <p:cNvPr id="25" name="Text 23"/>
          <p:cNvSpPr/>
          <p:nvPr/>
        </p:nvSpPr>
        <p:spPr>
          <a:xfrm>
            <a:off x="4572000" y="4151376"/>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Image placed in proportion; optional icon included.</a:t>
            </a:r>
            <a:endParaRPr lang="en-US" sz="1790" dirty="0"/>
          </a:p>
        </p:txBody>
      </p:sp>
      <p:sp>
        <p:nvSpPr>
          <p:cNvPr id="26" name="Shape 24"/>
          <p:cNvSpPr/>
          <p:nvPr/>
        </p:nvSpPr>
        <p:spPr>
          <a:xfrm>
            <a:off x="594360" y="5084064"/>
            <a:ext cx="11009376" cy="950976"/>
          </a:xfrm>
          <a:prstGeom prst="roundRect">
            <a:avLst>
              <a:gd name="adj" fmla="val 13462"/>
            </a:avLst>
          </a:prstGeom>
          <a:solidFill>
            <a:srgbClr val="FFFFFF"/>
          </a:solidFill>
          <a:ln w="12700">
            <a:solidFill>
              <a:srgbClr val="D3E3E9"/>
            </a:solidFill>
            <a:prstDash val="solid"/>
          </a:ln>
        </p:spPr>
        <p:txBody>
          <a:bodyPr/>
          <a:p/>
        </p:txBody>
      </p:sp>
      <p:sp>
        <p:nvSpPr>
          <p:cNvPr id="27" name="Shape 25"/>
          <p:cNvSpPr/>
          <p:nvPr/>
        </p:nvSpPr>
        <p:spPr>
          <a:xfrm>
            <a:off x="768096" y="5239512"/>
            <a:ext cx="566928" cy="630936"/>
          </a:xfrm>
          <a:prstGeom prst="roundRect">
            <a:avLst>
              <a:gd name="adj" fmla="val 22581"/>
            </a:avLst>
          </a:prstGeom>
          <a:solidFill>
            <a:srgbClr val="173552"/>
          </a:solidFill>
          <a:ln w="12700">
            <a:solidFill>
              <a:srgbClr val="173552"/>
            </a:solidFill>
            <a:prstDash val="solid"/>
          </a:ln>
        </p:spPr>
        <p:txBody>
          <a:bodyPr/>
          <a:p/>
        </p:txBody>
      </p:sp>
      <p:sp>
        <p:nvSpPr>
          <p:cNvPr id="28" name="Text 26"/>
          <p:cNvSpPr/>
          <p:nvPr/>
        </p:nvSpPr>
        <p:spPr>
          <a:xfrm>
            <a:off x="932688" y="5276088"/>
            <a:ext cx="256032" cy="5394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54480" y="5221224"/>
            <a:ext cx="3035808" cy="676656"/>
          </a:xfrm>
          <a:prstGeom prst="rect">
            <a:avLst/>
          </a:prstGeom>
          <a:noFill/>
          <a:ln/>
        </p:spPr>
        <p:txBody>
          <a:bodyPr wrap="square" lIns="0" tIns="0" rIns="0" bIns="0" rtlCol="0" anchor="ctr">
            <a:normAutofit/>
          </a:bodyPr>
          <a:lstStyle/>
          <a:p>
            <a:pPr indent="0" marL="0">
              <a:buNone/>
            </a:pPr>
            <a:r>
              <a:rPr lang="en-US" sz="1860" b="1" dirty="0">
                <a:solidFill>
                  <a:srgbClr val="173552"/>
                </a:solidFill>
                <a:latin typeface="Aptos" pitchFamily="34" charset="0"/>
                <a:ea typeface="Aptos" pitchFamily="34" charset="-122"/>
                <a:cs typeface="Aptos" pitchFamily="34" charset="-120"/>
              </a:rPr>
              <a:t>Files</a:t>
            </a:r>
            <a:endParaRPr lang="en-US" sz="1860" dirty="0"/>
          </a:p>
        </p:txBody>
      </p:sp>
      <p:sp>
        <p:nvSpPr>
          <p:cNvPr id="30" name="Text 28"/>
          <p:cNvSpPr/>
          <p:nvPr/>
        </p:nvSpPr>
        <p:spPr>
          <a:xfrm>
            <a:off x="4572000" y="5221224"/>
            <a:ext cx="6601968" cy="676656"/>
          </a:xfrm>
          <a:prstGeom prst="rect">
            <a:avLst/>
          </a:prstGeom>
          <a:noFill/>
          <a:ln/>
        </p:spPr>
        <p:txBody>
          <a:bodyPr wrap="square" lIns="0" tIns="0" rIns="0" bIns="0" rtlCol="0" anchor="ctr">
            <a:normAutofit/>
          </a:bodyPr>
          <a:lstStyle/>
          <a:p>
            <a:pPr indent="0" marL="0">
              <a:buNone/>
            </a:pPr>
            <a:r>
              <a:rPr lang="en-US" sz="1790" dirty="0">
                <a:solidFill>
                  <a:srgbClr val="173552"/>
                </a:solidFill>
                <a:latin typeface="Aptos" pitchFamily="34" charset="0"/>
                <a:ea typeface="Aptos" pitchFamily="34" charset="-122"/>
                <a:cs typeface="Aptos" pitchFamily="34" charset="-120"/>
              </a:rPr>
              <a:t>Save INDD, open and check the PDF proof.</a:t>
            </a:r>
            <a:endParaRPr lang="en-US" sz="179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PRACTICAL ALTERNATIVE</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No InDesign access today?</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The concepts can still be practised on paper.</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36</a:t>
            </a:r>
            <a:endParaRPr lang="en-US" sz="1000" dirty="0"/>
          </a:p>
        </p:txBody>
      </p:sp>
      <p:sp>
        <p:nvSpPr>
          <p:cNvPr id="11" name="Shape 9"/>
          <p:cNvSpPr/>
          <p:nvPr/>
        </p:nvSpPr>
        <p:spPr>
          <a:xfrm>
            <a:off x="594360" y="1847088"/>
            <a:ext cx="10954512" cy="2286000"/>
          </a:xfrm>
          <a:prstGeom prst="roundRect">
            <a:avLst>
              <a:gd name="adj" fmla="val 5600"/>
            </a:avLst>
          </a:prstGeom>
          <a:solidFill>
            <a:srgbClr val="FFFFFF"/>
          </a:solidFill>
          <a:ln w="12700">
            <a:solidFill>
              <a:srgbClr val="D3E3E9"/>
            </a:solidFill>
            <a:prstDash val="solid"/>
          </a:ln>
        </p:spPr>
        <p:txBody>
          <a:bodyPr/>
          <a:p/>
        </p:txBody>
      </p:sp>
      <p:sp>
        <p:nvSpPr>
          <p:cNvPr id="12" name="Text 10"/>
          <p:cNvSpPr/>
          <p:nvPr/>
        </p:nvSpPr>
        <p:spPr>
          <a:xfrm>
            <a:off x="877824" y="2103120"/>
            <a:ext cx="9875520" cy="329184"/>
          </a:xfrm>
          <a:prstGeom prst="rect">
            <a:avLst/>
          </a:prstGeom>
          <a:noFill/>
          <a:ln/>
        </p:spPr>
        <p:txBody>
          <a:bodyPr wrap="square" lIns="0" tIns="0" rIns="0" bIns="0" rtlCol="0" anchor="ctr">
            <a:normAutofit/>
          </a:bodyPr>
          <a:lstStyle/>
          <a:p>
            <a:pPr indent="0" marL="0">
              <a:buNone/>
            </a:pPr>
            <a:r>
              <a:rPr lang="en-US" sz="2150" b="1" dirty="0">
                <a:solidFill>
                  <a:srgbClr val="078A91"/>
                </a:solidFill>
                <a:latin typeface="Aptos" pitchFamily="34" charset="0"/>
                <a:ea typeface="Aptos" pitchFamily="34" charset="-122"/>
                <a:cs typeface="Aptos" pitchFamily="34" charset="-120"/>
              </a:rPr>
              <a:t>Paper-based route</a:t>
            </a:r>
            <a:endParaRPr lang="en-US" sz="2150" dirty="0"/>
          </a:p>
        </p:txBody>
      </p:sp>
      <p:sp>
        <p:nvSpPr>
          <p:cNvPr id="13" name="Text 11"/>
          <p:cNvSpPr/>
          <p:nvPr/>
        </p:nvSpPr>
        <p:spPr>
          <a:xfrm>
            <a:off x="877824" y="2615184"/>
            <a:ext cx="9738360" cy="1243584"/>
          </a:xfrm>
          <a:prstGeom prst="rect">
            <a:avLst/>
          </a:prstGeom>
          <a:noFill/>
          <a:ln/>
        </p:spPr>
        <p:txBody>
          <a:bodyPr wrap="square" lIns="0" tIns="0" rIns="0" bIns="0" rtlCol="0" anchor="t">
            <a:normAutofit/>
          </a:bodyPr>
          <a:lstStyle/>
          <a:p>
            <a:pPr indent="0" marL="0">
              <a:buNone/>
            </a:pPr>
            <a:r>
              <a:rPr lang="en-US" sz="1950" dirty="0">
                <a:solidFill>
                  <a:srgbClr val="173552"/>
                </a:solidFill>
                <a:latin typeface="Aptos" pitchFamily="34" charset="0"/>
                <a:ea typeface="Aptos" pitchFamily="34" charset="-122"/>
                <a:cs typeface="Aptos" pitchFamily="34" charset="-120"/>
              </a:rPr>
              <a:t>Sketch an A4 page with a title frame, image frame, three tip blocks and footer. Label margins and explain the reading order. You can later reproduce the sketch in the computer laboratory using the supplied assets.</a:t>
            </a:r>
            <a:endParaRPr lang="en-US" sz="1950" dirty="0"/>
          </a:p>
        </p:txBody>
      </p:sp>
      <p:sp>
        <p:nvSpPr>
          <p:cNvPr id="14" name="Shape 12"/>
          <p:cNvSpPr/>
          <p:nvPr/>
        </p:nvSpPr>
        <p:spPr>
          <a:xfrm>
            <a:off x="594360" y="4443984"/>
            <a:ext cx="10954512"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896112" y="4745736"/>
            <a:ext cx="10378440" cy="740664"/>
          </a:xfrm>
          <a:prstGeom prst="rect">
            <a:avLst/>
          </a:prstGeom>
          <a:noFill/>
          <a:ln/>
        </p:spPr>
        <p:txBody>
          <a:bodyPr wrap="square" lIns="0" tIns="0" rIns="0" bIns="0" rtlCol="0" anchor="ctr">
            <a:normAutofit/>
          </a:bodyPr>
          <a:lstStyle/>
          <a:p>
            <a:pPr indent="0" marL="0">
              <a:buNone/>
            </a:pPr>
            <a:r>
              <a:rPr lang="en-US" sz="1900" dirty="0">
                <a:solidFill>
                  <a:srgbClr val="173552"/>
                </a:solidFill>
                <a:latin typeface="Aptos" pitchFamily="34" charset="0"/>
                <a:ea typeface="Aptos" pitchFamily="34" charset="-122"/>
                <a:cs typeface="Aptos" pitchFamily="34" charset="-120"/>
              </a:rPr>
              <a:t>The paper route supports learning, but a software-produced file is still the intended digital output when access becomes available.</a:t>
            </a:r>
            <a:endParaRPr lang="en-US" sz="1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Short revision exercise</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Bring together the main ideas from this lesson.</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37</a:t>
            </a:r>
            <a:endParaRPr lang="en-US" sz="1000" dirty="0"/>
          </a:p>
        </p:txBody>
      </p:sp>
      <p:sp>
        <p:nvSpPr>
          <p:cNvPr id="11" name="Shape 9"/>
          <p:cNvSpPr/>
          <p:nvPr/>
        </p:nvSpPr>
        <p:spPr>
          <a:xfrm>
            <a:off x="694944" y="1883664"/>
            <a:ext cx="10789920" cy="2907792"/>
          </a:xfrm>
          <a:prstGeom prst="roundRect">
            <a:avLst>
              <a:gd name="adj" fmla="val 4403"/>
            </a:avLst>
          </a:prstGeom>
          <a:solidFill>
            <a:srgbClr val="FFFFFF"/>
          </a:solidFill>
          <a:ln w="12700">
            <a:solidFill>
              <a:srgbClr val="D3E3E9"/>
            </a:solidFill>
            <a:prstDash val="solid"/>
          </a:ln>
        </p:spPr>
        <p:txBody>
          <a:bodyPr/>
          <a:p/>
        </p:txBody>
      </p:sp>
      <p:sp>
        <p:nvSpPr>
          <p:cNvPr id="12" name="Text 10"/>
          <p:cNvSpPr/>
          <p:nvPr/>
        </p:nvSpPr>
        <p:spPr>
          <a:xfrm>
            <a:off x="978408" y="2176272"/>
            <a:ext cx="2103120" cy="320040"/>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TRY IT</a:t>
            </a:r>
            <a:endParaRPr lang="en-US" sz="1800" dirty="0"/>
          </a:p>
        </p:txBody>
      </p:sp>
      <p:sp>
        <p:nvSpPr>
          <p:cNvPr id="13" name="Text 11"/>
          <p:cNvSpPr/>
          <p:nvPr/>
        </p:nvSpPr>
        <p:spPr>
          <a:xfrm>
            <a:off x="978408" y="2743200"/>
            <a:ext cx="9893808" cy="1417320"/>
          </a:xfrm>
          <a:prstGeom prst="rect">
            <a:avLst/>
          </a:prstGeom>
          <a:noFill/>
          <a:ln/>
        </p:spPr>
        <p:txBody>
          <a:bodyPr wrap="square" lIns="0" tIns="0" rIns="0" bIns="0" rtlCol="0" anchor="t">
            <a:normAutofit/>
          </a:bodyPr>
          <a:lstStyle/>
          <a:p>
            <a:pPr indent="0" marL="0">
              <a:buNone/>
            </a:pPr>
            <a:r>
              <a:rPr lang="en-US" sz="2300" b="1" dirty="0">
                <a:solidFill>
                  <a:srgbClr val="173552"/>
                </a:solidFill>
                <a:latin typeface="Aptos" pitchFamily="34" charset="0"/>
                <a:ea typeface="Aptos" pitchFamily="34" charset="-122"/>
                <a:cs typeface="Aptos" pitchFamily="34" charset="-120"/>
              </a:rPr>
              <a:t>State one purpose for each: page margins, text frame, graphic frame, PDF proof.</a:t>
            </a:r>
            <a:endParaRPr lang="en-US" sz="2300" dirty="0"/>
          </a:p>
        </p:txBody>
      </p:sp>
      <p:sp>
        <p:nvSpPr>
          <p:cNvPr id="14" name="Shape 12"/>
          <p:cNvSpPr/>
          <p:nvPr/>
        </p:nvSpPr>
        <p:spPr>
          <a:xfrm>
            <a:off x="694944" y="5074920"/>
            <a:ext cx="10789920" cy="960120"/>
          </a:xfrm>
          <a:prstGeom prst="roundRect">
            <a:avLst>
              <a:gd name="adj" fmla="val 13333"/>
            </a:avLst>
          </a:prstGeom>
          <a:solidFill>
            <a:srgbClr val="EAF3F5"/>
          </a:solidFill>
          <a:ln w="12700">
            <a:solidFill>
              <a:srgbClr val="EAF3F5"/>
            </a:solidFill>
            <a:prstDash val="solid"/>
          </a:ln>
        </p:spPr>
        <p:txBody>
          <a:bodyPr/>
          <a:p/>
        </p:txBody>
      </p:sp>
      <p:sp>
        <p:nvSpPr>
          <p:cNvPr id="15" name="Text 13"/>
          <p:cNvSpPr/>
          <p:nvPr/>
        </p:nvSpPr>
        <p:spPr>
          <a:xfrm>
            <a:off x="978408" y="5285232"/>
            <a:ext cx="9966960" cy="566928"/>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Sample: margins create a clear boundary; text frame holds editable words; graphic frame displays an image; PDF proof allows the result to be checked.</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LECTURE RECAP</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Key ideas to remember</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A good layout helps readers use the information.</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38</a:t>
            </a:r>
            <a:endParaRPr lang="en-US" sz="1000" dirty="0"/>
          </a:p>
        </p:txBody>
      </p:sp>
      <p:sp>
        <p:nvSpPr>
          <p:cNvPr id="11" name="Shape 9"/>
          <p:cNvSpPr/>
          <p:nvPr/>
        </p:nvSpPr>
        <p:spPr>
          <a:xfrm>
            <a:off x="594360" y="1847088"/>
            <a:ext cx="10954512" cy="2286000"/>
          </a:xfrm>
          <a:prstGeom prst="roundRect">
            <a:avLst>
              <a:gd name="adj" fmla="val 5600"/>
            </a:avLst>
          </a:prstGeom>
          <a:solidFill>
            <a:srgbClr val="FFFFFF"/>
          </a:solidFill>
          <a:ln w="12700">
            <a:solidFill>
              <a:srgbClr val="D3E3E9"/>
            </a:solidFill>
            <a:prstDash val="solid"/>
          </a:ln>
        </p:spPr>
        <p:txBody>
          <a:bodyPr/>
          <a:p/>
        </p:txBody>
      </p:sp>
      <p:sp>
        <p:nvSpPr>
          <p:cNvPr id="12" name="Text 10"/>
          <p:cNvSpPr/>
          <p:nvPr/>
        </p:nvSpPr>
        <p:spPr>
          <a:xfrm>
            <a:off x="877824" y="2103120"/>
            <a:ext cx="9875520" cy="329184"/>
          </a:xfrm>
          <a:prstGeom prst="rect">
            <a:avLst/>
          </a:prstGeom>
          <a:noFill/>
          <a:ln/>
        </p:spPr>
        <p:txBody>
          <a:bodyPr wrap="square" lIns="0" tIns="0" rIns="0" bIns="0" rtlCol="0" anchor="ctr">
            <a:normAutofit/>
          </a:bodyPr>
          <a:lstStyle/>
          <a:p>
            <a:pPr indent="0" marL="0">
              <a:buNone/>
            </a:pPr>
            <a:r>
              <a:rPr lang="en-US" sz="2150" b="1" dirty="0">
                <a:solidFill>
                  <a:srgbClr val="078A91"/>
                </a:solidFill>
                <a:latin typeface="Aptos" pitchFamily="34" charset="0"/>
                <a:ea typeface="Aptos" pitchFamily="34" charset="-122"/>
                <a:cs typeface="Aptos" pitchFamily="34" charset="-120"/>
              </a:rPr>
              <a:t>Five essentials</a:t>
            </a:r>
            <a:endParaRPr lang="en-US" sz="2150" dirty="0"/>
          </a:p>
        </p:txBody>
      </p:sp>
      <p:sp>
        <p:nvSpPr>
          <p:cNvPr id="13" name="Text 11"/>
          <p:cNvSpPr/>
          <p:nvPr/>
        </p:nvSpPr>
        <p:spPr>
          <a:xfrm>
            <a:off x="877824" y="2615184"/>
            <a:ext cx="9738360" cy="1243584"/>
          </a:xfrm>
          <a:prstGeom prst="rect">
            <a:avLst/>
          </a:prstGeom>
          <a:noFill/>
          <a:ln/>
        </p:spPr>
        <p:txBody>
          <a:bodyPr wrap="square" lIns="0" tIns="0" rIns="0" bIns="0" rtlCol="0" anchor="t">
            <a:normAutofit/>
          </a:bodyPr>
          <a:lstStyle/>
          <a:p>
            <a:pPr indent="0" marL="0">
              <a:buNone/>
            </a:pPr>
            <a:r>
              <a:rPr lang="en-US" sz="1950" dirty="0">
                <a:solidFill>
                  <a:srgbClr val="173552"/>
                </a:solidFill>
                <a:latin typeface="Aptos" pitchFamily="34" charset="0"/>
                <a:ea typeface="Aptos" pitchFamily="34" charset="-122"/>
                <a:cs typeface="Aptos" pitchFamily="34" charset="-120"/>
              </a:rPr>
              <a:t>Plan before arranging. Choose A4 portrait and suitable margins. Use text and graphic frames for different content. Keep the page aligned and readable. Save the editable INDD and check the exported PDF.</a:t>
            </a:r>
            <a:endParaRPr lang="en-US" sz="1950" dirty="0"/>
          </a:p>
        </p:txBody>
      </p:sp>
      <p:sp>
        <p:nvSpPr>
          <p:cNvPr id="14" name="Shape 12"/>
          <p:cNvSpPr/>
          <p:nvPr/>
        </p:nvSpPr>
        <p:spPr>
          <a:xfrm>
            <a:off x="594360" y="4443984"/>
            <a:ext cx="10954512"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896112" y="4745736"/>
            <a:ext cx="10378440" cy="740664"/>
          </a:xfrm>
          <a:prstGeom prst="rect">
            <a:avLst/>
          </a:prstGeom>
          <a:noFill/>
          <a:ln/>
        </p:spPr>
        <p:txBody>
          <a:bodyPr wrap="square" lIns="0" tIns="0" rIns="0" bIns="0" rtlCol="0" anchor="ctr">
            <a:normAutofit/>
          </a:bodyPr>
          <a:lstStyle/>
          <a:p>
            <a:pPr indent="0" marL="0">
              <a:buNone/>
            </a:pPr>
            <a:r>
              <a:rPr lang="en-US" sz="1900" dirty="0">
                <a:solidFill>
                  <a:srgbClr val="173552"/>
                </a:solidFill>
                <a:latin typeface="Aptos" pitchFamily="34" charset="0"/>
                <a:ea typeface="Aptos" pitchFamily="34" charset="-122"/>
                <a:cs typeface="Aptos" pitchFamily="34" charset="-120"/>
              </a:rPr>
              <a:t>Your goal today is a well-structured first draft — Lecture 8 will concentrate on refinement and final proofing.</a:t>
            </a:r>
            <a:endParaRPr lang="en-US" sz="1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11480" y="265176"/>
            <a:ext cx="6217920" cy="201168"/>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72600" y="164592"/>
            <a:ext cx="2423160"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55480" y="242316"/>
            <a:ext cx="2057400" cy="146304"/>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Keep your draft editable so that you can improve and proofread it.</a:t>
            </a:r>
            <a:endParaRPr lang="en-US" sz="950" dirty="0"/>
          </a:p>
        </p:txBody>
      </p:sp>
      <p:sp>
        <p:nvSpPr>
          <p:cNvPr id="6" name="Text 4"/>
          <p:cNvSpPr/>
          <p:nvPr/>
        </p:nvSpPr>
        <p:spPr>
          <a:xfrm>
            <a:off x="530352" y="777240"/>
            <a:ext cx="11137392" cy="512064"/>
          </a:xfrm>
          <a:prstGeom prst="rect">
            <a:avLst/>
          </a:prstGeom>
          <a:noFill/>
          <a:ln/>
        </p:spPr>
        <p:txBody>
          <a:bodyPr wrap="square" lIns="0" tIns="0" rIns="0" bIns="0" rtlCol="0" anchor="ctr">
            <a:normAutofit/>
          </a:bodyPr>
          <a:lstStyle/>
          <a:p>
            <a:pPr indent="0" marL="0">
              <a:buNone/>
            </a:pPr>
            <a:r>
              <a:rPr lang="en-US" sz="2950" b="1" dirty="0">
                <a:solidFill>
                  <a:srgbClr val="173552"/>
                </a:solidFill>
                <a:latin typeface="Aptos" pitchFamily="34" charset="0"/>
                <a:ea typeface="Aptos" pitchFamily="34" charset="-122"/>
                <a:cs typeface="Aptos" pitchFamily="34" charset="-120"/>
              </a:rPr>
              <a:t>Next: complete and proof the hand-out</a:t>
            </a:r>
            <a:endParaRPr lang="en-US" sz="2950" dirty="0"/>
          </a:p>
        </p:txBody>
      </p:sp>
      <p:sp>
        <p:nvSpPr>
          <p:cNvPr id="7" name="Text 5"/>
          <p:cNvSpPr/>
          <p:nvPr/>
        </p:nvSpPr>
        <p:spPr>
          <a:xfrm>
            <a:off x="539496" y="1353312"/>
            <a:ext cx="10972800" cy="393192"/>
          </a:xfrm>
          <a:prstGeom prst="rect">
            <a:avLst/>
          </a:prstGeom>
          <a:noFill/>
          <a:ln/>
        </p:spPr>
        <p:txBody>
          <a:bodyPr wrap="square" lIns="0" tIns="0" rIns="0" bIns="0" rtlCol="0" anchor="ctr">
            <a:normAutofit/>
          </a:bodyPr>
          <a:lstStyle/>
          <a:p>
            <a:pPr indent="0" marL="0">
              <a:buNone/>
            </a:pPr>
            <a:r>
              <a:rPr lang="en-US" sz="1710" dirty="0">
                <a:solidFill>
                  <a:srgbClr val="5F788A"/>
                </a:solidFill>
                <a:latin typeface="Aptos" pitchFamily="34" charset="0"/>
                <a:ea typeface="Aptos" pitchFamily="34" charset="-122"/>
                <a:cs typeface="Aptos" pitchFamily="34" charset="-120"/>
              </a:rPr>
              <a:t>WHAT COMES NEXT</a:t>
            </a:r>
            <a:endParaRPr lang="en-US" sz="1710" dirty="0"/>
          </a:p>
        </p:txBody>
      </p:sp>
      <p:sp>
        <p:nvSpPr>
          <p:cNvPr id="8" name="Shape 6"/>
          <p:cNvSpPr/>
          <p:nvPr/>
        </p:nvSpPr>
        <p:spPr>
          <a:xfrm>
            <a:off x="484632" y="6556248"/>
            <a:ext cx="11219688" cy="0"/>
          </a:xfrm>
          <a:prstGeom prst="line">
            <a:avLst/>
          </a:prstGeom>
          <a:noFill/>
          <a:ln w="12700">
            <a:solidFill>
              <a:srgbClr val="D3E3E9"/>
            </a:solidFill>
            <a:prstDash val="solid"/>
          </a:ln>
        </p:spPr>
        <p:txBody>
          <a:bodyPr/>
          <a:p/>
        </p:txBody>
      </p:sp>
      <p:sp>
        <p:nvSpPr>
          <p:cNvPr id="9" name="Text 7"/>
          <p:cNvSpPr/>
          <p:nvPr/>
        </p:nvSpPr>
        <p:spPr>
          <a:xfrm>
            <a:off x="493776" y="6601968"/>
            <a:ext cx="8229600" cy="146304"/>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DOCUMENT LAYOUT  •  2026/2027</a:t>
            </a:r>
            <a:endParaRPr lang="en-US" sz="860" dirty="0"/>
          </a:p>
        </p:txBody>
      </p:sp>
      <p:sp>
        <p:nvSpPr>
          <p:cNvPr id="10" name="Text 8"/>
          <p:cNvSpPr/>
          <p:nvPr/>
        </p:nvSpPr>
        <p:spPr>
          <a:xfrm>
            <a:off x="11201400" y="6588252"/>
            <a:ext cx="493776" cy="182880"/>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39</a:t>
            </a:r>
            <a:endParaRPr lang="en-US" sz="1000" dirty="0"/>
          </a:p>
        </p:txBody>
      </p:sp>
      <p:sp>
        <p:nvSpPr>
          <p:cNvPr id="11" name="Shape 9"/>
          <p:cNvSpPr/>
          <p:nvPr/>
        </p:nvSpPr>
        <p:spPr>
          <a:xfrm>
            <a:off x="786384" y="2029968"/>
            <a:ext cx="10588752" cy="3401568"/>
          </a:xfrm>
          <a:prstGeom prst="roundRect">
            <a:avLst>
              <a:gd name="adj" fmla="val 3763"/>
            </a:avLst>
          </a:prstGeom>
          <a:solidFill>
            <a:srgbClr val="FFFFFF"/>
          </a:solidFill>
          <a:ln w="12700">
            <a:solidFill>
              <a:srgbClr val="D3E3E9"/>
            </a:solidFill>
            <a:prstDash val="solid"/>
          </a:ln>
        </p:spPr>
        <p:txBody>
          <a:bodyPr/>
          <a:p/>
        </p:txBody>
      </p:sp>
      <p:sp>
        <p:nvSpPr>
          <p:cNvPr id="12" name="Text 10"/>
          <p:cNvSpPr/>
          <p:nvPr/>
        </p:nvSpPr>
        <p:spPr>
          <a:xfrm>
            <a:off x="1078992" y="2414016"/>
            <a:ext cx="4572000" cy="356616"/>
          </a:xfrm>
          <a:prstGeom prst="rect">
            <a:avLst/>
          </a:prstGeom>
          <a:noFill/>
          <a:ln/>
        </p:spPr>
        <p:txBody>
          <a:bodyPr wrap="square" lIns="0" tIns="0" rIns="0" bIns="0" rtlCol="0" anchor="ctr">
            <a:normAutofit/>
          </a:bodyPr>
          <a:lstStyle/>
          <a:p>
            <a:pPr indent="0" marL="0">
              <a:buNone/>
            </a:pPr>
            <a:r>
              <a:rPr lang="en-US" sz="2100" b="1" dirty="0">
                <a:solidFill>
                  <a:srgbClr val="078A91"/>
                </a:solidFill>
                <a:latin typeface="Aptos" pitchFamily="34" charset="0"/>
                <a:ea typeface="Aptos" pitchFamily="34" charset="-122"/>
                <a:cs typeface="Aptos" pitchFamily="34" charset="-120"/>
              </a:rPr>
              <a:t>NEXT LESSON</a:t>
            </a:r>
            <a:endParaRPr lang="en-US" sz="2100" dirty="0"/>
          </a:p>
        </p:txBody>
      </p:sp>
      <p:sp>
        <p:nvSpPr>
          <p:cNvPr id="13" name="Text 11"/>
          <p:cNvSpPr/>
          <p:nvPr/>
        </p:nvSpPr>
        <p:spPr>
          <a:xfrm>
            <a:off x="1078992" y="3081528"/>
            <a:ext cx="9738360" cy="1481328"/>
          </a:xfrm>
          <a:prstGeom prst="rect">
            <a:avLst/>
          </a:prstGeom>
          <a:noFill/>
          <a:ln/>
        </p:spPr>
        <p:txBody>
          <a:bodyPr wrap="square" lIns="0" tIns="0" rIns="0" bIns="0" rtlCol="0" anchor="t">
            <a:normAutofit/>
          </a:bodyPr>
          <a:lstStyle/>
          <a:p>
            <a:pPr indent="0" marL="0">
              <a:buNone/>
            </a:pPr>
            <a:r>
              <a:rPr lang="en-US" sz="2600" b="1" dirty="0">
                <a:solidFill>
                  <a:srgbClr val="173552"/>
                </a:solidFill>
                <a:latin typeface="Aptos" pitchFamily="34" charset="0"/>
                <a:ea typeface="Aptos" pitchFamily="34" charset="-122"/>
                <a:cs typeface="Aptos" pitchFamily="34" charset="-120"/>
              </a:rPr>
              <a:t>Refine your headings, spacing and images;</a:t>
            </a:r>
            <a:endParaRPr lang="en-US" sz="2600" dirty="0"/>
          </a:p>
          <a:p>
            <a:pPr indent="0" marL="0">
              <a:buNone/>
            </a:pPr>
            <a:r>
              <a:rPr lang="en-US" sz="2600" b="1" dirty="0">
                <a:solidFill>
                  <a:srgbClr val="173552"/>
                </a:solidFill>
                <a:latin typeface="Aptos" pitchFamily="34" charset="0"/>
                <a:ea typeface="Aptos" pitchFamily="34" charset="-122"/>
                <a:cs typeface="Aptos" pitchFamily="34" charset="-120"/>
              </a:rPr>
              <a:t>fix overflow; inspect the PDF; and prepare</a:t>
            </a:r>
            <a:endParaRPr lang="en-US" sz="2600" dirty="0"/>
          </a:p>
          <a:p>
            <a:pPr indent="0" marL="0">
              <a:buNone/>
            </a:pPr>
            <a:r>
              <a:rPr lang="en-US" sz="2600" b="1" dirty="0">
                <a:solidFill>
                  <a:srgbClr val="173552"/>
                </a:solidFill>
                <a:latin typeface="Aptos" pitchFamily="34" charset="0"/>
                <a:ea typeface="Aptos" pitchFamily="34" charset="-122"/>
                <a:cs typeface="Aptos" pitchFamily="34" charset="-120"/>
              </a:rPr>
              <a:t>a complete one-page educational hand-out.</a:t>
            </a:r>
            <a:endParaRPr lang="en-US" sz="2600" dirty="0"/>
          </a:p>
        </p:txBody>
      </p:sp>
      <p:sp>
        <p:nvSpPr>
          <p:cNvPr id="14" name="Text 12"/>
          <p:cNvSpPr/>
          <p:nvPr/>
        </p:nvSpPr>
        <p:spPr>
          <a:xfrm>
            <a:off x="1078992" y="4773168"/>
            <a:ext cx="9820656" cy="301752"/>
          </a:xfrm>
          <a:prstGeom prst="rect">
            <a:avLst/>
          </a:prstGeom>
          <a:noFill/>
          <a:ln/>
        </p:spPr>
        <p:txBody>
          <a:bodyPr wrap="square" lIns="0" tIns="0" rIns="0" bIns="0" rtlCol="0" anchor="ctr">
            <a:normAutofit/>
          </a:bodyPr>
          <a:lstStyle/>
          <a:p>
            <a:pPr indent="0" marL="0">
              <a:buNone/>
            </a:pPr>
            <a:r>
              <a:rPr lang="en-US" sz="1800" dirty="0">
                <a:solidFill>
                  <a:srgbClr val="5F788A"/>
                </a:solidFill>
                <a:latin typeface="Aptos" pitchFamily="34" charset="0"/>
                <a:ea typeface="Aptos" pitchFamily="34" charset="-122"/>
                <a:cs typeface="Aptos" pitchFamily="34" charset="-120"/>
              </a:rPr>
              <a:t>Bring your INDD source, placed image, lightbulb icon and first PDF proof.</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Document Layout with Adobe InDesign</dc:title>
  <dc:subject>Condensed Lecture 7</dc:subject>
  <dc:creator>ITT06105 Teaching Materials</dc:creator>
  <cp:lastModifiedBy>ITT06105 Teaching Materials</cp:lastModifiedBy>
  <cp:revision>1</cp:revision>
  <dcterms:created xsi:type="dcterms:W3CDTF">2026-10-22T10:37:21Z</dcterms:created>
  <dcterms:modified xsi:type="dcterms:W3CDTF">2026-10-22T10:37:21Z</dcterms:modified>
</cp:coreProperties>
</file>